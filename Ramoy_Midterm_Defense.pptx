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title of the thesis is a mouthful. Don't defend the acronym yet — by slide 20 every letter in it will have been explained one at a time. Open by saying exactly that: "I'm going to unpack that title one piece at a time, and I'm going to start from zero."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anchor slide. If a panelist gets lost later, come back to this sentence. Note the weather analogy is load-bearing all the way through: we're not predicting whether it rains up or down, we're predicting how strong the wind will be.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Flag up front that RQ1 and RQ2 are genuinely different questions — RQ1 is "does it predict better", RQ2 is "does it see differently". RQ2 can succeed even if RQ1 fails. Say this early; it buys goodwill when the preliminary RQ1 numbers come 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Keep this fast. It's a warm-up. Point at the return chart and say: "notice it hovers around zero and looks like noise — which way it goes tomorrow is basically unpredictable. But notice the width of the band changes. That width is what this thesis is about."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emotional hook of the whole first act. Let it land. Ask the panel rhetorically: "would you rather hold A or B?" — everyone has an intuition here, and that intuition IS volatility.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Set this up as a test of the measure, not of the market. "If my ruler is a good ruler, here's what it should say about each of these." Don't reveal the answers yet — the next slide is the reveal.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two sharpest points to make out loud:</a:t>
            </a:r>
          </a:p>
          <a:p>
            <a:r>
              <a:rPr sz="1200"/>
              <a:t>1. The steady climber and the flat line score almost the same — because each individual step is tiny either way. A trend is not risk.</a:t>
            </a:r>
          </a:p>
          <a:p>
            <a:r>
              <a:rPr sz="1200"/>
              <a:t>2. The oscillator scores maximum even though it is perfectly regular and in one sense totally predictable. RV does not care about predictability. It only measures size.</a:t>
            </a:r>
          </a:p>
          <a:p>
            <a:r>
              <a:rPr sz="1200"/>
              <a:t>This is the slide where a panelist's intuition either clicks or doesn't. Don't rush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Show the formula only after the table. Say explicitly: "that formula looks intimidating written down and is completely mundane once you see it as four steps you already agreed with." The window slides forward one day at a time — a 20-day-wide moving spotlight.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ranking matching finance-textbook expectations is your credibility moment — the from-scratch calculation is measuring the real thing. The fat-tail numbers (kurtosis of 36 against a normal distribution's 3) are also the first hint of why a tail-sensitive method might be worth trying.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gap is the licence for the entire thesis. We are not trying to beat the market on direction, which is close to impossible and would make me rich instead of a student. We are forecasting the size of moves, which is genuinely forecastable — and which is what risk managers, option traders and regulators actually need.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Anchor it in stakes with the Value-at-Risk example if there's time: a $10M German fund must state daily, by law, "with 99% confidence we will not lose more than X tomorrow", and X ≈ 2.33 × volatility × portfolio value. Everything hinges on which volatility you plug in. Getting it wrong as a crisis starts is how institutions blow 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bridge from Act 1 into the two research questions. The tool that does capture direction is transfer entropy — and that's where RQ1 and RQ2 both live.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Resist all temptation to show the entropy formula. The thought experiment IS the definition for this audience. If a panelist asks for the math, it's in Chapter 3 — offer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explains the "ETE" and "GNN" in the title. Two letters left: the R (Rényi) and the H (Hurst). Those are the next two slides, and they're where the contribution lives.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Emphasize: α = 1 recovers the existing method exactly. My model doesn't replace the baseline; it contains it as a special case. That's what makes the comparison clean — and it's also a statistical complication I'll flag later (nested models).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detector is detecting something real — the shaded bands line up with the periods when volatility across all ten countries was genuinely elevated. But flag the difficulty now, before the panel finds it: turbulent days are a small minority of the sample. The crisis periods this thesis cares most about are also the periods with the least data to learn from. That is the central difficulty of the whole exercise, and it comes back to bite in the preliminary results.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Stress the controlled-experiment framing. This is one knob, turned, with everything else pinned down. That's why the comparison is meaningful.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Deliver the analogy out loud: "QLIKE is a grading scheme for a weather forecaster that punishes 'sunny, no umbrella needed' before a hurricane much harder than 'bring a coat' on a nice day." That's the whole intuition. Then the formula is just bookkeeping.</a:t>
            </a:r>
          </a:p>
          <a:p>
            <a:r>
              <a:rPr sz="1200"/>
              <a:t>Honest caveat to state on this slide if asked: QLIKE is undefined for forecasts ≤ 0, and a neural net trained under squared error can emit negative volatility. The final run handles this explicitly (softplus output / log-RV target), and I report how many forecasts needed intervention. Also: I train under squared error but evaluate under QLIKE. That's a deliberate choice — QLIKE is proxy-robust for scoring, squared error is what the architecture inherits from Lee &amp; Cho — and it's justified in §3.8.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If a panelist asks why not plain Diebold–Mariano: because α = 1 makes the baseline a limiting special case of my model — the models are nested — and standard DM asymptotics assume they aren't. I report DM anyway, as a familiar descriptive robustness check with the nesting caveat noted. Clark–West is the standard nested alternative if pushed.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Be honest that H1a alone is a weak claim. A model that is uniformly 1% better everywhere would pass H1a and still not support the thesis's actual argument. That's what H1b is for — and that's the natural setup for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Say the failure mode out loud — it's the most credible thing you can do at a midterm:</a:t>
            </a:r>
          </a:p>
          <a:p>
            <a:r>
              <a:rPr sz="1200"/>
              <a:t>&gt; "If H1a passes and H1b fails, I have a model that works but not for the reason I claimed, and the honest write-up says exactly that."</a:t>
            </a:r>
          </a:p>
          <a:p>
            <a:r>
              <a:rPr sz="1200"/>
              <a:t>The ideal outcome is β₀ ≈ 0 with β₁ &gt; 0: no cost in calm markets, real gain in crises. That's precisely the "improve robustness under extreme regimes while preserving calm-period performance" objective.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slide exists because "β₁ is the regime coefficient in a Giacomini–White instrument regression" means nothing to a non-specialist, and they are entitled to see where the number came from. Walk it left to right and do not rush:</a:t>
            </a:r>
          </a:p>
          <a:p>
            <a:r>
              <a:rPr sz="1200"/>
              <a:t>1. Score. Every forecast gets a QLIKE score. Say "golf score — zero is perfect, higher is worse" before you say QLIKE. Point at 2023-09-29: Shannon forecast 0.886 against a true 0.830 and scored 0.00212; my model forecast 0.843 and scored 0.00012.</a:t>
            </a:r>
          </a:p>
          <a:p>
            <a:r>
              <a:rPr sz="1200"/>
              <a:t>2. Subtract. Average the ten markets, then take the baseline's loss minus mine. That difference is the margin. Positive margin = I won that day. Say the sign rule out loud — "a lower loss for me makes the margin larger" — because this is where people get turned around.</a:t>
            </a:r>
          </a:p>
          <a:p>
            <a:r>
              <a:rPr sz="1200"/>
              <a:t>3. Sort. Put each day in the calm pile or the turbulent pile and average each. The calm average is β₀. The turbulent average is β₀+β₁. β₁ is just the difference between the two averages — the regression is bookkeeping, not magic.</a:t>
            </a:r>
          </a:p>
          <a:p>
            <a:r>
              <a:rPr sz="1200"/>
              <a:t>4. Decide. β₁ &gt; 0 means the margin widens in turbulence, which is exactly what tail-sensitivity is supposed to buy.</a:t>
            </a:r>
          </a:p>
          <a:p>
            <a:r>
              <a:rPr sz="1200"/>
              <a:t>Be explicit that panel 1–3 numbers are an illustration. The dates, the RV targets and the regime flags are real; the two forecast columns are invented because the pilot did not store per-day forecasts. Say that before a panelist asks — then point at the bottom strip, which is the real T11 output.</a:t>
            </a:r>
          </a:p>
          <a:p>
            <a:r>
              <a:rPr sz="1200"/>
              <a:t>The bottom strip is the honest ending: β̂₁ = −0.002039 with a one-sided p of 0.978, computed from four days whose Hurst values were 0.4999, 0.4970, 0.4957 and 0.4987. That last detail is the one to land on. Those are not crises; one of them cleared the threshold by a ten-thousandth. The test did not fail — it never ran.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two controls are worth naming out loud because a good panelist will ask for them: a random graph (same number of edges, arbitrary structure) and a no-graph ablation (each country alone). Together they answer "is the graph doing anything at all, or is any graph as good as your graph?"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Own this directly, in the first ten seconds: in the pilot, the Rényi graph did not beat the Shannon graph. Then make the three points that matter, in this order:</a:t>
            </a:r>
          </a:p>
          <a:p>
            <a:r>
              <a:rPr sz="1200"/>
              <a:t>1. The sign is negative and the t-stat is −1.93 — this isn't "inconclusive", it's pointing the wrong way in this configuration.</a:t>
            </a:r>
          </a:p>
          <a:p>
            <a:r>
              <a:rPr sz="1200"/>
              <a:t>2. The simple baselines beat every GNN arm. HAR-RV and the random walk win by &gt;50%. That's a real finding about the pilot configuration, not a bug I'm hiding.</a:t>
            </a:r>
          </a:p>
          <a:p>
            <a:r>
              <a:rPr sz="1200"/>
              <a:t>3. The random graph beat the measured graph. That's the most diagnostic number on the slide — it says the pilot's graph estimation is not yet adding signal. With 100 surrogates and 3 seeds, that is exactly what an under-powered pipeline looks like.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slide where honesty is the whole argument. Say it plainly: "I cannot test my central claim on this sample, because my sample contains almost no crisis." Then immediately pivot to the fix — it's concrete and it's the natural next question:</a:t>
            </a:r>
          </a:p>
          <a:p>
            <a:r>
              <a:rPr sz="1200"/>
              <a:t>- The final run starts from 2003, not 2018. That pulls in the 2008 Global Financial Crisis, 2020 COVID, and 2022 — the sample already shows 130 turbulent days across 1,361, so the base rate exists; the test block just didn't happen to contain them.</a:t>
            </a:r>
          </a:p>
          <a:p>
            <a:r>
              <a:rPr sz="1200"/>
              <a:t>- I will also run H1b a second way with an explicit crisis-window dummy, so the result doesn't hinge on the "H &lt; 0.5 = turbulent" mapping alone.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defensive slide, so deliver it as fact rather than excuse. The single most persuasive line: "every arm hit the epoch cap, which means not one of these models finished training. Comparing two half-trained models tells you about the training budget, not about the method." Also note the 100-surrogate p-value floor of 1/101 ≈ 0.0099 — visible in the H2a table as "pairs at the p-floor", and directly limiting how many edges can survive FDR correction.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Make the independence explicit, because it's the strongest card you hold at this midterm: "RQ1 asks does it predict better. RQ2 asks does it see differently. RQ2 can produce a real contribution even in a world where RQ1's answer is no." Given the RQ1 preliminary results, this framing matters.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rotation analogy that lands: "imagine shifting one country's calendar by six months. Germany still behaves like Germany — same rhythms, same internal streakiness — but any real timing link to Brazil is now scrambled. Do that a thousand times and you learn what pure coincidence looks like." Then: with 90 simultaneous tests at 5%, you'd expect ~4.5 false positives by chance. BH controls the expected proportion of your significant findings that are false, at 10%.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strongest preliminary result in the deck. Lead with it after the RQ1 slides — the arc is "forecasting didn't move in the pilot, but the measurement result is clean and it is exactly the direction the mechanism predicts."</a:t>
            </a:r>
          </a:p>
          <a:p>
            <a:r>
              <a:rPr sz="1200"/>
              <a:t>Then pre-empt the two objections a sharp panelist will raise:</a:t>
            </a:r>
          </a:p>
          <a:p>
            <a:r>
              <a:rPr sz="1200"/>
              <a:t>1. "36 of 90 is a 40% density — isn't that implausibly many?" Yes, possibly. With only 100 surrogates the p-value floor is 0.0099 and 21 pairs sit at that floor, which inflates the count. 1,000 surrogates in the final run resolves this in both directions.</a:t>
            </a:r>
          </a:p>
          <a:p>
            <a:r>
              <a:rPr sz="1200"/>
              <a:t>2. "Zero edges for Shannon looks broken." It's consistent — Shannon's mean flow magnitude is the lowest of the three (0.0267), so it's the arm most likely to be wiped out by FDR correction on a short sample. It's a power problem, not a bug.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Be upfront that this started as a descriptive comparison — edge-overlap tables and heatmaps with no p-value — and that I formalized it precisely so it carries the same evidentiary weight as H2a. Saying "I noticed this weakness and fixed it" is worth more at a midterm than pretending it was never there.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Give the honest two-sided reading — this is a "yes, and" result:</a:t>
            </a:r>
          </a:p>
          <a:p>
            <a:r>
              <a:rPr sz="1200"/>
              <a:t>- Not a different world. The two networks overlap far more than chance (12 vs 4.4 expected), and Germany is the #1 transmitter under both. The Rényi network is not noise, and it isn't a wholesale replacement for the Shannon picture.</a:t>
            </a:r>
          </a:p>
          <a:p>
            <a:r>
              <a:rPr sz="1200"/>
              <a:t>- But not the same world either. τ = 0.453 is a moderate correlation, not agreement — roughly half the ranking information is not shared. And individual countries move a lot: Australia jumps 5 places under tail-sensitive measurement, South Africa drops 4.</a:t>
            </a:r>
          </a:p>
          <a:p>
            <a:r>
              <a:rPr sz="1200"/>
              <a:t>- So the preliminary read on H2b: directionally supportive — the cast of characters does shift — but the pilot cannot yet distinguish "a real reordering during crises" from "sampling noise on a short, calm sample." The final run adds crisis vs. non-crisis window splits, which is where the hypothesis is actually pointed.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Do not oversell. The panel will trust the final numbers precisely in proportion to how straight you are about these ones. If asked directly "so is your thesis working?" — the answer is: "the measurement half is showing exactly what I predicted. The forecasting half is untested, because the pilot was too small and the test window had no crisis in it. Both are fixable, and I know how."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Item 4 is the one to raise yourself rather than let the panel find. Items 6 and 7 are the ones a methodologically sharp panelist will go for — having the answer ready signals you know where the statistical soft spots are.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Close on RQ2. It's the result you can defend hardest, and it's the one that's independent of whether the forecasting half comes good.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874519"/>
            <a:ext cx="9692640" cy="1371600"/>
          </a:xfrm>
          <a:prstGeom prst="rect">
            <a:avLst/>
          </a:prstGeom>
          <a:noFill/>
        </p:spPr>
        <p:txBody>
          <a:bodyPr wrap="square" lIns="0" rIns="0" tIns="0" bIns="0">
            <a:spAutoFit/>
          </a:bodyPr>
          <a:lstStyle/>
          <a:p>
            <a:r>
              <a:rPr sz="4600" b="1" i="0">
                <a:solidFill>
                  <a:srgbClr val="14213D"/>
                </a:solidFill>
                <a:latin typeface="Georgia"/>
              </a:rPr>
              <a:t>Predicting How Wild Tomorrow Will Be</a:t>
            </a:r>
          </a:p>
        </p:txBody>
      </p:sp>
      <p:sp>
        <p:nvSpPr>
          <p:cNvPr id="5" name="TextBox 4"/>
          <p:cNvSpPr txBox="1"/>
          <p:nvPr/>
        </p:nvSpPr>
        <p:spPr>
          <a:xfrm>
            <a:off x="1234440" y="3310128"/>
            <a:ext cx="9326880" cy="731520"/>
          </a:xfrm>
          <a:prstGeom prst="rect">
            <a:avLst/>
          </a:prstGeom>
          <a:noFill/>
        </p:spPr>
        <p:txBody>
          <a:bodyPr wrap="square" lIns="0" rIns="0" tIns="0" bIns="0">
            <a:spAutoFit/>
          </a:bodyPr>
          <a:lstStyle/>
          <a:p>
            <a:r>
              <a:rPr sz="1900" b="0" i="0">
                <a:solidFill>
                  <a:srgbClr val="5A6472"/>
                </a:solidFill>
                <a:latin typeface="Calibri"/>
              </a:rPr>
              <a:t>Forecasting stock market volatility by measuring how panic travels between countries</a:t>
            </a:r>
          </a:p>
        </p:txBody>
      </p:sp>
      <p:sp>
        <p:nvSpPr>
          <p:cNvPr id="6" name="Rectangle 5"/>
          <p:cNvSpPr/>
          <p:nvPr/>
        </p:nvSpPr>
        <p:spPr>
          <a:xfrm>
            <a:off x="1234440" y="4224528"/>
            <a:ext cx="12801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526280"/>
            <a:ext cx="9326880" cy="382016"/>
          </a:xfrm>
          <a:prstGeom prst="rect">
            <a:avLst/>
          </a:prstGeom>
          <a:noFill/>
        </p:spPr>
        <p:txBody>
          <a:bodyPr wrap="square" lIns="0" rIns="0" tIns="0" bIns="0">
            <a:spAutoFit/>
          </a:bodyPr>
          <a:lstStyle/>
          <a:p>
            <a:r>
              <a:rPr sz="1450" b="0" i="0">
                <a:solidFill>
                  <a:srgbClr val="2A3345"/>
                </a:solidFill>
                <a:latin typeface="Calibri"/>
              </a:rPr>
              <a:t>L.U.L. Ramoy</a:t>
            </a:r>
          </a:p>
        </p:txBody>
      </p:sp>
      <p:sp>
        <p:nvSpPr>
          <p:cNvPr id="8" name="TextBox 7"/>
          <p:cNvSpPr txBox="1"/>
          <p:nvPr/>
        </p:nvSpPr>
        <p:spPr>
          <a:xfrm>
            <a:off x="1234440" y="4908296"/>
            <a:ext cx="9326880" cy="382016"/>
          </a:xfrm>
          <a:prstGeom prst="rect">
            <a:avLst/>
          </a:prstGeom>
          <a:noFill/>
        </p:spPr>
        <p:txBody>
          <a:bodyPr wrap="square" lIns="0" rIns="0" tIns="0" bIns="0">
            <a:spAutoFit/>
          </a:bodyPr>
          <a:lstStyle/>
          <a:p>
            <a:r>
              <a:rPr sz="1450" b="0" i="0">
                <a:solidFill>
                  <a:srgbClr val="2A3345"/>
                </a:solidFill>
                <a:latin typeface="Calibri"/>
              </a:rPr>
              <a:t>HR-ETE-GNN — Hurst-Regime-Adaptive Rényi Effective Transfer Entropy Graph Neural Network</a:t>
            </a:r>
          </a:p>
        </p:txBody>
      </p:sp>
      <p:sp>
        <p:nvSpPr>
          <p:cNvPr id="9" name="TextBox 8"/>
          <p:cNvSpPr txBox="1"/>
          <p:nvPr/>
        </p:nvSpPr>
        <p:spPr>
          <a:xfrm>
            <a:off x="1234440" y="5290312"/>
            <a:ext cx="9326880" cy="382016"/>
          </a:xfrm>
          <a:prstGeom prst="rect">
            <a:avLst/>
          </a:prstGeom>
          <a:noFill/>
        </p:spPr>
        <p:txBody>
          <a:bodyPr wrap="square" lIns="0" rIns="0" tIns="0" bIns="0">
            <a:spAutoFit/>
          </a:bodyPr>
          <a:lstStyle/>
          <a:p>
            <a:r>
              <a:rPr sz="1450" b="0" i="0">
                <a:solidFill>
                  <a:srgbClr val="2A3345"/>
                </a:solidFill>
                <a:latin typeface="Calibri"/>
              </a:rPr>
              <a:t>Midterm Defense — Experiment Design &amp; Preliminary Results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The Whole Thesis in One Sentence</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0 — Framing</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  ·  2/40</a:t>
            </a:r>
          </a:p>
        </p:txBody>
      </p:sp>
      <p:sp>
        <p:nvSpPr>
          <p:cNvPr id="7" name="Rectangle 6"/>
          <p:cNvSpPr/>
          <p:nvPr/>
        </p:nvSpPr>
        <p:spPr>
          <a:xfrm>
            <a:off x="658368" y="2089853"/>
            <a:ext cx="10874959" cy="123748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089853"/>
            <a:ext cx="50292" cy="123748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181293"/>
            <a:ext cx="10463479" cy="1054608"/>
          </a:xfrm>
          <a:prstGeom prst="rect">
            <a:avLst/>
          </a:prstGeom>
          <a:noFill/>
        </p:spPr>
        <p:txBody>
          <a:bodyPr wrap="square" lIns="0" rIns="0" tIns="0" bIns="0">
            <a:spAutoFit/>
          </a:bodyPr>
          <a:lstStyle/>
          <a:p>
            <a:r>
              <a:rPr sz="1600" b="0" i="0">
                <a:solidFill>
                  <a:srgbClr val="14213D"/>
                </a:solidFill>
                <a:latin typeface="Calibri"/>
              </a:rPr>
              <a:t>I build a system that predicts </a:t>
            </a:r>
            <a:r>
              <a:rPr sz="1600" b="1" i="0">
                <a:solidFill>
                  <a:srgbClr val="14213D"/>
                </a:solidFill>
                <a:latin typeface="Calibri"/>
              </a:rPr>
              <a:t>how wildly a country's stock market will swing tomorrow</a:t>
            </a:r>
            <a:r>
              <a:rPr sz="1600" b="0" i="0">
                <a:solidFill>
                  <a:srgbClr val="14213D"/>
                </a:solidFill>
                <a:latin typeface="Calibri"/>
              </a:rPr>
              <a:t>, by watching </a:t>
            </a:r>
            <a:r>
              <a:rPr sz="1600" b="1" i="0">
                <a:solidFill>
                  <a:srgbClr val="14213D"/>
                </a:solidFill>
                <a:latin typeface="Calibri"/>
              </a:rPr>
              <a:t>how nervousness spreads between countries</a:t>
            </a:r>
            <a:r>
              <a:rPr sz="1600" b="0" i="0">
                <a:solidFill>
                  <a:srgbClr val="14213D"/>
                </a:solidFill>
                <a:latin typeface="Calibri"/>
              </a:rPr>
              <a:t> — the way a weather service predicts tomorrow's storm by watching the pressure systems moving in from next door.</a:t>
            </a:r>
          </a:p>
        </p:txBody>
      </p:sp>
      <p:sp>
        <p:nvSpPr>
          <p:cNvPr id="10" name="TextBox 9"/>
          <p:cNvSpPr txBox="1"/>
          <p:nvPr/>
        </p:nvSpPr>
        <p:spPr>
          <a:xfrm>
            <a:off x="658368" y="3455357"/>
            <a:ext cx="10874959" cy="398272"/>
          </a:xfrm>
          <a:prstGeom prst="rect">
            <a:avLst/>
          </a:prstGeom>
          <a:noFill/>
        </p:spPr>
        <p:txBody>
          <a:bodyPr wrap="square" lIns="0" rIns="0" tIns="0" bIns="0">
            <a:spAutoFit/>
          </a:bodyPr>
          <a:lstStyle/>
          <a:p>
            <a:r>
              <a:rPr sz="1550" b="0" i="0">
                <a:solidFill>
                  <a:srgbClr val="2A3345"/>
                </a:solidFill>
                <a:latin typeface="Calibri"/>
              </a:rPr>
              <a:t>Three ideas hidden in that sentence:</a:t>
            </a:r>
          </a:p>
        </p:txBody>
      </p:sp>
      <p:graphicFrame>
        <p:nvGraphicFramePr>
          <p:cNvPr id="11" name="Table 10"/>
          <p:cNvGraphicFramePr>
            <a:graphicFrameLocks noGrp="1"/>
          </p:cNvGraphicFramePr>
          <p:nvPr/>
        </p:nvGraphicFramePr>
        <p:xfrm>
          <a:off x="658368" y="3853629"/>
          <a:ext cx="10874958" cy="1242441"/>
        </p:xfrm>
        <a:graphic>
          <a:graphicData uri="http://schemas.openxmlformats.org/drawingml/2006/table">
            <a:tbl>
              <a:tblPr firstRow="1">
                <a:tableStyleId>{5C22544A-7EE6-4342-B048-85BDC9FD1C3A}</a:tableStyleId>
              </a:tblPr>
              <a:tblGrid>
                <a:gridCol w="3403048"/>
                <a:gridCol w="4938570"/>
                <a:gridCol w="2533340"/>
              </a:tblGrid>
              <a:tr h="310610">
                <a:tc>
                  <a:txBody>
                    <a:bodyPr wrap="square"/>
                    <a:lstStyle/>
                    <a:p>
                      <a:pPr algn="l"/>
                      <a:r>
                        <a:rPr sz="1150" b="1" i="0">
                          <a:solidFill>
                            <a:srgbClr val="FFFFFF"/>
                          </a:solidFill>
                          <a:latin typeface="Calibri"/>
                        </a:rPr>
                        <a:t>Idea</a:t>
                      </a:r>
                    </a:p>
                  </a:txBody>
                  <a:tcPr marL="64008" marR="64008" marT="32004" marB="32004" anchor="ctr">
                    <a:solidFill>
                      <a:srgbClr val="1D5B8F"/>
                    </a:solidFill>
                  </a:tcPr>
                </a:tc>
                <a:tc>
                  <a:txBody>
                    <a:bodyPr wrap="square"/>
                    <a:lstStyle/>
                    <a:p>
                      <a:pPr algn="l"/>
                      <a:r>
                        <a:rPr sz="1150" b="1" i="0">
                          <a:solidFill>
                            <a:srgbClr val="FFFFFF"/>
                          </a:solidFill>
                          <a:latin typeface="Calibri"/>
                        </a:rPr>
                        <a:t>Everyday version</a:t>
                      </a:r>
                    </a:p>
                  </a:txBody>
                  <a:tcPr marL="64008" marR="64008" marT="32004" marB="32004" anchor="ctr">
                    <a:solidFill>
                      <a:srgbClr val="1D5B8F"/>
                    </a:solidFill>
                  </a:tcPr>
                </a:tc>
                <a:tc>
                  <a:txBody>
                    <a:bodyPr wrap="square"/>
                    <a:lstStyle/>
                    <a:p>
                      <a:pPr algn="l"/>
                      <a:r>
                        <a:rPr sz="1150" b="1" i="0">
                          <a:solidFill>
                            <a:srgbClr val="FFFFFF"/>
                          </a:solidFill>
                          <a:latin typeface="Calibri"/>
                        </a:rPr>
                        <a:t>Where I explain it</a:t>
                      </a:r>
                    </a:p>
                  </a:txBody>
                  <a:tcPr marL="64008" marR="64008" marT="32004" marB="32004" anchor="ctr">
                    <a:solidFill>
                      <a:srgbClr val="1D5B8F"/>
                    </a:solidFill>
                  </a:tcPr>
                </a:tc>
              </a:tr>
              <a:tr h="310610">
                <a:tc>
                  <a:txBody>
                    <a:bodyPr wrap="square"/>
                    <a:lstStyle/>
                    <a:p>
                      <a:pPr algn="l"/>
                      <a:r>
                        <a:rPr sz="1100" b="1" i="0">
                          <a:solidFill>
                            <a:srgbClr val="14213D"/>
                          </a:solidFill>
                          <a:latin typeface="Calibri"/>
                        </a:rPr>
                        <a:t>"how wildly a market swings"</a:t>
                      </a:r>
                    </a:p>
                  </a:txBody>
                  <a:tcPr marL="64008" marR="64008" marT="32004" marB="32004" anchor="ctr">
                    <a:solidFill>
                      <a:srgbClr val="F4F7FA"/>
                    </a:solidFill>
                  </a:tcPr>
                </a:tc>
                <a:tc>
                  <a:txBody>
                    <a:bodyPr wrap="square"/>
                    <a:lstStyle/>
                    <a:p>
                      <a:pPr algn="l"/>
                      <a:r>
                        <a:rPr sz="1100" b="0" i="0">
                          <a:solidFill>
                            <a:srgbClr val="2A3345"/>
                          </a:solidFill>
                          <a:latin typeface="Calibri"/>
                        </a:rPr>
                        <a:t>How bumpy is the ride?</a:t>
                      </a:r>
                    </a:p>
                  </a:txBody>
                  <a:tcPr marL="64008" marR="64008" marT="32004" marB="32004" anchor="ctr">
                    <a:solidFill>
                      <a:srgbClr val="F4F7FA"/>
                    </a:solidFill>
                  </a:tcPr>
                </a:tc>
                <a:tc>
                  <a:txBody>
                    <a:bodyPr wrap="square"/>
                    <a:lstStyle/>
                    <a:p>
                      <a:pPr algn="l"/>
                      <a:r>
                        <a:rPr sz="1100" b="0" i="0">
                          <a:solidFill>
                            <a:srgbClr val="2A3345"/>
                          </a:solidFill>
                          <a:latin typeface="Calibri"/>
                        </a:rPr>
                        <a:t>Act 1</a:t>
                      </a:r>
                    </a:p>
                  </a:txBody>
                  <a:tcPr marL="64008" marR="64008" marT="32004" marB="32004" anchor="ctr">
                    <a:solidFill>
                      <a:srgbClr val="F4F7FA"/>
                    </a:solidFill>
                  </a:tcPr>
                </a:tc>
              </a:tr>
              <a:tr h="310610">
                <a:tc>
                  <a:txBody>
                    <a:bodyPr wrap="square"/>
                    <a:lstStyle/>
                    <a:p>
                      <a:pPr algn="l"/>
                      <a:r>
                        <a:rPr sz="1100" b="1" i="0">
                          <a:solidFill>
                            <a:srgbClr val="14213D"/>
                          </a:solidFill>
                          <a:latin typeface="Calibri"/>
                        </a:rPr>
                        <a:t>"predicting it"</a:t>
                      </a:r>
                    </a:p>
                  </a:txBody>
                  <a:tcPr marL="64008" marR="64008" marT="32004" marB="32004" anchor="ctr">
                    <a:solidFill>
                      <a:srgbClr val="FFFFFF"/>
                    </a:solidFill>
                  </a:tcPr>
                </a:tc>
                <a:tc>
                  <a:txBody>
                    <a:bodyPr wrap="square"/>
                    <a:lstStyle/>
                    <a:p>
                      <a:pPr algn="l"/>
                      <a:r>
                        <a:rPr sz="1100" b="0" i="0">
                          <a:solidFill>
                            <a:srgbClr val="2A3345"/>
                          </a:solidFill>
                          <a:latin typeface="Calibri"/>
                        </a:rPr>
                        <a:t>Bumpiness is streaky — yesterday hints at today</a:t>
                      </a:r>
                    </a:p>
                  </a:txBody>
                  <a:tcPr marL="64008" marR="64008" marT="32004" marB="32004" anchor="ctr">
                    <a:solidFill>
                      <a:srgbClr val="FFFFFF"/>
                    </a:solidFill>
                  </a:tcPr>
                </a:tc>
                <a:tc>
                  <a:txBody>
                    <a:bodyPr wrap="square"/>
                    <a:lstStyle/>
                    <a:p>
                      <a:pPr algn="l"/>
                      <a:r>
                        <a:rPr sz="1100" b="0" i="0">
                          <a:solidFill>
                            <a:srgbClr val="2A3345"/>
                          </a:solidFill>
                          <a:latin typeface="Calibri"/>
                        </a:rPr>
                        <a:t>Act 1</a:t>
                      </a:r>
                    </a:p>
                  </a:txBody>
                  <a:tcPr marL="64008" marR="64008" marT="32004" marB="32004" anchor="ctr">
                    <a:solidFill>
                      <a:srgbClr val="FFFFFF"/>
                    </a:solidFill>
                  </a:tcPr>
                </a:tc>
              </a:tr>
              <a:tr h="310611">
                <a:tc>
                  <a:txBody>
                    <a:bodyPr wrap="square"/>
                    <a:lstStyle/>
                    <a:p>
                      <a:pPr algn="l"/>
                      <a:r>
                        <a:rPr sz="1100" b="1" i="0">
                          <a:solidFill>
                            <a:srgbClr val="14213D"/>
                          </a:solidFill>
                          <a:latin typeface="Calibri"/>
                        </a:rPr>
                        <a:t>"nervousness spreads between countries"</a:t>
                      </a:r>
                    </a:p>
                  </a:txBody>
                  <a:tcPr marL="64008" marR="64008" marT="32004" marB="32004" anchor="ctr">
                    <a:solidFill>
                      <a:srgbClr val="F4F7FA"/>
                    </a:solidFill>
                  </a:tcPr>
                </a:tc>
                <a:tc>
                  <a:txBody>
                    <a:bodyPr wrap="square"/>
                    <a:lstStyle/>
                    <a:p>
                      <a:pPr algn="l"/>
                      <a:r>
                        <a:rPr sz="1100" b="0" i="0">
                          <a:solidFill>
                            <a:srgbClr val="2A3345"/>
                          </a:solidFill>
                          <a:latin typeface="Calibri"/>
                        </a:rPr>
                        <a:t>Panic is contagious, and it travels in a </a:t>
                      </a:r>
                      <a:r>
                        <a:rPr sz="1100" b="0" i="1">
                          <a:solidFill>
                            <a:srgbClr val="2A3345"/>
                          </a:solidFill>
                          <a:latin typeface="Calibri"/>
                        </a:rPr>
                        <a:t>direction</a:t>
                      </a:r>
                    </a:p>
                  </a:txBody>
                  <a:tcPr marL="64008" marR="64008" marT="32004" marB="32004" anchor="ctr">
                    <a:solidFill>
                      <a:srgbClr val="F4F7FA"/>
                    </a:solidFill>
                  </a:tcPr>
                </a:tc>
                <a:tc>
                  <a:txBody>
                    <a:bodyPr wrap="square"/>
                    <a:lstStyle/>
                    <a:p>
                      <a:pPr algn="l"/>
                      <a:r>
                        <a:rPr sz="1100" b="0" i="0">
                          <a:solidFill>
                            <a:srgbClr val="2A3345"/>
                          </a:solidFill>
                          <a:latin typeface="Calibri"/>
                        </a:rPr>
                        <a:t>Act 3</a:t>
                      </a:r>
                    </a:p>
                  </a:txBody>
                  <a:tcPr marL="64008" marR="64008" marT="32004" marB="32004" anchor="ctr">
                    <a:solidFill>
                      <a:srgbClr val="F4F7FA"/>
                    </a:solidFill>
                  </a:tcPr>
                </a:tc>
              </a:tr>
            </a:tbl>
          </a:graphicData>
        </a:graphic>
      </p:graphicFrame>
      <p:sp>
        <p:nvSpPr>
          <p:cNvPr id="12" name="TextBox 11"/>
          <p:cNvSpPr txBox="1"/>
          <p:nvPr/>
        </p:nvSpPr>
        <p:spPr>
          <a:xfrm>
            <a:off x="658368" y="5224086"/>
            <a:ext cx="10874959" cy="333248"/>
          </a:xfrm>
          <a:prstGeom prst="rect">
            <a:avLst/>
          </a:prstGeom>
          <a:noFill/>
        </p:spPr>
        <p:txBody>
          <a:bodyPr wrap="square" lIns="0" rIns="0" tIns="0" bIns="0">
            <a:spAutoFit/>
          </a:bodyPr>
          <a:lstStyle/>
          <a:p>
            <a:r>
              <a:rPr sz="1150" b="0" i="1">
                <a:solidFill>
                  <a:srgbClr val="5A6472"/>
                </a:solidFill>
                <a:latin typeface="Calibri"/>
              </a:rPr>
              <a:t>Visual — Weather-map metaphor illustration, or a simple 3-icon row.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Where We're Going</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0 — Framing</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3  ·  3/40</a:t>
            </a:r>
          </a:p>
        </p:txBody>
      </p:sp>
      <p:sp>
        <p:nvSpPr>
          <p:cNvPr id="7" name="TextBox 6"/>
          <p:cNvSpPr txBox="1"/>
          <p:nvPr/>
        </p:nvSpPr>
        <p:spPr>
          <a:xfrm>
            <a:off x="658368" y="2148840"/>
            <a:ext cx="10874959" cy="370840"/>
          </a:xfrm>
          <a:prstGeom prst="rect">
            <a:avLst/>
          </a:prstGeom>
          <a:noFill/>
        </p:spPr>
        <p:txBody>
          <a:bodyPr wrap="square" lIns="0" rIns="0" tIns="0" bIns="0">
            <a:spAutoFit/>
          </a:bodyPr>
          <a:lstStyle/>
          <a:p>
            <a:pPr marL="274320" indent="-274320"/>
            <a:r>
              <a:rPr sz="1550" b="0" i="0">
                <a:solidFill>
                  <a:srgbClr val="2A3345"/>
                </a:solidFill>
                <a:latin typeface="Calibri"/>
              </a:rPr>
              <a:t>1.  </a:t>
            </a:r>
            <a:r>
              <a:rPr sz="1550" b="1" i="0">
                <a:solidFill>
                  <a:srgbClr val="14213D"/>
                </a:solidFill>
                <a:latin typeface="Calibri"/>
              </a:rPr>
              <a:t>What am I predicting?</a:t>
            </a:r>
            <a:r>
              <a:rPr sz="1550" b="0" i="0">
                <a:solidFill>
                  <a:srgbClr val="2A3345"/>
                </a:solidFill>
                <a:latin typeface="Calibri"/>
              </a:rPr>
              <a:t> — Realized Volatility, built from scratch</a:t>
            </a:r>
          </a:p>
        </p:txBody>
      </p:sp>
      <p:sp>
        <p:nvSpPr>
          <p:cNvPr id="8" name="TextBox 7"/>
          <p:cNvSpPr txBox="1"/>
          <p:nvPr/>
        </p:nvSpPr>
        <p:spPr>
          <a:xfrm>
            <a:off x="658368" y="2519680"/>
            <a:ext cx="10874959" cy="370840"/>
          </a:xfrm>
          <a:prstGeom prst="rect">
            <a:avLst/>
          </a:prstGeom>
          <a:noFill/>
        </p:spPr>
        <p:txBody>
          <a:bodyPr wrap="square" lIns="0" rIns="0" tIns="0" bIns="0">
            <a:spAutoFit/>
          </a:bodyPr>
          <a:lstStyle/>
          <a:p>
            <a:pPr marL="274320" indent="-274320"/>
            <a:r>
              <a:rPr sz="1550" b="0" i="0">
                <a:solidFill>
                  <a:srgbClr val="2A3345"/>
                </a:solidFill>
                <a:latin typeface="Calibri"/>
              </a:rPr>
              <a:t>2.  </a:t>
            </a:r>
            <a:r>
              <a:rPr sz="1550" b="1" i="0">
                <a:solidFill>
                  <a:srgbClr val="14213D"/>
                </a:solidFill>
                <a:latin typeface="Calibri"/>
              </a:rPr>
              <a:t>Research Question 1</a:t>
            </a:r>
            <a:r>
              <a:rPr sz="1550" b="0" i="0">
                <a:solidFill>
                  <a:srgbClr val="2A3345"/>
                </a:solidFill>
                <a:latin typeface="Calibri"/>
              </a:rPr>
              <a:t> — Does my model forecast better than the existing one? (H1a, H1b)</a:t>
            </a:r>
          </a:p>
        </p:txBody>
      </p:sp>
      <p:sp>
        <p:nvSpPr>
          <p:cNvPr id="9" name="TextBox 8"/>
          <p:cNvSpPr txBox="1"/>
          <p:nvPr/>
        </p:nvSpPr>
        <p:spPr>
          <a:xfrm>
            <a:off x="658368" y="2890520"/>
            <a:ext cx="10874959" cy="370840"/>
          </a:xfrm>
          <a:prstGeom prst="rect">
            <a:avLst/>
          </a:prstGeom>
          <a:noFill/>
        </p:spPr>
        <p:txBody>
          <a:bodyPr wrap="square" lIns="0" rIns="0" tIns="0" bIns="0">
            <a:spAutoFit/>
          </a:bodyPr>
          <a:lstStyle/>
          <a:p>
            <a:pPr marL="274320" indent="-274320"/>
            <a:r>
              <a:rPr sz="1550" b="0" i="0">
                <a:solidFill>
                  <a:srgbClr val="2A3345"/>
                </a:solidFill>
                <a:latin typeface="Calibri"/>
              </a:rPr>
              <a:t>3.  </a:t>
            </a:r>
            <a:r>
              <a:rPr sz="1550" b="1" i="0">
                <a:solidFill>
                  <a:srgbClr val="14213D"/>
                </a:solidFill>
                <a:latin typeface="Calibri"/>
              </a:rPr>
              <a:t>Research Question 2</a:t>
            </a:r>
            <a:r>
              <a:rPr sz="1550" b="0" i="0">
                <a:solidFill>
                  <a:srgbClr val="2A3345"/>
                </a:solidFill>
                <a:latin typeface="Calibri"/>
              </a:rPr>
              <a:t> — Do the two ways of measuring produce </a:t>
            </a:r>
            <a:r>
              <a:rPr sz="1550" b="0" i="1">
                <a:solidFill>
                  <a:srgbClr val="2A3345"/>
                </a:solidFill>
                <a:latin typeface="Calibri"/>
              </a:rPr>
              <a:t>different maps</a:t>
            </a:r>
            <a:r>
              <a:rPr sz="1550" b="0" i="0">
                <a:solidFill>
                  <a:srgbClr val="2A3345"/>
                </a:solidFill>
                <a:latin typeface="Calibri"/>
              </a:rPr>
              <a:t> of the world? (H2a, H2b)</a:t>
            </a:r>
          </a:p>
        </p:txBody>
      </p:sp>
      <p:sp>
        <p:nvSpPr>
          <p:cNvPr id="10" name="TextBox 9"/>
          <p:cNvSpPr txBox="1"/>
          <p:nvPr/>
        </p:nvSpPr>
        <p:spPr>
          <a:xfrm>
            <a:off x="658368" y="3261360"/>
            <a:ext cx="10874959" cy="370840"/>
          </a:xfrm>
          <a:prstGeom prst="rect">
            <a:avLst/>
          </a:prstGeom>
          <a:noFill/>
        </p:spPr>
        <p:txBody>
          <a:bodyPr wrap="square" lIns="0" rIns="0" tIns="0" bIns="0">
            <a:spAutoFit/>
          </a:bodyPr>
          <a:lstStyle/>
          <a:p>
            <a:pPr marL="274320" indent="-274320"/>
            <a:r>
              <a:rPr sz="1550" b="0" i="0">
                <a:solidFill>
                  <a:srgbClr val="2A3345"/>
                </a:solidFill>
                <a:latin typeface="Calibri"/>
              </a:rPr>
              <a:t>4.  </a:t>
            </a:r>
            <a:r>
              <a:rPr sz="1550" b="1" i="0">
                <a:solidFill>
                  <a:srgbClr val="14213D"/>
                </a:solidFill>
                <a:latin typeface="Calibri"/>
              </a:rPr>
              <a:t>Preliminary results</a:t>
            </a:r>
            <a:r>
              <a:rPr sz="1550" b="0" i="0">
                <a:solidFill>
                  <a:srgbClr val="2A3345"/>
                </a:solidFill>
                <a:latin typeface="Calibri"/>
              </a:rPr>
              <a:t> — what the pilot run actually says</a:t>
            </a:r>
          </a:p>
        </p:txBody>
      </p:sp>
      <p:sp>
        <p:nvSpPr>
          <p:cNvPr id="11" name="TextBox 10"/>
          <p:cNvSpPr txBox="1"/>
          <p:nvPr/>
        </p:nvSpPr>
        <p:spPr>
          <a:xfrm>
            <a:off x="658368" y="3632199"/>
            <a:ext cx="10874959" cy="370840"/>
          </a:xfrm>
          <a:prstGeom prst="rect">
            <a:avLst/>
          </a:prstGeom>
          <a:noFill/>
        </p:spPr>
        <p:txBody>
          <a:bodyPr wrap="square" lIns="0" rIns="0" tIns="0" bIns="0">
            <a:spAutoFit/>
          </a:bodyPr>
          <a:lstStyle/>
          <a:p>
            <a:pPr marL="274320" indent="-274320"/>
            <a:r>
              <a:rPr sz="1550" b="0" i="0">
                <a:solidFill>
                  <a:srgbClr val="2A3345"/>
                </a:solidFill>
                <a:latin typeface="Calibri"/>
              </a:rPr>
              <a:t>5.  </a:t>
            </a:r>
            <a:r>
              <a:rPr sz="1550" b="1" i="0">
                <a:solidFill>
                  <a:srgbClr val="14213D"/>
                </a:solidFill>
                <a:latin typeface="Calibri"/>
              </a:rPr>
              <a:t>What changes before the final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Step 1: Stop Looking at Prices</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1 — What is Realized Volatility?</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4  ·  4/40</a:t>
            </a:r>
          </a:p>
        </p:txBody>
      </p:sp>
      <p:sp>
        <p:nvSpPr>
          <p:cNvPr id="7" name="TextBox 6"/>
          <p:cNvSpPr txBox="1"/>
          <p:nvPr/>
        </p:nvSpPr>
        <p:spPr>
          <a:xfrm>
            <a:off x="658368" y="1645920"/>
            <a:ext cx="5227167" cy="622808"/>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A German share costs ~$30. A Japanese share costs ~$60.</a:t>
            </a:r>
          </a:p>
        </p:txBody>
      </p:sp>
      <p:sp>
        <p:nvSpPr>
          <p:cNvPr id="8" name="TextBox 7"/>
          <p:cNvSpPr txBox="1"/>
          <p:nvPr/>
        </p:nvSpPr>
        <p:spPr>
          <a:xfrm>
            <a:off x="658368" y="2268728"/>
            <a:ext cx="5227167" cy="622808"/>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A "$1 move" means something completely different in each.</a:t>
            </a:r>
          </a:p>
        </p:txBody>
      </p:sp>
      <p:sp>
        <p:nvSpPr>
          <p:cNvPr id="9" name="TextBox 8"/>
          <p:cNvSpPr txBox="1"/>
          <p:nvPr/>
        </p:nvSpPr>
        <p:spPr>
          <a:xfrm>
            <a:off x="658368" y="2891536"/>
            <a:ext cx="5227167" cy="622808"/>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So the first thing anyone does is convert to a </a:t>
            </a:r>
            <a:r>
              <a:rPr sz="1550" b="1" i="0">
                <a:solidFill>
                  <a:srgbClr val="14213D"/>
                </a:solidFill>
                <a:latin typeface="Calibri"/>
              </a:rPr>
              <a:t>return</a:t>
            </a:r>
            <a:r>
              <a:rPr sz="1550" b="0" i="0">
                <a:solidFill>
                  <a:srgbClr val="2A3345"/>
                </a:solidFill>
                <a:latin typeface="Calibri"/>
              </a:rPr>
              <a:t> — the </a:t>
            </a:r>
            <a:r>
              <a:rPr sz="1550" b="0" i="1">
                <a:solidFill>
                  <a:srgbClr val="2A3345"/>
                </a:solidFill>
                <a:latin typeface="Calibri"/>
              </a:rPr>
              <a:t>percentage</a:t>
            </a:r>
            <a:r>
              <a:rPr sz="1550" b="0" i="0">
                <a:solidFill>
                  <a:srgbClr val="2A3345"/>
                </a:solidFill>
                <a:latin typeface="Calibri"/>
              </a:rPr>
              <a:t> change from yesterday to today.</a:t>
            </a:r>
          </a:p>
        </p:txBody>
      </p:sp>
      <p:sp>
        <p:nvSpPr>
          <p:cNvPr id="10" name="TextBox 9"/>
          <p:cNvSpPr txBox="1"/>
          <p:nvPr/>
        </p:nvSpPr>
        <p:spPr>
          <a:xfrm>
            <a:off x="658368" y="3514344"/>
            <a:ext cx="5227167" cy="622808"/>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Returns are comparable across countries, across time, across price levels.</a:t>
            </a:r>
          </a:p>
        </p:txBody>
      </p:sp>
      <p:pic>
        <p:nvPicPr>
          <p:cNvPr id="11" name="Picture 10" descr="S04a_ewg_price.png"/>
          <p:cNvPicPr>
            <a:picLocks noChangeAspect="1"/>
          </p:cNvPicPr>
          <p:nvPr/>
        </p:nvPicPr>
        <p:blipFill>
          <a:blip r:embed="rId3"/>
          <a:stretch>
            <a:fillRect/>
          </a:stretch>
        </p:blipFill>
        <p:spPr>
          <a:xfrm>
            <a:off x="6306159" y="1947305"/>
            <a:ext cx="5227167" cy="1957182"/>
          </a:xfrm>
          <a:prstGeom prst="rect">
            <a:avLst/>
          </a:prstGeom>
        </p:spPr>
      </p:pic>
      <p:pic>
        <p:nvPicPr>
          <p:cNvPr id="12" name="Picture 11" descr="S04b_ewg_returns.png"/>
          <p:cNvPicPr>
            <a:picLocks noChangeAspect="1"/>
          </p:cNvPicPr>
          <p:nvPr/>
        </p:nvPicPr>
        <p:blipFill>
          <a:blip r:embed="rId4"/>
          <a:stretch>
            <a:fillRect/>
          </a:stretch>
        </p:blipFill>
        <p:spPr>
          <a:xfrm>
            <a:off x="6306159" y="4069080"/>
            <a:ext cx="5227167" cy="195718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Two Investments. Same Start. Same Finish. Not the Same.</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1 — What is Realized Volatility?</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5  ·  5/40</a:t>
            </a:r>
          </a:p>
        </p:txBody>
      </p:sp>
      <p:sp>
        <p:nvSpPr>
          <p:cNvPr id="7" name="TextBox 6"/>
          <p:cNvSpPr txBox="1"/>
          <p:nvPr/>
        </p:nvSpPr>
        <p:spPr>
          <a:xfrm>
            <a:off x="658368" y="1645920"/>
            <a:ext cx="10874959" cy="270052"/>
          </a:xfrm>
          <a:prstGeom prst="rect">
            <a:avLst/>
          </a:prstGeom>
          <a:noFill/>
        </p:spPr>
        <p:txBody>
          <a:bodyPr wrap="square" lIns="0" rIns="0" tIns="0" bIns="0">
            <a:spAutoFit/>
          </a:bodyPr>
          <a:lstStyle/>
          <a:p>
            <a:pPr marL="237744" indent="-237744"/>
            <a:r>
              <a:rPr sz="929">
                <a:solidFill>
                  <a:srgbClr val="1D5B8F"/>
                </a:solidFill>
                <a:latin typeface="Calibri"/>
              </a:rPr>
              <a:t>▪  </a:t>
            </a:r>
            <a:r>
              <a:rPr sz="929" b="0" i="0">
                <a:solidFill>
                  <a:srgbClr val="2A3345"/>
                </a:solidFill>
                <a:latin typeface="Calibri"/>
              </a:rPr>
              <a:t>Investment A: climbs smoothly to $120.</a:t>
            </a:r>
          </a:p>
        </p:txBody>
      </p:sp>
      <p:sp>
        <p:nvSpPr>
          <p:cNvPr id="8" name="TextBox 7"/>
          <p:cNvSpPr txBox="1"/>
          <p:nvPr/>
        </p:nvSpPr>
        <p:spPr>
          <a:xfrm>
            <a:off x="658368" y="1915972"/>
            <a:ext cx="10874959" cy="270052"/>
          </a:xfrm>
          <a:prstGeom prst="rect">
            <a:avLst/>
          </a:prstGeom>
          <a:noFill/>
        </p:spPr>
        <p:txBody>
          <a:bodyPr wrap="square" lIns="0" rIns="0" tIns="0" bIns="0">
            <a:spAutoFit/>
          </a:bodyPr>
          <a:lstStyle/>
          <a:p>
            <a:pPr marL="237744" indent="-237744"/>
            <a:r>
              <a:rPr sz="929">
                <a:solidFill>
                  <a:srgbClr val="1D5B8F"/>
                </a:solidFill>
                <a:latin typeface="Calibri"/>
              </a:rPr>
              <a:t>▪  </a:t>
            </a:r>
            <a:r>
              <a:rPr sz="929" b="0" i="0">
                <a:solidFill>
                  <a:srgbClr val="2A3345"/>
                </a:solidFill>
                <a:latin typeface="Calibri"/>
              </a:rPr>
              <a:t>Investment B: ends at $120 too — after crashing to $60 and back twice.</a:t>
            </a:r>
          </a:p>
        </p:txBody>
      </p:sp>
      <p:sp>
        <p:nvSpPr>
          <p:cNvPr id="9" name="TextBox 8"/>
          <p:cNvSpPr txBox="1"/>
          <p:nvPr/>
        </p:nvSpPr>
        <p:spPr>
          <a:xfrm>
            <a:off x="658368" y="2186025"/>
            <a:ext cx="10874959" cy="270052"/>
          </a:xfrm>
          <a:prstGeom prst="rect">
            <a:avLst/>
          </a:prstGeom>
          <a:noFill/>
        </p:spPr>
        <p:txBody>
          <a:bodyPr wrap="square" lIns="0" rIns="0" tIns="0" bIns="0">
            <a:spAutoFit/>
          </a:bodyPr>
          <a:lstStyle/>
          <a:p>
            <a:pPr marL="237744" indent="-237744"/>
            <a:r>
              <a:rPr sz="929">
                <a:solidFill>
                  <a:srgbClr val="1D5B8F"/>
                </a:solidFill>
                <a:latin typeface="Calibri"/>
              </a:rPr>
              <a:t>▪  </a:t>
            </a:r>
            <a:r>
              <a:rPr sz="929" b="0" i="0">
                <a:solidFill>
                  <a:srgbClr val="2A3345"/>
                </a:solidFill>
                <a:latin typeface="Calibri"/>
              </a:rPr>
              <a:t>A return-based scorecard calls these </a:t>
            </a:r>
            <a:r>
              <a:rPr sz="929" b="1" i="0">
                <a:solidFill>
                  <a:srgbClr val="14213D"/>
                </a:solidFill>
                <a:latin typeface="Calibri"/>
              </a:rPr>
              <a:t>identical</a:t>
            </a:r>
            <a:r>
              <a:rPr sz="929" b="0" i="0">
                <a:solidFill>
                  <a:srgbClr val="2A3345"/>
                </a:solidFill>
                <a:latin typeface="Calibri"/>
              </a:rPr>
              <a:t>: same start, same end, same profit.</a:t>
            </a:r>
          </a:p>
        </p:txBody>
      </p:sp>
      <p:sp>
        <p:nvSpPr>
          <p:cNvPr id="10" name="TextBox 9"/>
          <p:cNvSpPr txBox="1"/>
          <p:nvPr/>
        </p:nvSpPr>
        <p:spPr>
          <a:xfrm>
            <a:off x="658368" y="2456078"/>
            <a:ext cx="10874959" cy="270052"/>
          </a:xfrm>
          <a:prstGeom prst="rect">
            <a:avLst/>
          </a:prstGeom>
          <a:noFill/>
        </p:spPr>
        <p:txBody>
          <a:bodyPr wrap="square" lIns="0" rIns="0" tIns="0" bIns="0">
            <a:spAutoFit/>
          </a:bodyPr>
          <a:lstStyle/>
          <a:p>
            <a:pPr marL="237744" indent="-237744"/>
            <a:r>
              <a:rPr sz="929">
                <a:solidFill>
                  <a:srgbClr val="1D5B8F"/>
                </a:solidFill>
                <a:latin typeface="Calibri"/>
              </a:rPr>
              <a:t>▪  </a:t>
            </a:r>
            <a:r>
              <a:rPr sz="929" b="0" i="0">
                <a:solidFill>
                  <a:srgbClr val="2A3345"/>
                </a:solidFill>
                <a:latin typeface="Calibri"/>
              </a:rPr>
              <a:t>Nobody would call them the same. B could have forced you to sell at the worst moment, or your broker could have closed you out at the bottom.</a:t>
            </a:r>
          </a:p>
        </p:txBody>
      </p:sp>
      <p:sp>
        <p:nvSpPr>
          <p:cNvPr id="11" name="Rectangle 10"/>
          <p:cNvSpPr/>
          <p:nvPr/>
        </p:nvSpPr>
        <p:spPr>
          <a:xfrm>
            <a:off x="658368" y="2726131"/>
            <a:ext cx="10874959" cy="61650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726131"/>
            <a:ext cx="50292" cy="61650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817571"/>
            <a:ext cx="10463479" cy="433628"/>
          </a:xfrm>
          <a:prstGeom prst="rect">
            <a:avLst/>
          </a:prstGeom>
          <a:noFill/>
        </p:spPr>
        <p:txBody>
          <a:bodyPr wrap="square" lIns="0" rIns="0" tIns="0" bIns="0">
            <a:spAutoFit/>
          </a:bodyPr>
          <a:lstStyle/>
          <a:p>
            <a:r>
              <a:rPr sz="979" b="1" i="0">
                <a:solidFill>
                  <a:srgbClr val="14213D"/>
                </a:solidFill>
                <a:latin typeface="Calibri"/>
              </a:rPr>
              <a:t>Volatility is the number that tells these two apart.</a:t>
            </a:r>
            <a:r>
              <a:rPr sz="979" b="0" i="0">
                <a:solidFill>
                  <a:srgbClr val="14213D"/>
                </a:solidFill>
                <a:latin typeface="Calibri"/>
              </a:rPr>
              <a:t> In finance it </a:t>
            </a:r>
            <a:r>
              <a:rPr sz="979" b="0" i="1">
                <a:solidFill>
                  <a:srgbClr val="14213D"/>
                </a:solidFill>
                <a:latin typeface="Calibri"/>
              </a:rPr>
              <a:t>is</a:t>
            </a:r>
            <a:r>
              <a:rPr sz="979" b="0" i="0">
                <a:solidFill>
                  <a:srgbClr val="14213D"/>
                </a:solidFill>
                <a:latin typeface="Calibri"/>
              </a:rPr>
              <a:t> the working definition of risk.</a:t>
            </a:r>
          </a:p>
        </p:txBody>
      </p:sp>
      <p:pic>
        <p:nvPicPr>
          <p:cNvPr id="14" name="Picture 13" descr="S05_two_investments.png"/>
          <p:cNvPicPr>
            <a:picLocks noChangeAspect="1"/>
          </p:cNvPicPr>
          <p:nvPr/>
        </p:nvPicPr>
        <p:blipFill>
          <a:blip r:embed="rId3"/>
          <a:stretch>
            <a:fillRect/>
          </a:stretch>
        </p:blipFill>
        <p:spPr>
          <a:xfrm>
            <a:off x="1779218" y="3562096"/>
            <a:ext cx="8633258" cy="2783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Does Our Ruler Actually Measure the Right Thing?</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1 — What is Realized Volatility?</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6  ·  6/40</a:t>
            </a:r>
          </a:p>
        </p:txBody>
      </p:sp>
      <p:sp>
        <p:nvSpPr>
          <p:cNvPr id="7" name="TextBox 6"/>
          <p:cNvSpPr txBox="1"/>
          <p:nvPr/>
        </p:nvSpPr>
        <p:spPr>
          <a:xfrm>
            <a:off x="658368" y="1645920"/>
            <a:ext cx="5227167" cy="902208"/>
          </a:xfrm>
          <a:prstGeom prst="rect">
            <a:avLst/>
          </a:prstGeom>
          <a:noFill/>
        </p:spPr>
        <p:txBody>
          <a:bodyPr wrap="square" lIns="0" rIns="0" tIns="0" bIns="0">
            <a:spAutoFit/>
          </a:bodyPr>
          <a:lstStyle/>
          <a:p>
            <a:r>
              <a:rPr sz="1550" b="0" i="0">
                <a:solidFill>
                  <a:srgbClr val="2A3345"/>
                </a:solidFill>
                <a:latin typeface="Calibri"/>
              </a:rPr>
              <a:t>Before touching real data, test the </a:t>
            </a:r>
            <a:r>
              <a:rPr sz="1550" b="0" i="1">
                <a:solidFill>
                  <a:srgbClr val="2A3345"/>
                </a:solidFill>
                <a:latin typeface="Calibri"/>
              </a:rPr>
              <a:t>concept</a:t>
            </a:r>
            <a:r>
              <a:rPr sz="1550" b="0" i="0">
                <a:solidFill>
                  <a:srgbClr val="2A3345"/>
                </a:solidFill>
                <a:latin typeface="Calibri"/>
              </a:rPr>
              <a:t> against four deliberately extreme invented price paths. A good risk measure should react sensibly to all four.</a:t>
            </a:r>
          </a:p>
        </p:txBody>
      </p:sp>
      <p:graphicFrame>
        <p:nvGraphicFramePr>
          <p:cNvPr id="8" name="Table 7"/>
          <p:cNvGraphicFramePr>
            <a:graphicFrameLocks noGrp="1"/>
          </p:cNvGraphicFramePr>
          <p:nvPr/>
        </p:nvGraphicFramePr>
        <p:xfrm>
          <a:off x="658368" y="2548128"/>
          <a:ext cx="5227166" cy="1704213"/>
        </p:xfrm>
        <a:graphic>
          <a:graphicData uri="http://schemas.openxmlformats.org/drawingml/2006/table">
            <a:tbl>
              <a:tblPr firstRow="1">
                <a:tableStyleId>{5C22544A-7EE6-4342-B048-85BDC9FD1C3A}</a:tableStyleId>
              </a:tblPr>
              <a:tblGrid>
                <a:gridCol w="500706"/>
                <a:gridCol w="1607476"/>
                <a:gridCol w="3118984"/>
              </a:tblGrid>
              <a:tr h="340842">
                <a:tc>
                  <a:txBody>
                    <a:bodyPr wrap="square"/>
                    <a:lstStyle/>
                    <a:p>
                      <a:pPr algn="l"/>
                      <a:r>
                        <a:rPr sz="1150" b="1" i="0">
                          <a:solidFill>
                            <a:srgbClr val="FFFFFF"/>
                          </a:solidFill>
                          <a:latin typeface="Calibri"/>
                        </a:rPr>
                        <a:t>#</a:t>
                      </a:r>
                    </a:p>
                  </a:txBody>
                  <a:tcPr marL="64008" marR="64008" marT="32004" marB="32004" anchor="ctr">
                    <a:solidFill>
                      <a:srgbClr val="1D5B8F"/>
                    </a:solidFill>
                  </a:tcPr>
                </a:tc>
                <a:tc>
                  <a:txBody>
                    <a:bodyPr wrap="square"/>
                    <a:lstStyle/>
                    <a:p>
                      <a:pPr algn="l"/>
                      <a:r>
                        <a:rPr sz="1150" b="1" i="0">
                          <a:solidFill>
                            <a:srgbClr val="FFFFFF"/>
                          </a:solidFill>
                          <a:latin typeface="Calibri"/>
                        </a:rPr>
                        <a:t>Scenario</a:t>
                      </a:r>
                    </a:p>
                  </a:txBody>
                  <a:tcPr marL="64008" marR="64008" marT="32004" marB="32004" anchor="ctr">
                    <a:solidFill>
                      <a:srgbClr val="1D5B8F"/>
                    </a:solidFill>
                  </a:tcPr>
                </a:tc>
                <a:tc>
                  <a:txBody>
                    <a:bodyPr wrap="square"/>
                    <a:lstStyle/>
                    <a:p>
                      <a:pPr algn="l"/>
                      <a:r>
                        <a:rPr sz="1150" b="1" i="0">
                          <a:solidFill>
                            <a:srgbClr val="FFFFFF"/>
                          </a:solidFill>
                          <a:latin typeface="Calibri"/>
                        </a:rPr>
                        <a:t>What the price does</a:t>
                      </a:r>
                    </a:p>
                  </a:txBody>
                  <a:tcPr marL="64008" marR="64008" marT="32004" marB="32004" anchor="ctr">
                    <a:solidFill>
                      <a:srgbClr val="1D5B8F"/>
                    </a:solidFill>
                  </a:tcPr>
                </a:tc>
              </a:tr>
              <a:tr h="340842">
                <a:tc>
                  <a:txBody>
                    <a:bodyPr wrap="square"/>
                    <a:lstStyle/>
                    <a:p>
                      <a:pPr algn="l"/>
                      <a:r>
                        <a:rPr sz="1100" b="1" i="0">
                          <a:solidFill>
                            <a:srgbClr val="14213D"/>
                          </a:solidFill>
                          <a:latin typeface="Calibri"/>
                        </a:rPr>
                        <a:t>1</a:t>
                      </a:r>
                    </a:p>
                  </a:txBody>
                  <a:tcPr marL="64008" marR="64008" marT="32004" marB="32004" anchor="ctr">
                    <a:solidFill>
                      <a:srgbClr val="F4F7FA"/>
                    </a:solidFill>
                  </a:tcPr>
                </a:tc>
                <a:tc>
                  <a:txBody>
                    <a:bodyPr wrap="square"/>
                    <a:lstStyle/>
                    <a:p>
                      <a:pPr algn="l"/>
                      <a:r>
                        <a:rPr sz="1100" b="1" i="0">
                          <a:solidFill>
                            <a:srgbClr val="14213D"/>
                          </a:solidFill>
                          <a:latin typeface="Calibri"/>
                        </a:rPr>
                        <a:t>Steadily rising</a:t>
                      </a:r>
                    </a:p>
                  </a:txBody>
                  <a:tcPr marL="64008" marR="64008" marT="32004" marB="32004" anchor="ctr">
                    <a:solidFill>
                      <a:srgbClr val="F4F7FA"/>
                    </a:solidFill>
                  </a:tcPr>
                </a:tc>
                <a:tc>
                  <a:txBody>
                    <a:bodyPr wrap="square"/>
                    <a:lstStyle/>
                    <a:p>
                      <a:pPr algn="l"/>
                      <a:r>
                        <a:rPr sz="1100" b="0" i="0">
                          <a:solidFill>
                            <a:srgbClr val="2A3345"/>
                          </a:solidFill>
                          <a:latin typeface="Calibri"/>
                        </a:rPr>
                        <a:t>The same small +0.30% every single day</a:t>
                      </a:r>
                    </a:p>
                  </a:txBody>
                  <a:tcPr marL="64008" marR="64008" marT="32004" marB="32004" anchor="ctr">
                    <a:solidFill>
                      <a:srgbClr val="F4F7FA"/>
                    </a:solidFill>
                  </a:tcPr>
                </a:tc>
              </a:tr>
              <a:tr h="340842">
                <a:tc>
                  <a:txBody>
                    <a:bodyPr wrap="square"/>
                    <a:lstStyle/>
                    <a:p>
                      <a:pPr algn="l"/>
                      <a:r>
                        <a:rPr sz="1100" b="1" i="0">
                          <a:solidFill>
                            <a:srgbClr val="14213D"/>
                          </a:solidFill>
                          <a:latin typeface="Calibri"/>
                        </a:rPr>
                        <a:t>2</a:t>
                      </a:r>
                    </a:p>
                  </a:txBody>
                  <a:tcPr marL="64008" marR="64008" marT="32004" marB="32004" anchor="ctr">
                    <a:solidFill>
                      <a:srgbClr val="FFFFFF"/>
                    </a:solidFill>
                  </a:tcPr>
                </a:tc>
                <a:tc>
                  <a:txBody>
                    <a:bodyPr wrap="square"/>
                    <a:lstStyle/>
                    <a:p>
                      <a:pPr algn="l"/>
                      <a:r>
                        <a:rPr sz="1100" b="1" i="0">
                          <a:solidFill>
                            <a:srgbClr val="14213D"/>
                          </a:solidFill>
                          <a:latin typeface="Calibri"/>
                        </a:rPr>
                        <a:t>Oscillating +100 / −100</a:t>
                      </a:r>
                    </a:p>
                  </a:txBody>
                  <a:tcPr marL="64008" marR="64008" marT="32004" marB="32004" anchor="ctr">
                    <a:solidFill>
                      <a:srgbClr val="FFFFFF"/>
                    </a:solidFill>
                  </a:tcPr>
                </a:tc>
                <a:tc>
                  <a:txBody>
                    <a:bodyPr wrap="square"/>
                    <a:lstStyle/>
                    <a:p>
                      <a:pPr algn="l"/>
                      <a:r>
                        <a:rPr sz="1100" b="0" i="0">
                          <a:solidFill>
                            <a:srgbClr val="2A3345"/>
                          </a:solidFill>
                          <a:latin typeface="Calibri"/>
                        </a:rPr>
                        <a:t>Slams between the two extremes every step</a:t>
                      </a:r>
                    </a:p>
                  </a:txBody>
                  <a:tcPr marL="64008" marR="64008" marT="32004" marB="32004" anchor="ctr">
                    <a:solidFill>
                      <a:srgbClr val="FFFFFF"/>
                    </a:solidFill>
                  </a:tcPr>
                </a:tc>
              </a:tr>
              <a:tr h="340842">
                <a:tc>
                  <a:txBody>
                    <a:bodyPr wrap="square"/>
                    <a:lstStyle/>
                    <a:p>
                      <a:pPr algn="l"/>
                      <a:r>
                        <a:rPr sz="1100" b="1" i="0">
                          <a:solidFill>
                            <a:srgbClr val="14213D"/>
                          </a:solidFill>
                          <a:latin typeface="Calibri"/>
                        </a:rPr>
                        <a:t>3</a:t>
                      </a:r>
                    </a:p>
                  </a:txBody>
                  <a:tcPr marL="64008" marR="64008" marT="32004" marB="32004" anchor="ctr">
                    <a:solidFill>
                      <a:srgbClr val="F4F7FA"/>
                    </a:solidFill>
                  </a:tcPr>
                </a:tc>
                <a:tc>
                  <a:txBody>
                    <a:bodyPr wrap="square"/>
                    <a:lstStyle/>
                    <a:p>
                      <a:pPr algn="l"/>
                      <a:r>
                        <a:rPr sz="1100" b="1" i="0">
                          <a:solidFill>
                            <a:srgbClr val="14213D"/>
                          </a:solidFill>
                          <a:latin typeface="Calibri"/>
                        </a:rPr>
                        <a:t>Very volatile</a:t>
                      </a:r>
                    </a:p>
                  </a:txBody>
                  <a:tcPr marL="64008" marR="64008" marT="32004" marB="32004" anchor="ctr">
                    <a:solidFill>
                      <a:srgbClr val="F4F7FA"/>
                    </a:solidFill>
                  </a:tcPr>
                </a:tc>
                <a:tc>
                  <a:txBody>
                    <a:bodyPr wrap="square"/>
                    <a:lstStyle/>
                    <a:p>
                      <a:pPr algn="l"/>
                      <a:r>
                        <a:rPr sz="1100" b="0" i="0">
                          <a:solidFill>
                            <a:srgbClr val="2A3345"/>
                          </a:solidFill>
                          <a:latin typeface="Calibri"/>
                        </a:rPr>
                        <a:t>Big, erratic, patternless jumps</a:t>
                      </a:r>
                    </a:p>
                  </a:txBody>
                  <a:tcPr marL="64008" marR="64008" marT="32004" marB="32004" anchor="ctr">
                    <a:solidFill>
                      <a:srgbClr val="F4F7FA"/>
                    </a:solidFill>
                  </a:tcPr>
                </a:tc>
              </a:tr>
              <a:tr h="340845">
                <a:tc>
                  <a:txBody>
                    <a:bodyPr wrap="square"/>
                    <a:lstStyle/>
                    <a:p>
                      <a:pPr algn="l"/>
                      <a:r>
                        <a:rPr sz="1100" b="1" i="0">
                          <a:solidFill>
                            <a:srgbClr val="14213D"/>
                          </a:solidFill>
                          <a:latin typeface="Calibri"/>
                        </a:rPr>
                        <a:t>4</a:t>
                      </a:r>
                    </a:p>
                  </a:txBody>
                  <a:tcPr marL="64008" marR="64008" marT="32004" marB="32004" anchor="ctr">
                    <a:solidFill>
                      <a:srgbClr val="FFFFFF"/>
                    </a:solidFill>
                  </a:tcPr>
                </a:tc>
                <a:tc>
                  <a:txBody>
                    <a:bodyPr wrap="square"/>
                    <a:lstStyle/>
                    <a:p>
                      <a:pPr algn="l"/>
                      <a:r>
                        <a:rPr sz="1100" b="1" i="0">
                          <a:solidFill>
                            <a:srgbClr val="14213D"/>
                          </a:solidFill>
                          <a:latin typeface="Calibri"/>
                        </a:rPr>
                        <a:t>Flat / unchanged</a:t>
                      </a:r>
                    </a:p>
                  </a:txBody>
                  <a:tcPr marL="64008" marR="64008" marT="32004" marB="32004" anchor="ctr">
                    <a:solidFill>
                      <a:srgbClr val="FFFFFF"/>
                    </a:solidFill>
                  </a:tcPr>
                </a:tc>
                <a:tc>
                  <a:txBody>
                    <a:bodyPr wrap="square"/>
                    <a:lstStyle/>
                    <a:p>
                      <a:pPr algn="l"/>
                      <a:r>
                        <a:rPr sz="1100" b="0" i="0">
                          <a:solidFill>
                            <a:srgbClr val="2A3345"/>
                          </a:solidFill>
                          <a:latin typeface="Calibri"/>
                        </a:rPr>
                        <a:t>Nothing moves at all</a:t>
                      </a:r>
                    </a:p>
                  </a:txBody>
                  <a:tcPr marL="64008" marR="64008" marT="32004" marB="32004" anchor="ctr">
                    <a:solidFill>
                      <a:srgbClr val="FFFFFF"/>
                    </a:solidFill>
                  </a:tcPr>
                </a:tc>
              </a:tr>
            </a:tbl>
          </a:graphicData>
        </a:graphic>
      </p:graphicFrame>
      <p:pic>
        <p:nvPicPr>
          <p:cNvPr id="9" name="Picture 8" descr="S06_S07_four_scenarios.png"/>
          <p:cNvPicPr>
            <a:picLocks noChangeAspect="1"/>
          </p:cNvPicPr>
          <p:nvPr/>
        </p:nvPicPr>
        <p:blipFill>
          <a:blip r:embed="rId3"/>
          <a:stretch>
            <a:fillRect/>
          </a:stretch>
        </p:blipFill>
        <p:spPr>
          <a:xfrm>
            <a:off x="6390100" y="1645920"/>
            <a:ext cx="5059286" cy="46817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The Four Scenarios, Scored</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465308" y="566928"/>
            <a:ext cx="1068019" cy="274320"/>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65308" y="608076"/>
            <a:ext cx="1068019" cy="237744"/>
          </a:xfrm>
          <a:prstGeom prst="rect">
            <a:avLst/>
          </a:prstGeom>
          <a:noFill/>
        </p:spPr>
        <p:txBody>
          <a:bodyPr wrap="square" lIns="0" rIns="0" tIns="0" bIns="0">
            <a:spAutoFit/>
          </a:bodyPr>
          <a:lstStyle/>
          <a:p>
            <a:pPr algn="ctr"/>
            <a:r>
              <a:rPr sz="1050" b="1" i="0">
                <a:solidFill>
                  <a:srgbClr val="FFFFFF"/>
                </a:solidFill>
                <a:latin typeface="Calibri"/>
              </a:rPr>
              <a:t>KEY CONCEPT</a:t>
            </a:r>
          </a:p>
        </p:txBody>
      </p:sp>
      <p:sp>
        <p:nvSpPr>
          <p:cNvPr id="7" name="TextBox 6"/>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1 — What is Realized Volatility?</a:t>
            </a:r>
          </a:p>
        </p:txBody>
      </p:sp>
      <p:sp>
        <p:nvSpPr>
          <p:cNvPr id="8" name="TextBox 7"/>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7  ·  7/40</a:t>
            </a:r>
          </a:p>
        </p:txBody>
      </p:sp>
      <p:graphicFrame>
        <p:nvGraphicFramePr>
          <p:cNvPr id="9" name="Table 8"/>
          <p:cNvGraphicFramePr>
            <a:graphicFrameLocks noGrp="1"/>
          </p:cNvGraphicFramePr>
          <p:nvPr/>
        </p:nvGraphicFramePr>
        <p:xfrm>
          <a:off x="658368" y="1645920"/>
          <a:ext cx="5227166" cy="2416301"/>
        </p:xfrm>
        <a:graphic>
          <a:graphicData uri="http://schemas.openxmlformats.org/drawingml/2006/table">
            <a:tbl>
              <a:tblPr firstRow="1">
                <a:tableStyleId>{5C22544A-7EE6-4342-B048-85BDC9FD1C3A}</a:tableStyleId>
              </a:tblPr>
              <a:tblGrid>
                <a:gridCol w="1053421"/>
                <a:gridCol w="1262420"/>
                <a:gridCol w="2911325"/>
              </a:tblGrid>
              <a:tr h="483260">
                <a:tc>
                  <a:txBody>
                    <a:bodyPr wrap="square"/>
                    <a:lstStyle/>
                    <a:p>
                      <a:pPr algn="l"/>
                      <a:r>
                        <a:rPr sz="1150" b="1" i="0">
                          <a:solidFill>
                            <a:srgbClr val="FFFFFF"/>
                          </a:solidFill>
                          <a:latin typeface="Calibri"/>
                        </a:rPr>
                        <a:t>Scenario</a:t>
                      </a:r>
                    </a:p>
                  </a:txBody>
                  <a:tcPr marL="64008" marR="64008" marT="32004" marB="32004" anchor="ctr">
                    <a:solidFill>
                      <a:srgbClr val="1D5B8F"/>
                    </a:solidFill>
                  </a:tcPr>
                </a:tc>
                <a:tc>
                  <a:txBody>
                    <a:bodyPr wrap="square"/>
                    <a:lstStyle/>
                    <a:p>
                      <a:pPr algn="l"/>
                      <a:r>
                        <a:rPr sz="1150" b="1" i="0">
                          <a:solidFill>
                            <a:srgbClr val="FFFFFF"/>
                          </a:solidFill>
                          <a:latin typeface="Calibri"/>
                        </a:rPr>
                        <a:t>Realized Volatility</a:t>
                      </a:r>
                    </a:p>
                  </a:txBody>
                  <a:tcPr marL="64008" marR="64008" marT="32004" marB="32004" anchor="ctr">
                    <a:solidFill>
                      <a:srgbClr val="1D5B8F"/>
                    </a:solidFill>
                  </a:tcPr>
                </a:tc>
                <a:tc>
                  <a:txBody>
                    <a:bodyPr wrap="square"/>
                    <a:lstStyle/>
                    <a:p>
                      <a:pPr algn="l"/>
                      <a:r>
                        <a:rPr sz="1150" b="1" i="0">
                          <a:solidFill>
                            <a:srgbClr val="FFFFFF"/>
                          </a:solidFill>
                          <a:latin typeface="Calibri"/>
                        </a:rPr>
                        <a:t>Why</a:t>
                      </a:r>
                    </a:p>
                  </a:txBody>
                  <a:tcPr marL="64008" marR="64008" marT="32004" marB="32004" anchor="ctr">
                    <a:solidFill>
                      <a:srgbClr val="1D5B8F"/>
                    </a:solidFill>
                  </a:tcPr>
                </a:tc>
              </a:tr>
              <a:tr h="483260">
                <a:tc>
                  <a:txBody>
                    <a:bodyPr wrap="square"/>
                    <a:lstStyle/>
                    <a:p>
                      <a:pPr algn="l"/>
                      <a:r>
                        <a:rPr sz="1100" b="1" i="0">
                          <a:solidFill>
                            <a:srgbClr val="14213D"/>
                          </a:solidFill>
                          <a:latin typeface="Calibri"/>
                        </a:rPr>
                        <a:t>Steadily rising</a:t>
                      </a:r>
                    </a:p>
                  </a:txBody>
                  <a:tcPr marL="64008" marR="64008" marT="32004" marB="32004" anchor="ctr">
                    <a:solidFill>
                      <a:srgbClr val="F4F7FA"/>
                    </a:solidFill>
                  </a:tcPr>
                </a:tc>
                <a:tc>
                  <a:txBody>
                    <a:bodyPr wrap="square"/>
                    <a:lstStyle/>
                    <a:p>
                      <a:pPr algn="l"/>
                      <a:r>
                        <a:rPr sz="1100" b="1" i="0">
                          <a:solidFill>
                            <a:srgbClr val="14213D"/>
                          </a:solidFill>
                          <a:latin typeface="Calibri"/>
                        </a:rPr>
                        <a:t>Low, flat</a:t>
                      </a:r>
                    </a:p>
                  </a:txBody>
                  <a:tcPr marL="64008" marR="64008" marT="32004" marB="32004" anchor="ctr">
                    <a:solidFill>
                      <a:srgbClr val="F4F7FA"/>
                    </a:solidFill>
                  </a:tcPr>
                </a:tc>
                <a:tc>
                  <a:txBody>
                    <a:bodyPr wrap="square"/>
                    <a:lstStyle/>
                    <a:p>
                      <a:pPr algn="l"/>
                      <a:r>
                        <a:rPr sz="1100" b="0" i="0">
                          <a:solidFill>
                            <a:srgbClr val="2A3345"/>
                          </a:solidFill>
                          <a:latin typeface="Calibri"/>
                        </a:rPr>
                        <a:t>A smooth predictable climb is not risky, no matter how far it travels</a:t>
                      </a:r>
                    </a:p>
                  </a:txBody>
                  <a:tcPr marL="64008" marR="64008" marT="32004" marB="32004" anchor="ctr">
                    <a:solidFill>
                      <a:srgbClr val="F4F7FA"/>
                    </a:solidFill>
                  </a:tcPr>
                </a:tc>
              </a:tr>
              <a:tr h="483260">
                <a:tc>
                  <a:txBody>
                    <a:bodyPr wrap="square"/>
                    <a:lstStyle/>
                    <a:p>
                      <a:pPr algn="l"/>
                      <a:r>
                        <a:rPr sz="1100" b="1" i="0">
                          <a:solidFill>
                            <a:srgbClr val="14213D"/>
                          </a:solidFill>
                          <a:latin typeface="Calibri"/>
                        </a:rPr>
                        <a:t>Oscillating ±100</a:t>
                      </a:r>
                    </a:p>
                  </a:txBody>
                  <a:tcPr marL="64008" marR="64008" marT="32004" marB="32004" anchor="ctr">
                    <a:solidFill>
                      <a:srgbClr val="FFFFFF"/>
                    </a:solidFill>
                  </a:tcPr>
                </a:tc>
                <a:tc>
                  <a:txBody>
                    <a:bodyPr wrap="square"/>
                    <a:lstStyle/>
                    <a:p>
                      <a:pPr algn="l"/>
                      <a:r>
                        <a:rPr sz="1100" b="1" i="0">
                          <a:solidFill>
                            <a:srgbClr val="14213D"/>
                          </a:solidFill>
                          <a:latin typeface="Calibri"/>
                        </a:rPr>
                        <a:t>Enormous, pinned at a ceiling</a:t>
                      </a:r>
                    </a:p>
                  </a:txBody>
                  <a:tcPr marL="64008" marR="64008" marT="32004" marB="32004" anchor="ctr">
                    <a:solidFill>
                      <a:srgbClr val="FFFFFF"/>
                    </a:solidFill>
                  </a:tcPr>
                </a:tc>
                <a:tc>
                  <a:txBody>
                    <a:bodyPr wrap="square"/>
                    <a:lstStyle/>
                    <a:p>
                      <a:pPr algn="l"/>
                      <a:r>
                        <a:rPr sz="1100" b="0" i="0">
                          <a:solidFill>
                            <a:srgbClr val="2A3345"/>
                          </a:solidFill>
                          <a:latin typeface="Calibri"/>
                        </a:rPr>
                        <a:t>Maximum possible move, over and over</a:t>
                      </a:r>
                    </a:p>
                  </a:txBody>
                  <a:tcPr marL="64008" marR="64008" marT="32004" marB="32004" anchor="ctr">
                    <a:solidFill>
                      <a:srgbClr val="FFFFFF"/>
                    </a:solidFill>
                  </a:tcPr>
                </a:tc>
              </a:tr>
              <a:tr h="483260">
                <a:tc>
                  <a:txBody>
                    <a:bodyPr wrap="square"/>
                    <a:lstStyle/>
                    <a:p>
                      <a:pPr algn="l"/>
                      <a:r>
                        <a:rPr sz="1100" b="1" i="0">
                          <a:solidFill>
                            <a:srgbClr val="14213D"/>
                          </a:solidFill>
                          <a:latin typeface="Calibri"/>
                        </a:rPr>
                        <a:t>Very volatile</a:t>
                      </a:r>
                    </a:p>
                  </a:txBody>
                  <a:tcPr marL="64008" marR="64008" marT="32004" marB="32004" anchor="ctr">
                    <a:solidFill>
                      <a:srgbClr val="F4F7FA"/>
                    </a:solidFill>
                  </a:tcPr>
                </a:tc>
                <a:tc>
                  <a:txBody>
                    <a:bodyPr wrap="square"/>
                    <a:lstStyle/>
                    <a:p>
                      <a:pPr algn="l"/>
                      <a:r>
                        <a:rPr sz="1100" b="1" i="0">
                          <a:solidFill>
                            <a:srgbClr val="14213D"/>
                          </a:solidFill>
                          <a:latin typeface="Calibri"/>
                        </a:rPr>
                        <a:t>High and moving</a:t>
                      </a:r>
                    </a:p>
                  </a:txBody>
                  <a:tcPr marL="64008" marR="64008" marT="32004" marB="32004" anchor="ctr">
                    <a:solidFill>
                      <a:srgbClr val="F4F7FA"/>
                    </a:solidFill>
                  </a:tcPr>
                </a:tc>
                <a:tc>
                  <a:txBody>
                    <a:bodyPr wrap="square"/>
                    <a:lstStyle/>
                    <a:p>
                      <a:pPr algn="l"/>
                      <a:r>
                        <a:rPr sz="1100" b="0" i="0">
                          <a:solidFill>
                            <a:srgbClr val="2A3345"/>
                          </a:solidFill>
                          <a:latin typeface="Calibri"/>
                        </a:rPr>
                        <a:t>Unevenly sized jumps — closest to a real turbulent market</a:t>
                      </a:r>
                    </a:p>
                  </a:txBody>
                  <a:tcPr marL="64008" marR="64008" marT="32004" marB="32004" anchor="ctr">
                    <a:solidFill>
                      <a:srgbClr val="F4F7FA"/>
                    </a:solidFill>
                  </a:tcPr>
                </a:tc>
              </a:tr>
              <a:tr h="483261">
                <a:tc>
                  <a:txBody>
                    <a:bodyPr wrap="square"/>
                    <a:lstStyle/>
                    <a:p>
                      <a:pPr algn="l"/>
                      <a:r>
                        <a:rPr sz="1100" b="1" i="0">
                          <a:solidFill>
                            <a:srgbClr val="14213D"/>
                          </a:solidFill>
                          <a:latin typeface="Calibri"/>
                        </a:rPr>
                        <a:t>Flat / unchanged</a:t>
                      </a:r>
                    </a:p>
                  </a:txBody>
                  <a:tcPr marL="64008" marR="64008" marT="32004" marB="32004" anchor="ctr">
                    <a:solidFill>
                      <a:srgbClr val="FFFFFF"/>
                    </a:solidFill>
                  </a:tcPr>
                </a:tc>
                <a:tc>
                  <a:txBody>
                    <a:bodyPr wrap="square"/>
                    <a:lstStyle/>
                    <a:p>
                      <a:pPr algn="l"/>
                      <a:r>
                        <a:rPr sz="1100" b="1" i="0">
                          <a:solidFill>
                            <a:srgbClr val="14213D"/>
                          </a:solidFill>
                          <a:latin typeface="Calibri"/>
                        </a:rPr>
                        <a:t>Exactly zero</a:t>
                      </a:r>
                    </a:p>
                  </a:txBody>
                  <a:tcPr marL="64008" marR="64008" marT="32004" marB="32004" anchor="ctr">
                    <a:solidFill>
                      <a:srgbClr val="FFFFFF"/>
                    </a:solidFill>
                  </a:tcPr>
                </a:tc>
                <a:tc>
                  <a:txBody>
                    <a:bodyPr wrap="square"/>
                    <a:lstStyle/>
                    <a:p>
                      <a:pPr algn="l"/>
                      <a:r>
                        <a:rPr sz="1100" b="0" i="0">
                          <a:solidFill>
                            <a:srgbClr val="2A3345"/>
                          </a:solidFill>
                          <a:latin typeface="Calibri"/>
                        </a:rPr>
                        <a:t>No movement, correctly reported as no risk</a:t>
                      </a:r>
                    </a:p>
                  </a:txBody>
                  <a:tcPr marL="64008" marR="64008" marT="32004" marB="32004" anchor="ctr">
                    <a:solidFill>
                      <a:srgbClr val="FFFFFF"/>
                    </a:solidFill>
                  </a:tcPr>
                </a:tc>
              </a:tr>
            </a:tbl>
          </a:graphicData>
        </a:graphic>
      </p:graphicFrame>
      <p:sp>
        <p:nvSpPr>
          <p:cNvPr id="10" name="Rectangle 9"/>
          <p:cNvSpPr/>
          <p:nvPr/>
        </p:nvSpPr>
        <p:spPr>
          <a:xfrm>
            <a:off x="658368" y="4190237"/>
            <a:ext cx="5227167" cy="123748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4190237"/>
            <a:ext cx="50292" cy="123748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281677"/>
            <a:ext cx="4815687" cy="1054608"/>
          </a:xfrm>
          <a:prstGeom prst="rect">
            <a:avLst/>
          </a:prstGeom>
          <a:noFill/>
        </p:spPr>
        <p:txBody>
          <a:bodyPr wrap="square" lIns="0" rIns="0" tIns="0" bIns="0">
            <a:spAutoFit/>
          </a:bodyPr>
          <a:lstStyle/>
          <a:p>
            <a:r>
              <a:rPr sz="1600" b="1" i="0">
                <a:solidFill>
                  <a:srgbClr val="14213D"/>
                </a:solidFill>
                <a:latin typeface="Calibri"/>
              </a:rPr>
              <a:t>The takeaway:</a:t>
            </a:r>
            <a:r>
              <a:rPr sz="1600" b="0" i="0">
                <a:solidFill>
                  <a:srgbClr val="14213D"/>
                </a:solidFill>
                <a:latin typeface="Calibri"/>
              </a:rPr>
              <a:t> Realized Volatility depends </a:t>
            </a:r>
            <a:r>
              <a:rPr sz="1600" b="1" i="0">
                <a:solidFill>
                  <a:srgbClr val="14213D"/>
                </a:solidFill>
                <a:latin typeface="Calibri"/>
              </a:rPr>
              <a:t>only on the size of step-to-step changes</a:t>
            </a:r>
            <a:r>
              <a:rPr sz="1600" b="0" i="0">
                <a:solidFill>
                  <a:srgbClr val="14213D"/>
                </a:solidFill>
                <a:latin typeface="Calibri"/>
              </a:rPr>
              <a:t> — never on direction, never on the overall trend.</a:t>
            </a:r>
          </a:p>
        </p:txBody>
      </p:sp>
      <p:pic>
        <p:nvPicPr>
          <p:cNvPr id="13" name="Picture 12" descr="S06_S07_four_scenarios.png"/>
          <p:cNvPicPr>
            <a:picLocks noChangeAspect="1"/>
          </p:cNvPicPr>
          <p:nvPr/>
        </p:nvPicPr>
        <p:blipFill>
          <a:blip r:embed="rId3"/>
          <a:stretch>
            <a:fillRect/>
          </a:stretch>
        </p:blipFill>
        <p:spPr>
          <a:xfrm>
            <a:off x="6390100" y="1645920"/>
            <a:ext cx="5059286" cy="46817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Realized Volatility, From Scratch</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1 — What is Realized Volatility?</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8  ·  8/40</a:t>
            </a:r>
          </a:p>
        </p:txBody>
      </p:sp>
      <p:graphicFrame>
        <p:nvGraphicFramePr>
          <p:cNvPr id="7" name="Table 6"/>
          <p:cNvGraphicFramePr>
            <a:graphicFrameLocks noGrp="1"/>
          </p:cNvGraphicFramePr>
          <p:nvPr/>
        </p:nvGraphicFramePr>
        <p:xfrm>
          <a:off x="658368" y="1645920"/>
          <a:ext cx="5227166" cy="1661967"/>
        </p:xfrm>
        <a:graphic>
          <a:graphicData uri="http://schemas.openxmlformats.org/drawingml/2006/table">
            <a:tbl>
              <a:tblPr firstRow="1">
                <a:tableStyleId>{5C22544A-7EE6-4342-B048-85BDC9FD1C3A}</a:tableStyleId>
              </a:tblPr>
              <a:tblGrid>
                <a:gridCol w="498682"/>
                <a:gridCol w="1631920"/>
                <a:gridCol w="3096564"/>
              </a:tblGrid>
              <a:tr h="332393">
                <a:tc>
                  <a:txBody>
                    <a:bodyPr wrap="square"/>
                    <a:lstStyle/>
                    <a:p>
                      <a:pPr algn="l"/>
                      <a:r>
                        <a:rPr sz="1105" b="1" i="0">
                          <a:solidFill>
                            <a:srgbClr val="FFFFFF"/>
                          </a:solidFill>
                          <a:latin typeface="Calibri"/>
                        </a:rPr>
                        <a:t>Step</a:t>
                      </a:r>
                    </a:p>
                  </a:txBody>
                  <a:tcPr marL="64008" marR="64008" marT="32004" marB="32004" anchor="ctr">
                    <a:solidFill>
                      <a:srgbClr val="1D5B8F"/>
                    </a:solidFill>
                  </a:tcPr>
                </a:tc>
                <a:tc>
                  <a:txBody>
                    <a:bodyPr wrap="square"/>
                    <a:lstStyle/>
                    <a:p>
                      <a:pPr algn="l"/>
                      <a:r>
                        <a:rPr sz="1105" b="1" i="0">
                          <a:solidFill>
                            <a:srgbClr val="FFFFFF"/>
                          </a:solidFill>
                          <a:latin typeface="Calibri"/>
                        </a:rPr>
                        <a:t>What you do</a:t>
                      </a:r>
                    </a:p>
                  </a:txBody>
                  <a:tcPr marL="64008" marR="64008" marT="32004" marB="32004" anchor="ctr">
                    <a:solidFill>
                      <a:srgbClr val="1D5B8F"/>
                    </a:solidFill>
                  </a:tcPr>
                </a:tc>
                <a:tc>
                  <a:txBody>
                    <a:bodyPr wrap="square"/>
                    <a:lstStyle/>
                    <a:p>
                      <a:pPr algn="l"/>
                      <a:r>
                        <a:rPr sz="1105" b="1" i="0">
                          <a:solidFill>
                            <a:srgbClr val="FFFFFF"/>
                          </a:solidFill>
                          <a:latin typeface="Calibri"/>
                        </a:rPr>
                        <a:t>Why</a:t>
                      </a:r>
                    </a:p>
                  </a:txBody>
                  <a:tcPr marL="64008" marR="64008" marT="32004" marB="32004" anchor="ctr">
                    <a:solidFill>
                      <a:srgbClr val="1D5B8F"/>
                    </a:solidFill>
                  </a:tcPr>
                </a:tc>
              </a:tr>
              <a:tr h="332393">
                <a:tc>
                  <a:txBody>
                    <a:bodyPr wrap="square"/>
                    <a:lstStyle/>
                    <a:p>
                      <a:pPr algn="l"/>
                      <a:r>
                        <a:rPr sz="1055" b="1" i="0">
                          <a:solidFill>
                            <a:srgbClr val="14213D"/>
                          </a:solidFill>
                          <a:latin typeface="Calibri"/>
                        </a:rPr>
                        <a:t>1</a:t>
                      </a:r>
                    </a:p>
                  </a:txBody>
                  <a:tcPr marL="64008" marR="64008" marT="32004" marB="32004" anchor="ctr">
                    <a:solidFill>
                      <a:srgbClr val="F4F7FA"/>
                    </a:solidFill>
                  </a:tcPr>
                </a:tc>
                <a:tc>
                  <a:txBody>
                    <a:bodyPr wrap="square"/>
                    <a:lstStyle/>
                    <a:p>
                      <a:pPr algn="l"/>
                      <a:r>
                        <a:rPr sz="1055" b="0" i="0">
                          <a:solidFill>
                            <a:srgbClr val="2A3345"/>
                          </a:solidFill>
                          <a:latin typeface="Calibri"/>
                        </a:rPr>
                        <a:t>Take the last </a:t>
                      </a:r>
                      <a:r>
                        <a:rPr sz="1055" b="1" i="0">
                          <a:solidFill>
                            <a:srgbClr val="14213D"/>
                          </a:solidFill>
                          <a:latin typeface="Calibri"/>
                        </a:rPr>
                        <a:t>20</a:t>
                      </a:r>
                      <a:r>
                        <a:rPr sz="1055" b="0" i="0">
                          <a:solidFill>
                            <a:srgbClr val="2A3345"/>
                          </a:solidFill>
                          <a:latin typeface="Calibri"/>
                        </a:rPr>
                        <a:t> daily returns</a:t>
                      </a:r>
                    </a:p>
                  </a:txBody>
                  <a:tcPr marL="64008" marR="64008" marT="32004" marB="32004" anchor="ctr">
                    <a:solidFill>
                      <a:srgbClr val="F4F7FA"/>
                    </a:solidFill>
                  </a:tcPr>
                </a:tc>
                <a:tc>
                  <a:txBody>
                    <a:bodyPr wrap="square"/>
                    <a:lstStyle/>
                    <a:p>
                      <a:pPr algn="l"/>
                      <a:r>
                        <a:rPr sz="1055" b="0" i="0">
                          <a:solidFill>
                            <a:srgbClr val="2A3345"/>
                          </a:solidFill>
                          <a:latin typeface="Calibri"/>
                        </a:rPr>
                        <a:t>One trading month of recent history</a:t>
                      </a:r>
                    </a:p>
                  </a:txBody>
                  <a:tcPr marL="64008" marR="64008" marT="32004" marB="32004" anchor="ctr">
                    <a:solidFill>
                      <a:srgbClr val="F4F7FA"/>
                    </a:solidFill>
                  </a:tcPr>
                </a:tc>
              </a:tr>
              <a:tr h="332393">
                <a:tc>
                  <a:txBody>
                    <a:bodyPr wrap="square"/>
                    <a:lstStyle/>
                    <a:p>
                      <a:pPr algn="l"/>
                      <a:r>
                        <a:rPr sz="1055" b="1" i="0">
                          <a:solidFill>
                            <a:srgbClr val="14213D"/>
                          </a:solidFill>
                          <a:latin typeface="Calibri"/>
                        </a:rPr>
                        <a:t>2</a:t>
                      </a:r>
                    </a:p>
                  </a:txBody>
                  <a:tcPr marL="64008" marR="64008" marT="32004" marB="32004" anchor="ctr">
                    <a:solidFill>
                      <a:srgbClr val="FFFFFF"/>
                    </a:solidFill>
                  </a:tcPr>
                </a:tc>
                <a:tc>
                  <a:txBody>
                    <a:bodyPr wrap="square"/>
                    <a:lstStyle/>
                    <a:p>
                      <a:pPr algn="l"/>
                      <a:r>
                        <a:rPr sz="1055" b="1" i="0">
                          <a:solidFill>
                            <a:srgbClr val="14213D"/>
                          </a:solidFill>
                          <a:latin typeface="Calibri"/>
                        </a:rPr>
                        <a:t>Square</a:t>
                      </a:r>
                      <a:r>
                        <a:rPr sz="1055" b="0" i="0">
                          <a:solidFill>
                            <a:srgbClr val="14213D"/>
                          </a:solidFill>
                          <a:latin typeface="Calibri"/>
                        </a:rPr>
                        <a:t> each one</a:t>
                      </a:r>
                    </a:p>
                  </a:txBody>
                  <a:tcPr marL="64008" marR="64008" marT="32004" marB="32004" anchor="ctr">
                    <a:solidFill>
                      <a:srgbClr val="FFFFFF"/>
                    </a:solidFill>
                  </a:tcPr>
                </a:tc>
                <a:tc>
                  <a:txBody>
                    <a:bodyPr wrap="square"/>
                    <a:lstStyle/>
                    <a:p>
                      <a:pPr algn="l"/>
                      <a:r>
                        <a:rPr sz="1055" b="0" i="0">
                          <a:solidFill>
                            <a:srgbClr val="2A3345"/>
                          </a:solidFill>
                          <a:latin typeface="Calibri"/>
                        </a:rPr>
                        <a:t>Up and down both now count as "movement"</a:t>
                      </a:r>
                    </a:p>
                  </a:txBody>
                  <a:tcPr marL="64008" marR="64008" marT="32004" marB="32004" anchor="ctr">
                    <a:solidFill>
                      <a:srgbClr val="FFFFFF"/>
                    </a:solidFill>
                  </a:tcPr>
                </a:tc>
              </a:tr>
              <a:tr h="332393">
                <a:tc>
                  <a:txBody>
                    <a:bodyPr wrap="square"/>
                    <a:lstStyle/>
                    <a:p>
                      <a:pPr algn="l"/>
                      <a:r>
                        <a:rPr sz="1055" b="1" i="0">
                          <a:solidFill>
                            <a:srgbClr val="14213D"/>
                          </a:solidFill>
                          <a:latin typeface="Calibri"/>
                        </a:rPr>
                        <a:t>3</a:t>
                      </a:r>
                    </a:p>
                  </a:txBody>
                  <a:tcPr marL="64008" marR="64008" marT="32004" marB="32004" anchor="ctr">
                    <a:solidFill>
                      <a:srgbClr val="F4F7FA"/>
                    </a:solidFill>
                  </a:tcPr>
                </a:tc>
                <a:tc>
                  <a:txBody>
                    <a:bodyPr wrap="square"/>
                    <a:lstStyle/>
                    <a:p>
                      <a:pPr algn="l"/>
                      <a:r>
                        <a:rPr sz="1055" b="1" i="0">
                          <a:solidFill>
                            <a:srgbClr val="14213D"/>
                          </a:solidFill>
                          <a:latin typeface="Calibri"/>
                        </a:rPr>
                        <a:t>Average</a:t>
                      </a:r>
                      <a:r>
                        <a:rPr sz="1055" b="0" i="0">
                          <a:solidFill>
                            <a:srgbClr val="14213D"/>
                          </a:solidFill>
                          <a:latin typeface="Calibri"/>
                        </a:rPr>
                        <a:t> the squares</a:t>
                      </a:r>
                    </a:p>
                  </a:txBody>
                  <a:tcPr marL="64008" marR="64008" marT="32004" marB="32004" anchor="ctr">
                    <a:solidFill>
                      <a:srgbClr val="F4F7FA"/>
                    </a:solidFill>
                  </a:tcPr>
                </a:tc>
                <a:tc>
                  <a:txBody>
                    <a:bodyPr wrap="square"/>
                    <a:lstStyle/>
                    <a:p>
                      <a:pPr algn="l"/>
                      <a:r>
                        <a:rPr sz="1055" b="0" i="0">
                          <a:solidFill>
                            <a:srgbClr val="2A3345"/>
                          </a:solidFill>
                          <a:latin typeface="Calibri"/>
                        </a:rPr>
                        <a:t>One number for the typical squared move</a:t>
                      </a:r>
                    </a:p>
                  </a:txBody>
                  <a:tcPr marL="64008" marR="64008" marT="32004" marB="32004" anchor="ctr">
                    <a:solidFill>
                      <a:srgbClr val="F4F7FA"/>
                    </a:solidFill>
                  </a:tcPr>
                </a:tc>
              </a:tr>
              <a:tr h="332395">
                <a:tc>
                  <a:txBody>
                    <a:bodyPr wrap="square"/>
                    <a:lstStyle/>
                    <a:p>
                      <a:pPr algn="l"/>
                      <a:r>
                        <a:rPr sz="1055" b="1" i="0">
                          <a:solidFill>
                            <a:srgbClr val="14213D"/>
                          </a:solidFill>
                          <a:latin typeface="Calibri"/>
                        </a:rPr>
                        <a:t>4</a:t>
                      </a:r>
                    </a:p>
                  </a:txBody>
                  <a:tcPr marL="64008" marR="64008" marT="32004" marB="32004" anchor="ctr">
                    <a:solidFill>
                      <a:srgbClr val="FFFFFF"/>
                    </a:solidFill>
                  </a:tcPr>
                </a:tc>
                <a:tc>
                  <a:txBody>
                    <a:bodyPr wrap="square"/>
                    <a:lstStyle/>
                    <a:p>
                      <a:pPr algn="l"/>
                      <a:r>
                        <a:rPr sz="1055" b="0" i="0">
                          <a:solidFill>
                            <a:srgbClr val="2A3345"/>
                          </a:solidFill>
                          <a:latin typeface="Calibri"/>
                        </a:rPr>
                        <a:t>Take the </a:t>
                      </a:r>
                      <a:r>
                        <a:rPr sz="1055" b="1" i="0">
                          <a:solidFill>
                            <a:srgbClr val="14213D"/>
                          </a:solidFill>
                          <a:latin typeface="Calibri"/>
                        </a:rPr>
                        <a:t>square root</a:t>
                      </a:r>
                    </a:p>
                  </a:txBody>
                  <a:tcPr marL="64008" marR="64008" marT="32004" marB="32004" anchor="ctr">
                    <a:solidFill>
                      <a:srgbClr val="FFFFFF"/>
                    </a:solidFill>
                  </a:tcPr>
                </a:tc>
                <a:tc>
                  <a:txBody>
                    <a:bodyPr wrap="square"/>
                    <a:lstStyle/>
                    <a:p>
                      <a:pPr algn="l"/>
                      <a:r>
                        <a:rPr sz="1055" b="0" i="0">
                          <a:solidFill>
                            <a:srgbClr val="2A3345"/>
                          </a:solidFill>
                          <a:latin typeface="Calibri"/>
                        </a:rPr>
                        <a:t>Puts the answer back into readable "% per day"</a:t>
                      </a:r>
                    </a:p>
                  </a:txBody>
                  <a:tcPr marL="64008" marR="64008" marT="32004" marB="32004" anchor="ctr">
                    <a:solidFill>
                      <a:srgbClr val="FFFFFF"/>
                    </a:solidFill>
                  </a:tcPr>
                </a:tc>
              </a:tr>
            </a:tbl>
          </a:graphicData>
        </a:graphic>
      </p:graphicFrame>
      <p:pic>
        <p:nvPicPr>
          <p:cNvPr id="8" name="Picture 7" descr="s8_1.png"/>
          <p:cNvPicPr>
            <a:picLocks noChangeAspect="1"/>
          </p:cNvPicPr>
          <p:nvPr/>
        </p:nvPicPr>
        <p:blipFill>
          <a:blip r:embed="rId3"/>
          <a:stretch>
            <a:fillRect/>
          </a:stretch>
        </p:blipFill>
        <p:spPr>
          <a:xfrm>
            <a:off x="2132431" y="3435903"/>
            <a:ext cx="2279040" cy="635690"/>
          </a:xfrm>
          <a:prstGeom prst="rect">
            <a:avLst/>
          </a:prstGeom>
        </p:spPr>
      </p:pic>
      <p:sp>
        <p:nvSpPr>
          <p:cNvPr id="9" name="TextBox 8"/>
          <p:cNvSpPr txBox="1"/>
          <p:nvPr/>
        </p:nvSpPr>
        <p:spPr>
          <a:xfrm>
            <a:off x="658368" y="4236186"/>
            <a:ext cx="5227167" cy="388193"/>
          </a:xfrm>
          <a:prstGeom prst="rect">
            <a:avLst/>
          </a:prstGeom>
          <a:noFill/>
        </p:spPr>
        <p:txBody>
          <a:bodyPr wrap="square" lIns="0" rIns="0" tIns="0" bIns="0">
            <a:spAutoFit/>
          </a:bodyPr>
          <a:lstStyle/>
          <a:p>
            <a:r>
              <a:rPr sz="1488" b="1" i="0">
                <a:solidFill>
                  <a:srgbClr val="14213D"/>
                </a:solidFill>
                <a:latin typeface="Calibri"/>
              </a:rPr>
              <a:t>Two questions people always ask:</a:t>
            </a:r>
          </a:p>
        </p:txBody>
      </p:sp>
      <p:sp>
        <p:nvSpPr>
          <p:cNvPr id="10" name="TextBox 9"/>
          <p:cNvSpPr txBox="1"/>
          <p:nvPr/>
        </p:nvSpPr>
        <p:spPr>
          <a:xfrm>
            <a:off x="658368" y="4624379"/>
            <a:ext cx="5227167" cy="844539"/>
          </a:xfrm>
          <a:prstGeom prst="rect">
            <a:avLst/>
          </a:prstGeom>
          <a:noFill/>
        </p:spPr>
        <p:txBody>
          <a:bodyPr wrap="square" lIns="0" rIns="0" tIns="0" bIns="0">
            <a:spAutoFit/>
          </a:bodyPr>
          <a:lstStyle/>
          <a:p>
            <a:pPr marL="237744" indent="-237744"/>
            <a:r>
              <a:rPr sz="1488">
                <a:solidFill>
                  <a:srgbClr val="1D5B8F"/>
                </a:solidFill>
                <a:latin typeface="Calibri"/>
              </a:rPr>
              <a:t>▪  </a:t>
            </a:r>
            <a:r>
              <a:rPr sz="1488" b="0" i="1">
                <a:solidFill>
                  <a:srgbClr val="2A3345"/>
                </a:solidFill>
                <a:latin typeface="Calibri"/>
              </a:rPr>
              <a:t>Why square instead of just dropping the minus sign?</a:t>
            </a:r>
            <a:r>
              <a:rPr sz="1488" b="0" i="0">
                <a:solidFill>
                  <a:srgbClr val="2A3345"/>
                </a:solidFill>
                <a:latin typeface="Calibri"/>
              </a:rPr>
              <a:t> Because a −6% day is not merely twice as alarming as a −3% day. Squaring counts it </a:t>
            </a:r>
            <a:r>
              <a:rPr sz="1488" b="1" i="0">
                <a:solidFill>
                  <a:srgbClr val="14213D"/>
                </a:solidFill>
                <a:latin typeface="Calibri"/>
              </a:rPr>
              <a:t>four</a:t>
            </a:r>
            <a:r>
              <a:rPr sz="1488" b="0" i="0">
                <a:solidFill>
                  <a:srgbClr val="2A3345"/>
                </a:solidFill>
                <a:latin typeface="Calibri"/>
              </a:rPr>
              <a:t> times as much.</a:t>
            </a:r>
          </a:p>
        </p:txBody>
      </p:sp>
      <p:sp>
        <p:nvSpPr>
          <p:cNvPr id="11" name="TextBox 10"/>
          <p:cNvSpPr txBox="1"/>
          <p:nvPr/>
        </p:nvSpPr>
        <p:spPr>
          <a:xfrm>
            <a:off x="658368" y="5468919"/>
            <a:ext cx="5227167" cy="602650"/>
          </a:xfrm>
          <a:prstGeom prst="rect">
            <a:avLst/>
          </a:prstGeom>
          <a:noFill/>
        </p:spPr>
        <p:txBody>
          <a:bodyPr wrap="square" lIns="0" rIns="0" tIns="0" bIns="0">
            <a:spAutoFit/>
          </a:bodyPr>
          <a:lstStyle/>
          <a:p>
            <a:pPr marL="237744" indent="-237744"/>
            <a:r>
              <a:rPr sz="1488">
                <a:solidFill>
                  <a:srgbClr val="1D5B8F"/>
                </a:solidFill>
                <a:latin typeface="Calibri"/>
              </a:rPr>
              <a:t>▪  </a:t>
            </a:r>
            <a:r>
              <a:rPr sz="1488" b="0" i="1">
                <a:solidFill>
                  <a:srgbClr val="2A3345"/>
                </a:solidFill>
                <a:latin typeface="Calibri"/>
              </a:rPr>
              <a:t>Why the square root at the end?</a:t>
            </a:r>
            <a:r>
              <a:rPr sz="1488" b="0" i="0">
                <a:solidFill>
                  <a:srgbClr val="2A3345"/>
                </a:solidFill>
                <a:latin typeface="Calibri"/>
              </a:rPr>
              <a:t> Without it the number is in unreadable "percent squared" units.</a:t>
            </a:r>
          </a:p>
        </p:txBody>
      </p:sp>
      <p:pic>
        <p:nvPicPr>
          <p:cNvPr id="12" name="Picture 11" descr="S08_rolling_window.png"/>
          <p:cNvPicPr>
            <a:picLocks noChangeAspect="1"/>
          </p:cNvPicPr>
          <p:nvPr/>
        </p:nvPicPr>
        <p:blipFill>
          <a:blip r:embed="rId4"/>
          <a:stretch>
            <a:fillRect/>
          </a:stretch>
        </p:blipFill>
        <p:spPr>
          <a:xfrm>
            <a:off x="6306159" y="1645920"/>
            <a:ext cx="5227167" cy="332243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A 17× Difference Between the Calmest and Wildest Periods</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1 — What is Realized Volatility?</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9  ·  9/40</a:t>
            </a:r>
          </a:p>
        </p:txBody>
      </p:sp>
      <p:sp>
        <p:nvSpPr>
          <p:cNvPr id="7" name="TextBox 6"/>
          <p:cNvSpPr txBox="1"/>
          <p:nvPr/>
        </p:nvSpPr>
        <p:spPr>
          <a:xfrm>
            <a:off x="658368" y="1645920"/>
            <a:ext cx="5227167" cy="622808"/>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Applied to all ten country ETFs, every day, 2018–2024.</a:t>
            </a:r>
          </a:p>
        </p:txBody>
      </p:sp>
      <p:sp>
        <p:nvSpPr>
          <p:cNvPr id="8" name="TextBox 7"/>
          <p:cNvSpPr txBox="1"/>
          <p:nvPr/>
        </p:nvSpPr>
        <p:spPr>
          <a:xfrm>
            <a:off x="658368" y="2268728"/>
            <a:ext cx="5227167" cy="1126744"/>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Sanity check passes: </a:t>
            </a:r>
            <a:r>
              <a:rPr sz="1550" b="1" i="0">
                <a:solidFill>
                  <a:srgbClr val="14213D"/>
                </a:solidFill>
                <a:latin typeface="Calibri"/>
              </a:rPr>
              <a:t>emerging markets on top</a:t>
            </a:r>
            <a:r>
              <a:rPr sz="1550" b="0" i="0">
                <a:solidFill>
                  <a:srgbClr val="2A3345"/>
                </a:solidFill>
                <a:latin typeface="Calibri"/>
              </a:rPr>
              <a:t> (Brazil 2.06, South Africa 1.91, South Korea 1.51), </a:t>
            </a:r>
            <a:r>
              <a:rPr sz="1550" b="1" i="0">
                <a:solidFill>
                  <a:srgbClr val="14213D"/>
                </a:solidFill>
                <a:latin typeface="Calibri"/>
              </a:rPr>
              <a:t>developed markets at the bottom</a:t>
            </a:r>
            <a:r>
              <a:rPr sz="1550" b="0" i="0">
                <a:solidFill>
                  <a:srgbClr val="2A3345"/>
                </a:solidFill>
                <a:latin typeface="Calibri"/>
              </a:rPr>
              <a:t> (Japan 1.01, Canada 1.09, UK 1.09).</a:t>
            </a:r>
          </a:p>
        </p:txBody>
      </p:sp>
      <p:sp>
        <p:nvSpPr>
          <p:cNvPr id="9" name="TextBox 8"/>
          <p:cNvSpPr txBox="1"/>
          <p:nvPr/>
        </p:nvSpPr>
        <p:spPr>
          <a:xfrm>
            <a:off x="658368" y="3395472"/>
            <a:ext cx="5227167" cy="622808"/>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Every series is heavily right-skewed with fat tails (Brazil: skew 5.4, kurtosis 36).</a:t>
            </a:r>
          </a:p>
        </p:txBody>
      </p:sp>
      <p:sp>
        <p:nvSpPr>
          <p:cNvPr id="10" name="Rectangle 9"/>
          <p:cNvSpPr/>
          <p:nvPr/>
        </p:nvSpPr>
        <p:spPr>
          <a:xfrm>
            <a:off x="658368" y="4018280"/>
            <a:ext cx="5227167" cy="1497584"/>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4018280"/>
            <a:ext cx="50292" cy="1497584"/>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109720"/>
            <a:ext cx="4815687" cy="1314704"/>
          </a:xfrm>
          <a:prstGeom prst="rect">
            <a:avLst/>
          </a:prstGeom>
          <a:noFill/>
        </p:spPr>
        <p:txBody>
          <a:bodyPr wrap="square" lIns="0" rIns="0" tIns="0" bIns="0">
            <a:spAutoFit/>
          </a:bodyPr>
          <a:lstStyle/>
          <a:p>
            <a:r>
              <a:rPr sz="1600" b="0" i="0">
                <a:solidFill>
                  <a:srgbClr val="14213D"/>
                </a:solidFill>
                <a:latin typeface="Calibri"/>
              </a:rPr>
              <a:t>Risk is not a fixed property of a market. It moves, </a:t>
            </a:r>
            <a:r>
              <a:rPr sz="1600" b="1" i="0">
                <a:solidFill>
                  <a:srgbClr val="14213D"/>
                </a:solidFill>
                <a:latin typeface="Calibri"/>
              </a:rPr>
              <a:t>enormously</a:t>
            </a:r>
            <a:r>
              <a:rPr sz="1600" b="0" i="0">
                <a:solidFill>
                  <a:srgbClr val="14213D"/>
                </a:solidFill>
                <a:latin typeface="Calibri"/>
              </a:rPr>
              <a:t>, over time. Any system that treats it as a constant is catastrophically wrong roughly once a decade.</a:t>
            </a:r>
          </a:p>
        </p:txBody>
      </p:sp>
      <p:pic>
        <p:nvPicPr>
          <p:cNvPr id="13" name="Picture 12" descr="F1_sample_and_regimes.png"/>
          <p:cNvPicPr>
            <a:picLocks noChangeAspect="1"/>
          </p:cNvPicPr>
          <p:nvPr/>
        </p:nvPicPr>
        <p:blipFill>
          <a:blip r:embed="rId3"/>
          <a:stretch>
            <a:fillRect/>
          </a:stretch>
        </p:blipFill>
        <p:spPr>
          <a:xfrm>
            <a:off x="6306159" y="1645920"/>
            <a:ext cx="5227167" cy="267630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Direction Is Unpredictable. Size Is Not.</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1 — What is Realized Volatility?</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10  ·  10/40</a:t>
            </a:r>
          </a:p>
        </p:txBody>
      </p:sp>
      <p:sp>
        <p:nvSpPr>
          <p:cNvPr id="7" name="TextBox 6"/>
          <p:cNvSpPr txBox="1"/>
          <p:nvPr/>
        </p:nvSpPr>
        <p:spPr>
          <a:xfrm>
            <a:off x="658368" y="1645920"/>
            <a:ext cx="10874959" cy="275092"/>
          </a:xfrm>
          <a:prstGeom prst="rect">
            <a:avLst/>
          </a:prstGeom>
          <a:noFill/>
        </p:spPr>
        <p:txBody>
          <a:bodyPr wrap="square" lIns="0" rIns="0" tIns="0" bIns="0">
            <a:spAutoFit/>
          </a:bodyPr>
          <a:lstStyle/>
          <a:p>
            <a:pPr marL="237744" indent="-237744"/>
            <a:r>
              <a:rPr sz="960">
                <a:solidFill>
                  <a:srgbClr val="1D5B8F"/>
                </a:solidFill>
                <a:latin typeface="Calibri"/>
              </a:rPr>
              <a:t>▪  </a:t>
            </a:r>
            <a:r>
              <a:rPr sz="960" b="0" i="0">
                <a:solidFill>
                  <a:srgbClr val="2A3345"/>
                </a:solidFill>
                <a:latin typeface="Calibri"/>
              </a:rPr>
              <a:t>Yesterday's </a:t>
            </a:r>
            <a:r>
              <a:rPr sz="960" b="1" i="0">
                <a:solidFill>
                  <a:srgbClr val="14213D"/>
                </a:solidFill>
                <a:latin typeface="Calibri"/>
              </a:rPr>
              <a:t>direction</a:t>
            </a:r>
            <a:r>
              <a:rPr sz="960" b="0" i="0">
                <a:solidFill>
                  <a:srgbClr val="2A3345"/>
                </a:solidFill>
                <a:latin typeface="Calibri"/>
              </a:rPr>
              <a:t> → tells you essentially nothing about today's direction. </a:t>
            </a:r>
            <a:r>
              <a:rPr sz="960" b="0" i="1">
                <a:solidFill>
                  <a:srgbClr val="2A3345"/>
                </a:solidFill>
                <a:latin typeface="Calibri"/>
              </a:rPr>
              <a:t>(autocorrelation ≈ 0)</a:t>
            </a:r>
          </a:p>
        </p:txBody>
      </p:sp>
      <p:sp>
        <p:nvSpPr>
          <p:cNvPr id="8" name="TextBox 7"/>
          <p:cNvSpPr txBox="1"/>
          <p:nvPr/>
        </p:nvSpPr>
        <p:spPr>
          <a:xfrm>
            <a:off x="658368" y="1921012"/>
            <a:ext cx="10874959" cy="275092"/>
          </a:xfrm>
          <a:prstGeom prst="rect">
            <a:avLst/>
          </a:prstGeom>
          <a:noFill/>
        </p:spPr>
        <p:txBody>
          <a:bodyPr wrap="square" lIns="0" rIns="0" tIns="0" bIns="0">
            <a:spAutoFit/>
          </a:bodyPr>
          <a:lstStyle/>
          <a:p>
            <a:pPr marL="237744" indent="-237744"/>
            <a:r>
              <a:rPr sz="960">
                <a:solidFill>
                  <a:srgbClr val="1D5B8F"/>
                </a:solidFill>
                <a:latin typeface="Calibri"/>
              </a:rPr>
              <a:t>▪  </a:t>
            </a:r>
            <a:r>
              <a:rPr sz="960" b="0" i="0">
                <a:solidFill>
                  <a:srgbClr val="2A3345"/>
                </a:solidFill>
                <a:latin typeface="Calibri"/>
              </a:rPr>
              <a:t>Yesterday's </a:t>
            </a:r>
            <a:r>
              <a:rPr sz="960" b="1" i="0">
                <a:solidFill>
                  <a:srgbClr val="14213D"/>
                </a:solidFill>
                <a:latin typeface="Calibri"/>
              </a:rPr>
              <a:t>volatility</a:t>
            </a:r>
            <a:r>
              <a:rPr sz="960" b="0" i="0">
                <a:solidFill>
                  <a:srgbClr val="2A3345"/>
                </a:solidFill>
                <a:latin typeface="Calibri"/>
              </a:rPr>
              <a:t> → tells you a great deal about today's volatility. </a:t>
            </a:r>
            <a:r>
              <a:rPr sz="960" b="0" i="1">
                <a:solidFill>
                  <a:srgbClr val="2A3345"/>
                </a:solidFill>
                <a:latin typeface="Calibri"/>
              </a:rPr>
              <a:t>(autocorrelation ≈ 0.9, still positive two months out)</a:t>
            </a:r>
          </a:p>
        </p:txBody>
      </p:sp>
      <p:sp>
        <p:nvSpPr>
          <p:cNvPr id="9" name="Rectangle 8"/>
          <p:cNvSpPr/>
          <p:nvPr/>
        </p:nvSpPr>
        <p:spPr>
          <a:xfrm>
            <a:off x="658368" y="2196104"/>
            <a:ext cx="10874959" cy="62154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196104"/>
            <a:ext cx="50292" cy="6215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287544"/>
            <a:ext cx="10463479" cy="438668"/>
          </a:xfrm>
          <a:prstGeom prst="rect">
            <a:avLst/>
          </a:prstGeom>
          <a:noFill/>
        </p:spPr>
        <p:txBody>
          <a:bodyPr wrap="square" lIns="0" rIns="0" tIns="0" bIns="0">
            <a:spAutoFit/>
          </a:bodyPr>
          <a:lstStyle/>
          <a:p>
            <a:r>
              <a:rPr sz="1010" b="1" i="0">
                <a:solidFill>
                  <a:srgbClr val="14213D"/>
                </a:solidFill>
                <a:latin typeface="Calibri"/>
              </a:rPr>
              <a:t>Volatility clustering</a:t>
            </a:r>
            <a:r>
              <a:rPr sz="1010" b="0" i="0">
                <a:solidFill>
                  <a:srgbClr val="14213D"/>
                </a:solidFill>
                <a:latin typeface="Calibri"/>
              </a:rPr>
              <a:t> (Mandelbrot, 1963): </a:t>
            </a:r>
            <a:r>
              <a:rPr sz="1010" b="0" i="1">
                <a:solidFill>
                  <a:srgbClr val="14213D"/>
                </a:solidFill>
                <a:latin typeface="Calibri"/>
              </a:rPr>
              <a:t>"Large changes tend to be followed by large changes, of either sign, and small changes tend to be followed by small changes."</a:t>
            </a:r>
          </a:p>
        </p:txBody>
      </p:sp>
      <p:sp>
        <p:nvSpPr>
          <p:cNvPr id="12" name="TextBox 11"/>
          <p:cNvSpPr txBox="1"/>
          <p:nvPr/>
        </p:nvSpPr>
        <p:spPr>
          <a:xfrm>
            <a:off x="658368" y="2945668"/>
            <a:ext cx="10874959" cy="302524"/>
          </a:xfrm>
          <a:prstGeom prst="rect">
            <a:avLst/>
          </a:prstGeom>
          <a:noFill/>
        </p:spPr>
        <p:txBody>
          <a:bodyPr wrap="square" lIns="0" rIns="0" tIns="0" bIns="0">
            <a:spAutoFit/>
          </a:bodyPr>
          <a:lstStyle/>
          <a:p>
            <a:r>
              <a:rPr sz="960" b="0" i="0">
                <a:solidFill>
                  <a:srgbClr val="2A3345"/>
                </a:solidFill>
                <a:latin typeface="Calibri"/>
              </a:rPr>
              <a:t>Calm days cluster with calm days. Storms have a duration.</a:t>
            </a:r>
          </a:p>
        </p:txBody>
      </p:sp>
      <p:pic>
        <p:nvPicPr>
          <p:cNvPr id="13" name="Picture 12" descr="S10_direction_vs_size.png"/>
          <p:cNvPicPr>
            <a:picLocks noChangeAspect="1"/>
          </p:cNvPicPr>
          <p:nvPr/>
        </p:nvPicPr>
        <p:blipFill>
          <a:blip r:embed="rId3"/>
          <a:stretch>
            <a:fillRect/>
          </a:stretch>
        </p:blipFill>
        <p:spPr>
          <a:xfrm>
            <a:off x="2081287" y="3339632"/>
            <a:ext cx="8029119" cy="300630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What Exactly Am I Predicting?</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1 — What is Realized Volatility?</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11  ·  11/40</a:t>
            </a:r>
          </a:p>
        </p:txBody>
      </p:sp>
      <p:sp>
        <p:nvSpPr>
          <p:cNvPr id="7" name="Rectangle 6"/>
          <p:cNvSpPr/>
          <p:nvPr/>
        </p:nvSpPr>
        <p:spPr>
          <a:xfrm>
            <a:off x="658368" y="1645920"/>
            <a:ext cx="10874959" cy="92699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45920"/>
            <a:ext cx="50292" cy="92699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737360"/>
            <a:ext cx="10463479" cy="744118"/>
          </a:xfrm>
          <a:prstGeom prst="rect">
            <a:avLst/>
          </a:prstGeom>
          <a:noFill/>
        </p:spPr>
        <p:txBody>
          <a:bodyPr wrap="square" lIns="0" rIns="0" tIns="0" bIns="0">
            <a:spAutoFit/>
          </a:bodyPr>
          <a:lstStyle/>
          <a:p>
            <a:r>
              <a:rPr sz="1445" b="0" i="0">
                <a:solidFill>
                  <a:srgbClr val="14213D"/>
                </a:solidFill>
                <a:latin typeface="Calibri"/>
              </a:rPr>
              <a:t>Given everything known up to and including today (day </a:t>
            </a:r>
            <a:r>
              <a:rPr sz="1445" b="0" i="1">
                <a:solidFill>
                  <a:srgbClr val="14213D"/>
                </a:solidFill>
                <a:latin typeface="Calibri"/>
              </a:rPr>
              <a:t>t</a:t>
            </a:r>
            <a:r>
              <a:rPr sz="1445" b="0" i="0">
                <a:solidFill>
                  <a:srgbClr val="14213D"/>
                </a:solidFill>
                <a:latin typeface="Calibri"/>
              </a:rPr>
              <a:t>), predict </a:t>
            </a:r>
            <a:r>
              <a:rPr sz="1445" b="1" i="0">
                <a:solidFill>
                  <a:srgbClr val="14213D"/>
                </a:solidFill>
                <a:latin typeface="Calibri"/>
              </a:rPr>
              <a:t>RV for tomorrow (day </a:t>
            </a:r>
            <a:r>
              <a:rPr sz="1445" b="1" i="1">
                <a:solidFill>
                  <a:srgbClr val="14213D"/>
                </a:solidFill>
                <a:latin typeface="Calibri"/>
              </a:rPr>
              <a:t>t</a:t>
            </a:r>
            <a:r>
              <a:rPr sz="1445" b="1" i="0">
                <a:solidFill>
                  <a:srgbClr val="14213D"/>
                </a:solidFill>
                <a:latin typeface="Calibri"/>
              </a:rPr>
              <a:t>+1)</a:t>
            </a:r>
            <a:r>
              <a:rPr sz="1445" b="0" i="0">
                <a:solidFill>
                  <a:srgbClr val="14213D"/>
                </a:solidFill>
                <a:latin typeface="Calibri"/>
              </a:rPr>
              <a:t> — for each of the 10 country ETFs.</a:t>
            </a:r>
          </a:p>
        </p:txBody>
      </p:sp>
      <p:sp>
        <p:nvSpPr>
          <p:cNvPr id="10" name="TextBox 9"/>
          <p:cNvSpPr txBox="1"/>
          <p:nvPr/>
        </p:nvSpPr>
        <p:spPr>
          <a:xfrm>
            <a:off x="658368" y="2700934"/>
            <a:ext cx="10874959" cy="345643"/>
          </a:xfrm>
          <a:prstGeom prst="rect">
            <a:avLst/>
          </a:prstGeom>
          <a:noFill/>
        </p:spPr>
        <p:txBody>
          <a:bodyPr wrap="square" lIns="0" rIns="0" tIns="0" bIns="0">
            <a:spAutoFit/>
          </a:bodyPr>
          <a:lstStyle/>
          <a:p>
            <a:pPr marL="237744" indent="-237744"/>
            <a:r>
              <a:rPr sz="1395">
                <a:solidFill>
                  <a:srgbClr val="1D5B8F"/>
                </a:solidFill>
                <a:latin typeface="Calibri"/>
              </a:rPr>
              <a:t>▪  </a:t>
            </a:r>
            <a:r>
              <a:rPr sz="1395" b="1" i="0">
                <a:solidFill>
                  <a:srgbClr val="14213D"/>
                </a:solidFill>
                <a:latin typeface="Calibri"/>
              </a:rPr>
              <a:t>One number per country. One day ahead.</a:t>
            </a:r>
            <a:r>
              <a:rPr sz="1395" b="0" i="0">
                <a:solidFill>
                  <a:srgbClr val="2A3345"/>
                </a:solidFill>
                <a:latin typeface="Calibri"/>
              </a:rPr>
              <a:t> That is the whole task.</a:t>
            </a:r>
          </a:p>
        </p:txBody>
      </p:sp>
      <p:sp>
        <p:nvSpPr>
          <p:cNvPr id="11" name="TextBox 10"/>
          <p:cNvSpPr txBox="1"/>
          <p:nvPr/>
        </p:nvSpPr>
        <p:spPr>
          <a:xfrm>
            <a:off x="658368" y="3046577"/>
            <a:ext cx="10874959" cy="345643"/>
          </a:xfrm>
          <a:prstGeom prst="rect">
            <a:avLst/>
          </a:prstGeom>
          <a:noFill/>
        </p:spPr>
        <p:txBody>
          <a:bodyPr wrap="square" lIns="0" rIns="0" tIns="0" bIns="0">
            <a:spAutoFit/>
          </a:bodyPr>
          <a:lstStyle/>
          <a:p>
            <a:pPr marL="237744" indent="-237744"/>
            <a:r>
              <a:rPr sz="1395">
                <a:solidFill>
                  <a:srgbClr val="1D5B8F"/>
                </a:solidFill>
                <a:latin typeface="Calibri"/>
              </a:rPr>
              <a:t>▪  </a:t>
            </a:r>
            <a:r>
              <a:rPr sz="1395" b="0" i="0">
                <a:solidFill>
                  <a:srgbClr val="2A3345"/>
                </a:solidFill>
                <a:latin typeface="Calibri"/>
              </a:rPr>
              <a:t>10 country ETFs: Australia, Canada, Germany, Japan, Taiwan, UK, Mexico, South Korea, Brazil, South Africa.</a:t>
            </a:r>
          </a:p>
        </p:txBody>
      </p:sp>
      <p:pic>
        <p:nvPicPr>
          <p:cNvPr id="12" name="Picture 11" descr="S11_forecasting_task.png"/>
          <p:cNvPicPr>
            <a:picLocks noChangeAspect="1"/>
          </p:cNvPicPr>
          <p:nvPr/>
        </p:nvPicPr>
        <p:blipFill>
          <a:blip r:embed="rId3"/>
          <a:stretch>
            <a:fillRect/>
          </a:stretch>
        </p:blipFill>
        <p:spPr>
          <a:xfrm>
            <a:off x="2455998" y="3483660"/>
            <a:ext cx="7279697" cy="286227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When Wall Street Has a Bad Night, Tokyo Opens Lower</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1 — What is Realized Volatility?</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12  ·  12/40</a:t>
            </a:r>
          </a:p>
        </p:txBody>
      </p:sp>
      <p:sp>
        <p:nvSpPr>
          <p:cNvPr id="7" name="TextBox 6"/>
          <p:cNvSpPr txBox="1"/>
          <p:nvPr/>
        </p:nvSpPr>
        <p:spPr>
          <a:xfrm>
            <a:off x="658368" y="1645920"/>
            <a:ext cx="10874959" cy="315407"/>
          </a:xfrm>
          <a:prstGeom prst="rect">
            <a:avLst/>
          </a:prstGeom>
          <a:noFill/>
        </p:spPr>
        <p:txBody>
          <a:bodyPr wrap="square" lIns="0" rIns="0" tIns="0" bIns="0">
            <a:spAutoFit/>
          </a:bodyPr>
          <a:lstStyle/>
          <a:p>
            <a:pPr marL="237744" indent="-237744"/>
            <a:r>
              <a:rPr sz="1208">
                <a:solidFill>
                  <a:srgbClr val="1D5B8F"/>
                </a:solidFill>
                <a:latin typeface="Calibri"/>
              </a:rPr>
              <a:t>▪  </a:t>
            </a:r>
            <a:r>
              <a:rPr sz="1208" b="0" i="0">
                <a:solidFill>
                  <a:srgbClr val="2A3345"/>
                </a:solidFill>
                <a:latin typeface="Calibri"/>
              </a:rPr>
              <a:t>In March 2020, every market on earth moved together.</a:t>
            </a:r>
          </a:p>
        </p:txBody>
      </p:sp>
      <p:sp>
        <p:nvSpPr>
          <p:cNvPr id="8" name="TextBox 7"/>
          <p:cNvSpPr txBox="1"/>
          <p:nvPr/>
        </p:nvSpPr>
        <p:spPr>
          <a:xfrm>
            <a:off x="658368" y="1961327"/>
            <a:ext cx="10874959" cy="315407"/>
          </a:xfrm>
          <a:prstGeom prst="rect">
            <a:avLst/>
          </a:prstGeom>
          <a:noFill/>
        </p:spPr>
        <p:txBody>
          <a:bodyPr wrap="square" lIns="0" rIns="0" tIns="0" bIns="0">
            <a:spAutoFit/>
          </a:bodyPr>
          <a:lstStyle/>
          <a:p>
            <a:pPr marL="237744" indent="-237744"/>
            <a:r>
              <a:rPr sz="1208">
                <a:solidFill>
                  <a:srgbClr val="1D5B8F"/>
                </a:solidFill>
                <a:latin typeface="Calibri"/>
              </a:rPr>
              <a:t>▪  </a:t>
            </a:r>
            <a:r>
              <a:rPr sz="1208" b="1" i="0">
                <a:solidFill>
                  <a:srgbClr val="14213D"/>
                </a:solidFill>
                <a:latin typeface="Calibri"/>
              </a:rPr>
              <a:t>Correlation</a:t>
            </a:r>
            <a:r>
              <a:rPr sz="1208" b="0" i="0">
                <a:solidFill>
                  <a:srgbClr val="2A3345"/>
                </a:solidFill>
                <a:latin typeface="Calibri"/>
              </a:rPr>
              <a:t> tells us Germany and Brazil get nervous at the same time.</a:t>
            </a:r>
          </a:p>
        </p:txBody>
      </p:sp>
      <p:sp>
        <p:nvSpPr>
          <p:cNvPr id="9" name="TextBox 8"/>
          <p:cNvSpPr txBox="1"/>
          <p:nvPr/>
        </p:nvSpPr>
        <p:spPr>
          <a:xfrm>
            <a:off x="658368" y="2276734"/>
            <a:ext cx="10874959" cy="315407"/>
          </a:xfrm>
          <a:prstGeom prst="rect">
            <a:avLst/>
          </a:prstGeom>
          <a:noFill/>
        </p:spPr>
        <p:txBody>
          <a:bodyPr wrap="square" lIns="0" rIns="0" tIns="0" bIns="0">
            <a:spAutoFit/>
          </a:bodyPr>
          <a:lstStyle/>
          <a:p>
            <a:pPr marL="237744" indent="-237744"/>
            <a:r>
              <a:rPr sz="1208">
                <a:solidFill>
                  <a:srgbClr val="1D5B8F"/>
                </a:solidFill>
                <a:latin typeface="Calibri"/>
              </a:rPr>
              <a:t>▪  </a:t>
            </a:r>
            <a:r>
              <a:rPr sz="1208" b="0" i="0">
                <a:solidFill>
                  <a:srgbClr val="2A3345"/>
                </a:solidFill>
                <a:latin typeface="Calibri"/>
              </a:rPr>
              <a:t>Correlation </a:t>
            </a:r>
            <a:r>
              <a:rPr sz="1208" b="1" i="0">
                <a:solidFill>
                  <a:srgbClr val="14213D"/>
                </a:solidFill>
                <a:latin typeface="Calibri"/>
              </a:rPr>
              <a:t>cannot</a:t>
            </a:r>
            <a:r>
              <a:rPr sz="1208" b="0" i="0">
                <a:solidFill>
                  <a:srgbClr val="2A3345"/>
                </a:solidFill>
                <a:latin typeface="Calibri"/>
              </a:rPr>
              <a:t> tell us who goes first — it is symmetric by construction. Germany-with-Brazil is identical to Brazil-with-Germany.</a:t>
            </a:r>
          </a:p>
        </p:txBody>
      </p:sp>
      <p:sp>
        <p:nvSpPr>
          <p:cNvPr id="10" name="Rectangle 9"/>
          <p:cNvSpPr/>
          <p:nvPr/>
        </p:nvSpPr>
        <p:spPr>
          <a:xfrm>
            <a:off x="658368" y="2592141"/>
            <a:ext cx="10874959" cy="661863"/>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592141"/>
            <a:ext cx="50292" cy="661863"/>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683581"/>
            <a:ext cx="10463479" cy="478983"/>
          </a:xfrm>
          <a:prstGeom prst="rect">
            <a:avLst/>
          </a:prstGeom>
          <a:noFill/>
        </p:spPr>
        <p:txBody>
          <a:bodyPr wrap="square" lIns="0" rIns="0" tIns="0" bIns="0">
            <a:spAutoFit/>
          </a:bodyPr>
          <a:lstStyle/>
          <a:p>
            <a:r>
              <a:rPr sz="1258" b="0" i="0">
                <a:solidFill>
                  <a:srgbClr val="14213D"/>
                </a:solidFill>
                <a:latin typeface="Calibri"/>
              </a:rPr>
              <a:t>For forecasting, </a:t>
            </a:r>
            <a:r>
              <a:rPr sz="1258" b="1" i="0">
                <a:solidFill>
                  <a:srgbClr val="14213D"/>
                </a:solidFill>
                <a:latin typeface="Calibri"/>
              </a:rPr>
              <a:t>direction is everything.</a:t>
            </a:r>
            <a:r>
              <a:rPr sz="1258" b="0" i="0">
                <a:solidFill>
                  <a:srgbClr val="14213D"/>
                </a:solidFill>
                <a:latin typeface="Calibri"/>
              </a:rPr>
              <a:t> "Germany moves first, Brazil follows" is usable. "They wobble together" is not.</a:t>
            </a:r>
          </a:p>
        </p:txBody>
      </p:sp>
      <p:pic>
        <p:nvPicPr>
          <p:cNvPr id="13" name="Picture 12" descr="S12a_covid_all_countries.png"/>
          <p:cNvPicPr>
            <a:picLocks noChangeAspect="1"/>
          </p:cNvPicPr>
          <p:nvPr/>
        </p:nvPicPr>
        <p:blipFill>
          <a:blip r:embed="rId3"/>
          <a:stretch>
            <a:fillRect/>
          </a:stretch>
        </p:blipFill>
        <p:spPr>
          <a:xfrm>
            <a:off x="2445281" y="3473460"/>
            <a:ext cx="7301132" cy="287247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"Did Knowing About Germany Help Me Predict Brazil?"</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13  ·  13/40</a:t>
            </a:r>
          </a:p>
        </p:txBody>
      </p:sp>
      <p:sp>
        <p:nvSpPr>
          <p:cNvPr id="7" name="TextBox 6"/>
          <p:cNvSpPr txBox="1"/>
          <p:nvPr/>
        </p:nvSpPr>
        <p:spPr>
          <a:xfrm>
            <a:off x="658368" y="1645920"/>
            <a:ext cx="10874959" cy="297484"/>
          </a:xfrm>
          <a:prstGeom prst="rect">
            <a:avLst/>
          </a:prstGeom>
          <a:noFill/>
        </p:spPr>
        <p:txBody>
          <a:bodyPr wrap="square" lIns="0" rIns="0" tIns="0" bIns="0">
            <a:spAutoFit/>
          </a:bodyPr>
          <a:lstStyle/>
          <a:p>
            <a:r>
              <a:rPr sz="929" b="0" i="0">
                <a:solidFill>
                  <a:srgbClr val="2A3345"/>
                </a:solidFill>
                <a:latin typeface="Calibri"/>
              </a:rPr>
              <a:t>A three-step thought experiment:</a:t>
            </a:r>
          </a:p>
        </p:txBody>
      </p:sp>
      <p:sp>
        <p:nvSpPr>
          <p:cNvPr id="8" name="TextBox 7"/>
          <p:cNvSpPr txBox="1"/>
          <p:nvPr/>
        </p:nvSpPr>
        <p:spPr>
          <a:xfrm>
            <a:off x="658368" y="1943404"/>
            <a:ext cx="10874959" cy="270052"/>
          </a:xfrm>
          <a:prstGeom prst="rect">
            <a:avLst/>
          </a:prstGeom>
          <a:noFill/>
        </p:spPr>
        <p:txBody>
          <a:bodyPr wrap="square" lIns="0" rIns="0" tIns="0" bIns="0">
            <a:spAutoFit/>
          </a:bodyPr>
          <a:lstStyle/>
          <a:p>
            <a:pPr marL="274320" indent="-274320"/>
            <a:r>
              <a:rPr sz="929" b="0" i="0">
                <a:solidFill>
                  <a:srgbClr val="2A3345"/>
                </a:solidFill>
                <a:latin typeface="Calibri"/>
              </a:rPr>
              <a:t>1.  Guess tomorrow's Brazil using </a:t>
            </a:r>
            <a:r>
              <a:rPr sz="929" b="1" i="0">
                <a:solidFill>
                  <a:srgbClr val="14213D"/>
                </a:solidFill>
                <a:latin typeface="Calibri"/>
              </a:rPr>
              <a:t>only Brazil's own history</a:t>
            </a:r>
            <a:r>
              <a:rPr sz="929" b="0" i="0">
                <a:solidFill>
                  <a:srgbClr val="2A3345"/>
                </a:solidFill>
                <a:latin typeface="Calibri"/>
              </a:rPr>
              <a:t>. You'll be wrong by some amount → call it </a:t>
            </a:r>
            <a:r>
              <a:rPr sz="929" b="1" i="0">
                <a:solidFill>
                  <a:srgbClr val="14213D"/>
                </a:solidFill>
                <a:latin typeface="Calibri"/>
              </a:rPr>
              <a:t>Error A</a:t>
            </a:r>
            <a:r>
              <a:rPr sz="929" b="0" i="0">
                <a:solidFill>
                  <a:srgbClr val="2A3345"/>
                </a:solidFill>
                <a:latin typeface="Calibri"/>
              </a:rPr>
              <a:t>.</a:t>
            </a:r>
          </a:p>
        </p:txBody>
      </p:sp>
      <p:sp>
        <p:nvSpPr>
          <p:cNvPr id="9" name="TextBox 8"/>
          <p:cNvSpPr txBox="1"/>
          <p:nvPr/>
        </p:nvSpPr>
        <p:spPr>
          <a:xfrm>
            <a:off x="658368" y="2213457"/>
            <a:ext cx="10874959" cy="270052"/>
          </a:xfrm>
          <a:prstGeom prst="rect">
            <a:avLst/>
          </a:prstGeom>
          <a:noFill/>
        </p:spPr>
        <p:txBody>
          <a:bodyPr wrap="square" lIns="0" rIns="0" tIns="0" bIns="0">
            <a:spAutoFit/>
          </a:bodyPr>
          <a:lstStyle/>
          <a:p>
            <a:pPr marL="274320" indent="-274320"/>
            <a:r>
              <a:rPr sz="929" b="0" i="0">
                <a:solidFill>
                  <a:srgbClr val="2A3345"/>
                </a:solidFill>
                <a:latin typeface="Calibri"/>
              </a:rPr>
              <a:t>2.  Guess again using </a:t>
            </a:r>
            <a:r>
              <a:rPr sz="929" b="1" i="0">
                <a:solidFill>
                  <a:srgbClr val="14213D"/>
                </a:solidFill>
                <a:latin typeface="Calibri"/>
              </a:rPr>
              <a:t>Brazil's history </a:t>
            </a:r>
            <a:r>
              <a:rPr sz="929" b="1" i="1">
                <a:solidFill>
                  <a:srgbClr val="14213D"/>
                </a:solidFill>
                <a:latin typeface="Calibri"/>
              </a:rPr>
              <a:t>and</a:t>
            </a:r>
            <a:r>
              <a:rPr sz="929" b="1" i="0">
                <a:solidFill>
                  <a:srgbClr val="14213D"/>
                </a:solidFill>
                <a:latin typeface="Calibri"/>
              </a:rPr>
              <a:t> Germany's history</a:t>
            </a:r>
            <a:r>
              <a:rPr sz="929" b="0" i="0">
                <a:solidFill>
                  <a:srgbClr val="2A3345"/>
                </a:solidFill>
                <a:latin typeface="Calibri"/>
              </a:rPr>
              <a:t> → </a:t>
            </a:r>
            <a:r>
              <a:rPr sz="929" b="1" i="0">
                <a:solidFill>
                  <a:srgbClr val="14213D"/>
                </a:solidFill>
                <a:latin typeface="Calibri"/>
              </a:rPr>
              <a:t>Error B</a:t>
            </a:r>
            <a:r>
              <a:rPr sz="929" b="0" i="0">
                <a:solidFill>
                  <a:srgbClr val="2A3345"/>
                </a:solidFill>
                <a:latin typeface="Calibri"/>
              </a:rPr>
              <a:t>.</a:t>
            </a:r>
          </a:p>
        </p:txBody>
      </p:sp>
      <p:sp>
        <p:nvSpPr>
          <p:cNvPr id="10" name="TextBox 9"/>
          <p:cNvSpPr txBox="1"/>
          <p:nvPr/>
        </p:nvSpPr>
        <p:spPr>
          <a:xfrm>
            <a:off x="658368" y="2483510"/>
            <a:ext cx="10874959" cy="270052"/>
          </a:xfrm>
          <a:prstGeom prst="rect">
            <a:avLst/>
          </a:prstGeom>
          <a:noFill/>
        </p:spPr>
        <p:txBody>
          <a:bodyPr wrap="square" lIns="0" rIns="0" tIns="0" bIns="0">
            <a:spAutoFit/>
          </a:bodyPr>
          <a:lstStyle/>
          <a:p>
            <a:pPr marL="274320" indent="-274320"/>
            <a:r>
              <a:rPr sz="929" b="0" i="0">
                <a:solidFill>
                  <a:srgbClr val="2A3345"/>
                </a:solidFill>
                <a:latin typeface="Calibri"/>
              </a:rPr>
              <a:t>3.  If Error B &lt; Error A, Germany's past contained genuinely useful information about Brazil's future that was </a:t>
            </a:r>
            <a:r>
              <a:rPr sz="929" b="0" i="1">
                <a:solidFill>
                  <a:srgbClr val="2A3345"/>
                </a:solidFill>
                <a:latin typeface="Calibri"/>
              </a:rPr>
              <a:t>not already</a:t>
            </a:r>
            <a:r>
              <a:rPr sz="929" b="0" i="0">
                <a:solidFill>
                  <a:srgbClr val="2A3345"/>
                </a:solidFill>
                <a:latin typeface="Calibri"/>
              </a:rPr>
              <a:t> in Brazil's own past.</a:t>
            </a:r>
          </a:p>
        </p:txBody>
      </p:sp>
      <p:sp>
        <p:nvSpPr>
          <p:cNvPr id="11" name="Rectangle 10"/>
          <p:cNvSpPr/>
          <p:nvPr/>
        </p:nvSpPr>
        <p:spPr>
          <a:xfrm>
            <a:off x="658368" y="2753563"/>
            <a:ext cx="10874959" cy="61650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753563"/>
            <a:ext cx="50292" cy="61650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845003"/>
            <a:ext cx="10463479" cy="433628"/>
          </a:xfrm>
          <a:prstGeom prst="rect">
            <a:avLst/>
          </a:prstGeom>
          <a:noFill/>
        </p:spPr>
        <p:txBody>
          <a:bodyPr wrap="square" lIns="0" rIns="0" tIns="0" bIns="0">
            <a:spAutoFit/>
          </a:bodyPr>
          <a:lstStyle/>
          <a:p>
            <a:r>
              <a:rPr sz="979" b="1" i="0">
                <a:solidFill>
                  <a:srgbClr val="14213D"/>
                </a:solidFill>
                <a:latin typeface="Calibri"/>
              </a:rPr>
              <a:t>Transfer entropy is the size of that improvement.</a:t>
            </a:r>
            <a:r>
              <a:rPr sz="979" b="0" i="0">
                <a:solidFill>
                  <a:srgbClr val="14213D"/>
                </a:solidFill>
                <a:latin typeface="Calibri"/>
              </a:rPr>
              <a:t> That's it.</a:t>
            </a:r>
          </a:p>
        </p:txBody>
      </p:sp>
      <p:graphicFrame>
        <p:nvGraphicFramePr>
          <p:cNvPr id="14" name="Table 13"/>
          <p:cNvGraphicFramePr>
            <a:graphicFrameLocks noGrp="1"/>
          </p:cNvGraphicFramePr>
          <p:nvPr/>
        </p:nvGraphicFramePr>
        <p:xfrm>
          <a:off x="658368" y="3498088"/>
          <a:ext cx="10874958" cy="960805"/>
        </p:xfrm>
        <a:graphic>
          <a:graphicData uri="http://schemas.openxmlformats.org/drawingml/2006/table">
            <a:tbl>
              <a:tblPr firstRow="1">
                <a:tableStyleId>{5C22544A-7EE6-4342-B048-85BDC9FD1C3A}</a:tableStyleId>
              </a:tblPr>
              <a:tblGrid>
                <a:gridCol w="2784591"/>
                <a:gridCol w="8090367"/>
              </a:tblGrid>
              <a:tr h="240201">
                <a:tc>
                  <a:txBody>
                    <a:bodyPr wrap="square"/>
                    <a:lstStyle/>
                    <a:p>
                      <a:pPr algn="l"/>
                      <a:r>
                        <a:rPr sz="710" b="1" i="0">
                          <a:solidFill>
                            <a:srgbClr val="FFFFFF"/>
                          </a:solidFill>
                          <a:latin typeface="Calibri"/>
                        </a:rPr>
                        <a:t>Property</a:t>
                      </a:r>
                    </a:p>
                  </a:txBody>
                  <a:tcPr marL="64008" marR="64008" marT="32004" marB="32004" anchor="ctr">
                    <a:solidFill>
                      <a:srgbClr val="1D5B8F"/>
                    </a:solidFill>
                  </a:tcPr>
                </a:tc>
                <a:tc>
                  <a:txBody>
                    <a:bodyPr wrap="square"/>
                    <a:lstStyle/>
                    <a:p>
                      <a:pPr algn="l"/>
                      <a:r>
                        <a:rPr sz="710" b="1" i="0">
                          <a:solidFill>
                            <a:srgbClr val="FFFFFF"/>
                          </a:solidFill>
                          <a:latin typeface="Calibri"/>
                        </a:rPr>
                        <a:t>Why it matters here</a:t>
                      </a:r>
                    </a:p>
                  </a:txBody>
                  <a:tcPr marL="64008" marR="64008" marT="32004" marB="32004" anchor="ctr">
                    <a:solidFill>
                      <a:srgbClr val="1D5B8F"/>
                    </a:solidFill>
                  </a:tcPr>
                </a:tc>
              </a:tr>
              <a:tr h="240201">
                <a:tc>
                  <a:txBody>
                    <a:bodyPr wrap="square"/>
                    <a:lstStyle/>
                    <a:p>
                      <a:pPr algn="l"/>
                      <a:r>
                        <a:rPr sz="660" b="1" i="0">
                          <a:solidFill>
                            <a:srgbClr val="14213D"/>
                          </a:solidFill>
                          <a:latin typeface="Calibri"/>
                        </a:rPr>
                        <a:t>Directional</a:t>
                      </a:r>
                    </a:p>
                  </a:txBody>
                  <a:tcPr marL="64008" marR="64008" marT="32004" marB="32004" anchor="ctr">
                    <a:solidFill>
                      <a:srgbClr val="F4F7FA"/>
                    </a:solidFill>
                  </a:tcPr>
                </a:tc>
                <a:tc>
                  <a:txBody>
                    <a:bodyPr wrap="square"/>
                    <a:lstStyle/>
                    <a:p>
                      <a:pPr algn="l"/>
                      <a:r>
                        <a:rPr sz="660" b="0" i="0">
                          <a:solidFill>
                            <a:srgbClr val="2A3345"/>
                          </a:solidFill>
                          <a:latin typeface="Calibri"/>
                        </a:rPr>
                        <a:t>Germany→Brazil and Brazil→Germany are separate numbers. Correlation can't do this.</a:t>
                      </a:r>
                    </a:p>
                  </a:txBody>
                  <a:tcPr marL="64008" marR="64008" marT="32004" marB="32004" anchor="ctr">
                    <a:solidFill>
                      <a:srgbClr val="F4F7FA"/>
                    </a:solidFill>
                  </a:tcPr>
                </a:tc>
              </a:tr>
              <a:tr h="240201">
                <a:tc>
                  <a:txBody>
                    <a:bodyPr wrap="square"/>
                    <a:lstStyle/>
                    <a:p>
                      <a:pPr algn="l"/>
                      <a:r>
                        <a:rPr sz="660" b="0" i="0">
                          <a:solidFill>
                            <a:srgbClr val="14213D"/>
                          </a:solidFill>
                          <a:latin typeface="Calibri"/>
                        </a:rPr>
                        <a:t>Catches </a:t>
                      </a:r>
                      <a:r>
                        <a:rPr sz="660" b="1" i="0">
                          <a:solidFill>
                            <a:srgbClr val="14213D"/>
                          </a:solidFill>
                          <a:latin typeface="Calibri"/>
                        </a:rPr>
                        <a:t>non-straight-line</a:t>
                      </a:r>
                      <a:r>
                        <a:rPr sz="660" b="0" i="0">
                          <a:solidFill>
                            <a:srgbClr val="14213D"/>
                          </a:solidFill>
                          <a:latin typeface="Calibri"/>
                        </a:rPr>
                        <a:t> relationships</a:t>
                      </a:r>
                    </a:p>
                  </a:txBody>
                  <a:tcPr marL="64008" marR="64008" marT="32004" marB="32004" anchor="ctr">
                    <a:solidFill>
                      <a:srgbClr val="FFFFFF"/>
                    </a:solidFill>
                  </a:tcPr>
                </a:tc>
                <a:tc>
                  <a:txBody>
                    <a:bodyPr wrap="square"/>
                    <a:lstStyle/>
                    <a:p>
                      <a:pPr algn="l"/>
                      <a:r>
                        <a:rPr sz="660" b="0" i="0">
                          <a:solidFill>
                            <a:srgbClr val="2A3345"/>
                          </a:solidFill>
                          <a:latin typeface="Calibri"/>
                        </a:rPr>
                        <a:t>Correlation only sees straight lines. Crises are not straight lines.</a:t>
                      </a:r>
                    </a:p>
                  </a:txBody>
                  <a:tcPr marL="64008" marR="64008" marT="32004" marB="32004" anchor="ctr">
                    <a:solidFill>
                      <a:srgbClr val="FFFFFF"/>
                    </a:solidFill>
                  </a:tcPr>
                </a:tc>
              </a:tr>
              <a:tr h="240202">
                <a:tc>
                  <a:txBody>
                    <a:bodyPr wrap="square"/>
                    <a:lstStyle/>
                    <a:p>
                      <a:pPr algn="l"/>
                      <a:r>
                        <a:rPr sz="660" b="0" i="0">
                          <a:solidFill>
                            <a:srgbClr val="14213D"/>
                          </a:solidFill>
                          <a:latin typeface="Calibri"/>
                        </a:rPr>
                        <a:t>Measures </a:t>
                      </a:r>
                      <a:r>
                        <a:rPr sz="660" b="1" i="0">
                          <a:solidFill>
                            <a:srgbClr val="14213D"/>
                          </a:solidFill>
                          <a:latin typeface="Calibri"/>
                        </a:rPr>
                        <a:t>new</a:t>
                      </a:r>
                      <a:r>
                        <a:rPr sz="660" b="0" i="0">
                          <a:solidFill>
                            <a:srgbClr val="14213D"/>
                          </a:solidFill>
                          <a:latin typeface="Calibri"/>
                        </a:rPr>
                        <a:t> information</a:t>
                      </a:r>
                    </a:p>
                  </a:txBody>
                  <a:tcPr marL="64008" marR="64008" marT="32004" marB="32004" anchor="ctr">
                    <a:solidFill>
                      <a:srgbClr val="F4F7FA"/>
                    </a:solidFill>
                  </a:tcPr>
                </a:tc>
                <a:tc>
                  <a:txBody>
                    <a:bodyPr wrap="square"/>
                    <a:lstStyle/>
                    <a:p>
                      <a:pPr algn="l"/>
                      <a:r>
                        <a:rPr sz="660" b="0" i="0">
                          <a:solidFill>
                            <a:srgbClr val="2A3345"/>
                          </a:solidFill>
                          <a:latin typeface="Calibri"/>
                        </a:rPr>
                        <a:t>Automatically ignores whatever Brazil's own past already told us.</a:t>
                      </a:r>
                    </a:p>
                  </a:txBody>
                  <a:tcPr marL="64008" marR="64008" marT="32004" marB="32004" anchor="ctr">
                    <a:solidFill>
                      <a:srgbClr val="F4F7FA"/>
                    </a:solidFill>
                  </a:tcPr>
                </a:tc>
              </a:tr>
            </a:tbl>
          </a:graphicData>
        </a:graphic>
      </p:graphicFrame>
      <p:pic>
        <p:nvPicPr>
          <p:cNvPr id="15" name="Picture 14" descr="S13_transfer_entropy_idea.png"/>
          <p:cNvPicPr>
            <a:picLocks noChangeAspect="1"/>
          </p:cNvPicPr>
          <p:nvPr/>
        </p:nvPicPr>
        <p:blipFill>
          <a:blip r:embed="rId3"/>
          <a:stretch>
            <a:fillRect/>
          </a:stretch>
        </p:blipFill>
        <p:spPr>
          <a:xfrm>
            <a:off x="4068256" y="4678349"/>
            <a:ext cx="4055181" cy="166758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90 Pairs Become a Map</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14  ·  14/40</a:t>
            </a:r>
          </a:p>
        </p:txBody>
      </p:sp>
      <p:sp>
        <p:nvSpPr>
          <p:cNvPr id="7" name="TextBox 6"/>
          <p:cNvSpPr txBox="1"/>
          <p:nvPr/>
        </p:nvSpPr>
        <p:spPr>
          <a:xfrm>
            <a:off x="658368" y="1645920"/>
            <a:ext cx="10874959" cy="270052"/>
          </a:xfrm>
          <a:prstGeom prst="rect">
            <a:avLst/>
          </a:prstGeom>
          <a:noFill/>
        </p:spPr>
        <p:txBody>
          <a:bodyPr wrap="square" lIns="0" rIns="0" tIns="0" bIns="0">
            <a:spAutoFit/>
          </a:bodyPr>
          <a:lstStyle/>
          <a:p>
            <a:pPr marL="237744" indent="-237744"/>
            <a:r>
              <a:rPr sz="929">
                <a:solidFill>
                  <a:srgbClr val="1D5B8F"/>
                </a:solidFill>
                <a:latin typeface="Calibri"/>
              </a:rPr>
              <a:t>▪  </a:t>
            </a:r>
            <a:r>
              <a:rPr sz="929" b="0" i="0">
                <a:solidFill>
                  <a:srgbClr val="2A3345"/>
                </a:solidFill>
                <a:latin typeface="Calibri"/>
              </a:rPr>
              <a:t>Compute that number for </a:t>
            </a:r>
            <a:r>
              <a:rPr sz="929" b="1" i="0">
                <a:solidFill>
                  <a:srgbClr val="14213D"/>
                </a:solidFill>
                <a:latin typeface="Calibri"/>
              </a:rPr>
              <a:t>every ordered pair</a:t>
            </a:r>
            <a:r>
              <a:rPr sz="929" b="0" i="0">
                <a:solidFill>
                  <a:srgbClr val="2A3345"/>
                </a:solidFill>
                <a:latin typeface="Calibri"/>
              </a:rPr>
              <a:t> of the 10 countries — 90 pairs in total.</a:t>
            </a:r>
          </a:p>
        </p:txBody>
      </p:sp>
      <p:sp>
        <p:nvSpPr>
          <p:cNvPr id="8" name="TextBox 7"/>
          <p:cNvSpPr txBox="1"/>
          <p:nvPr/>
        </p:nvSpPr>
        <p:spPr>
          <a:xfrm>
            <a:off x="658368" y="1915972"/>
            <a:ext cx="10874959" cy="270052"/>
          </a:xfrm>
          <a:prstGeom prst="rect">
            <a:avLst/>
          </a:prstGeom>
          <a:noFill/>
        </p:spPr>
        <p:txBody>
          <a:bodyPr wrap="square" lIns="0" rIns="0" tIns="0" bIns="0">
            <a:spAutoFit/>
          </a:bodyPr>
          <a:lstStyle/>
          <a:p>
            <a:pPr marL="237744" indent="-237744"/>
            <a:r>
              <a:rPr sz="929">
                <a:solidFill>
                  <a:srgbClr val="1D5B8F"/>
                </a:solidFill>
                <a:latin typeface="Calibri"/>
              </a:rPr>
              <a:t>▪  </a:t>
            </a:r>
            <a:r>
              <a:rPr sz="929" b="0" i="0">
                <a:solidFill>
                  <a:srgbClr val="2A3345"/>
                </a:solidFill>
                <a:latin typeface="Calibri"/>
              </a:rPr>
              <a:t>Keep only the pairs where the improvement is big enough to be real rather than luck.</a:t>
            </a:r>
          </a:p>
        </p:txBody>
      </p:sp>
      <p:sp>
        <p:nvSpPr>
          <p:cNvPr id="9" name="TextBox 8"/>
          <p:cNvSpPr txBox="1"/>
          <p:nvPr/>
        </p:nvSpPr>
        <p:spPr>
          <a:xfrm>
            <a:off x="658368" y="2186025"/>
            <a:ext cx="10874959" cy="270052"/>
          </a:xfrm>
          <a:prstGeom prst="rect">
            <a:avLst/>
          </a:prstGeom>
          <a:noFill/>
        </p:spPr>
        <p:txBody>
          <a:bodyPr wrap="square" lIns="0" rIns="0" tIns="0" bIns="0">
            <a:spAutoFit/>
          </a:bodyPr>
          <a:lstStyle/>
          <a:p>
            <a:pPr marL="237744" indent="-237744"/>
            <a:r>
              <a:rPr sz="929">
                <a:solidFill>
                  <a:srgbClr val="1D5B8F"/>
                </a:solidFill>
                <a:latin typeface="Calibri"/>
              </a:rPr>
              <a:t>▪  </a:t>
            </a:r>
            <a:r>
              <a:rPr sz="929" b="0" i="0">
                <a:solidFill>
                  <a:srgbClr val="2A3345"/>
                </a:solidFill>
                <a:latin typeface="Calibri"/>
              </a:rPr>
              <a:t>What's left is a </a:t>
            </a:r>
            <a:r>
              <a:rPr sz="929" b="1" i="0">
                <a:solidFill>
                  <a:srgbClr val="14213D"/>
                </a:solidFill>
                <a:latin typeface="Calibri"/>
              </a:rPr>
              <a:t>network (graph)</a:t>
            </a:r>
            <a:r>
              <a:rPr sz="929" b="0" i="0">
                <a:solidFill>
                  <a:srgbClr val="2A3345"/>
                </a:solidFill>
                <a:latin typeface="Calibri"/>
              </a:rPr>
              <a:t>: dots = countries, arrows = "this country's past helps predict that one's future", thicker arrow = more information flowing.</a:t>
            </a:r>
          </a:p>
        </p:txBody>
      </p:sp>
      <p:sp>
        <p:nvSpPr>
          <p:cNvPr id="10" name="TextBox 9"/>
          <p:cNvSpPr txBox="1"/>
          <p:nvPr/>
        </p:nvSpPr>
        <p:spPr>
          <a:xfrm>
            <a:off x="658368" y="2456078"/>
            <a:ext cx="10874959" cy="270052"/>
          </a:xfrm>
          <a:prstGeom prst="rect">
            <a:avLst/>
          </a:prstGeom>
          <a:noFill/>
        </p:spPr>
        <p:txBody>
          <a:bodyPr wrap="square" lIns="0" rIns="0" tIns="0" bIns="0">
            <a:spAutoFit/>
          </a:bodyPr>
          <a:lstStyle/>
          <a:p>
            <a:pPr marL="237744" indent="-237744"/>
            <a:r>
              <a:rPr sz="929">
                <a:solidFill>
                  <a:srgbClr val="1D5B8F"/>
                </a:solidFill>
                <a:latin typeface="Calibri"/>
              </a:rPr>
              <a:t>▪  </a:t>
            </a:r>
            <a:r>
              <a:rPr sz="929" b="0" i="0">
                <a:solidFill>
                  <a:srgbClr val="2A3345"/>
                </a:solidFill>
                <a:latin typeface="Calibri"/>
              </a:rPr>
              <a:t>That network is fed to a </a:t>
            </a:r>
            <a:r>
              <a:rPr sz="929" b="1" i="0">
                <a:solidFill>
                  <a:srgbClr val="14213D"/>
                </a:solidFill>
                <a:latin typeface="Calibri"/>
              </a:rPr>
              <a:t>Graph Neural Network</a:t>
            </a:r>
            <a:r>
              <a:rPr sz="929" b="0" i="0">
                <a:solidFill>
                  <a:srgbClr val="2A3345"/>
                </a:solidFill>
                <a:latin typeface="Calibri"/>
              </a:rPr>
              <a:t>: the model forecasts each country's volatility while </a:t>
            </a:r>
            <a:r>
              <a:rPr sz="929" b="0" i="1">
                <a:solidFill>
                  <a:srgbClr val="2A3345"/>
                </a:solidFill>
                <a:latin typeface="Calibri"/>
              </a:rPr>
              <a:t>listening only to the countries the arrows say are worth listening to</a:t>
            </a:r>
            <a:r>
              <a:rPr sz="929" b="0" i="0">
                <a:solidFill>
                  <a:srgbClr val="2A3345"/>
                </a:solidFill>
                <a:latin typeface="Calibri"/>
              </a:rPr>
              <a:t>.</a:t>
            </a:r>
          </a:p>
        </p:txBody>
      </p:sp>
      <p:sp>
        <p:nvSpPr>
          <p:cNvPr id="11" name="Rectangle 10"/>
          <p:cNvSpPr/>
          <p:nvPr/>
        </p:nvSpPr>
        <p:spPr>
          <a:xfrm>
            <a:off x="658368" y="2726131"/>
            <a:ext cx="10874959" cy="61650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726131"/>
            <a:ext cx="50292" cy="61650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817571"/>
            <a:ext cx="10463479" cy="433628"/>
          </a:xfrm>
          <a:prstGeom prst="rect">
            <a:avLst/>
          </a:prstGeom>
          <a:noFill/>
        </p:spPr>
        <p:txBody>
          <a:bodyPr wrap="square" lIns="0" rIns="0" tIns="0" bIns="0">
            <a:spAutoFit/>
          </a:bodyPr>
          <a:lstStyle/>
          <a:p>
            <a:r>
              <a:rPr sz="979" b="0" i="0">
                <a:solidFill>
                  <a:srgbClr val="14213D"/>
                </a:solidFill>
                <a:latin typeface="Calibri"/>
              </a:rPr>
              <a:t>That's what makes it a </a:t>
            </a:r>
            <a:r>
              <a:rPr sz="979" b="0" i="1">
                <a:solidFill>
                  <a:srgbClr val="14213D"/>
                </a:solidFill>
                <a:latin typeface="Calibri"/>
              </a:rPr>
              <a:t>graph</a:t>
            </a:r>
            <a:r>
              <a:rPr sz="979" b="0" i="0">
                <a:solidFill>
                  <a:srgbClr val="14213D"/>
                </a:solidFill>
                <a:latin typeface="Calibri"/>
              </a:rPr>
              <a:t> neural network — the structure isn't guessed, it's </a:t>
            </a:r>
            <a:r>
              <a:rPr sz="979" b="1" i="0">
                <a:solidFill>
                  <a:srgbClr val="14213D"/>
                </a:solidFill>
                <a:latin typeface="Calibri"/>
              </a:rPr>
              <a:t>measured from the data</a:t>
            </a:r>
            <a:r>
              <a:rPr sz="979" b="0" i="0">
                <a:solidFill>
                  <a:srgbClr val="14213D"/>
                </a:solidFill>
                <a:latin typeface="Calibri"/>
              </a:rPr>
              <a:t>.</a:t>
            </a:r>
          </a:p>
        </p:txBody>
      </p:sp>
      <p:pic>
        <p:nvPicPr>
          <p:cNvPr id="14" name="Picture 13" descr="S14_gnn_architecture.png"/>
          <p:cNvPicPr>
            <a:picLocks noChangeAspect="1"/>
          </p:cNvPicPr>
          <p:nvPr/>
        </p:nvPicPr>
        <p:blipFill>
          <a:blip r:embed="rId3"/>
          <a:stretch>
            <a:fillRect/>
          </a:stretch>
        </p:blipFill>
        <p:spPr>
          <a:xfrm>
            <a:off x="2505097" y="3562096"/>
            <a:ext cx="7181500" cy="27838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Ordinary Transfer Entropy Treats a Crash Like a Sleepy Tuesday</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465308" y="566928"/>
            <a:ext cx="1068019" cy="274320"/>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65308" y="608076"/>
            <a:ext cx="1068019" cy="237744"/>
          </a:xfrm>
          <a:prstGeom prst="rect">
            <a:avLst/>
          </a:prstGeom>
          <a:noFill/>
        </p:spPr>
        <p:txBody>
          <a:bodyPr wrap="square" lIns="0" rIns="0" tIns="0" bIns="0">
            <a:spAutoFit/>
          </a:bodyPr>
          <a:lstStyle/>
          <a:p>
            <a:pPr algn="ctr"/>
            <a:r>
              <a:rPr sz="1050" b="1" i="0">
                <a:solidFill>
                  <a:srgbClr val="FFFFFF"/>
                </a:solidFill>
                <a:latin typeface="Calibri"/>
              </a:rPr>
              <a:t>KEY CONCEPT</a:t>
            </a:r>
          </a:p>
        </p:txBody>
      </p:sp>
      <p:sp>
        <p:nvSpPr>
          <p:cNvPr id="7" name="TextBox 6"/>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8" name="TextBox 7"/>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15  ·  15/40</a:t>
            </a:r>
          </a:p>
        </p:txBody>
      </p:sp>
      <p:sp>
        <p:nvSpPr>
          <p:cNvPr id="9" name="TextBox 8"/>
          <p:cNvSpPr txBox="1"/>
          <p:nvPr/>
        </p:nvSpPr>
        <p:spPr>
          <a:xfrm>
            <a:off x="658368" y="1645920"/>
            <a:ext cx="10874959" cy="297484"/>
          </a:xfrm>
          <a:prstGeom prst="rect">
            <a:avLst/>
          </a:prstGeom>
          <a:noFill/>
        </p:spPr>
        <p:txBody>
          <a:bodyPr wrap="square" lIns="0" rIns="0" tIns="0" bIns="0">
            <a:spAutoFit/>
          </a:bodyPr>
          <a:lstStyle/>
          <a:p>
            <a:r>
              <a:rPr sz="929" b="0" i="0">
                <a:solidFill>
                  <a:srgbClr val="2A3345"/>
                </a:solidFill>
                <a:latin typeface="Calibri"/>
              </a:rPr>
              <a:t>Standard transfer entropy weights every day equally when it takes its average. </a:t>
            </a:r>
            <a:r>
              <a:rPr sz="929" b="1" i="0">
                <a:solidFill>
                  <a:srgbClr val="14213D"/>
                </a:solidFill>
                <a:latin typeface="Calibri"/>
              </a:rPr>
              <a:t>That is a strange choice for a thesis about crises.</a:t>
            </a:r>
          </a:p>
        </p:txBody>
      </p:sp>
      <p:sp>
        <p:nvSpPr>
          <p:cNvPr id="10" name="TextBox 9"/>
          <p:cNvSpPr txBox="1"/>
          <p:nvPr/>
        </p:nvSpPr>
        <p:spPr>
          <a:xfrm>
            <a:off x="658368" y="1943404"/>
            <a:ext cx="10874959" cy="297484"/>
          </a:xfrm>
          <a:prstGeom prst="rect">
            <a:avLst/>
          </a:prstGeom>
          <a:noFill/>
        </p:spPr>
        <p:txBody>
          <a:bodyPr wrap="square" lIns="0" rIns="0" tIns="0" bIns="0">
            <a:spAutoFit/>
          </a:bodyPr>
          <a:lstStyle/>
          <a:p>
            <a:r>
              <a:rPr sz="929" b="1" i="0">
                <a:solidFill>
                  <a:srgbClr val="14213D"/>
                </a:solidFill>
                <a:latin typeface="Calibri"/>
              </a:rPr>
              <a:t>Rényi</a:t>
            </a:r>
            <a:r>
              <a:rPr sz="929" b="0" i="0">
                <a:solidFill>
                  <a:srgbClr val="2A3345"/>
                </a:solidFill>
                <a:latin typeface="Calibri"/>
              </a:rPr>
              <a:t> transfer entropy adds a tuning dial, </a:t>
            </a:r>
            <a:r>
              <a:rPr sz="929" b="1" i="0">
                <a:solidFill>
                  <a:srgbClr val="14213D"/>
                </a:solidFill>
                <a:latin typeface="Calibri"/>
              </a:rPr>
              <a:t>α</a:t>
            </a:r>
            <a:r>
              <a:rPr sz="929" b="0" i="0">
                <a:solidFill>
                  <a:srgbClr val="2A3345"/>
                </a:solidFill>
                <a:latin typeface="Calibri"/>
              </a:rPr>
              <a:t>:</a:t>
            </a:r>
          </a:p>
        </p:txBody>
      </p:sp>
      <p:graphicFrame>
        <p:nvGraphicFramePr>
          <p:cNvPr id="11" name="Table 10"/>
          <p:cNvGraphicFramePr>
            <a:graphicFrameLocks noGrp="1"/>
          </p:cNvGraphicFramePr>
          <p:nvPr/>
        </p:nvGraphicFramePr>
        <p:xfrm>
          <a:off x="658368" y="2240889"/>
          <a:ext cx="10874958" cy="960805"/>
        </p:xfrm>
        <a:graphic>
          <a:graphicData uri="http://schemas.openxmlformats.org/drawingml/2006/table">
            <a:tbl>
              <a:tblPr firstRow="1">
                <a:tableStyleId>{5C22544A-7EE6-4342-B048-85BDC9FD1C3A}</a:tableStyleId>
              </a:tblPr>
              <a:tblGrid>
                <a:gridCol w="1332524"/>
                <a:gridCol w="6791968"/>
                <a:gridCol w="2750466"/>
              </a:tblGrid>
              <a:tr h="240201">
                <a:tc>
                  <a:txBody>
                    <a:bodyPr wrap="square"/>
                    <a:lstStyle/>
                    <a:p>
                      <a:pPr algn="l"/>
                      <a:r>
                        <a:rPr sz="710" b="1" i="0">
                          <a:solidFill>
                            <a:srgbClr val="FFFFFF"/>
                          </a:solidFill>
                          <a:latin typeface="Calibri"/>
                        </a:rPr>
                        <a:t>Setting</a:t>
                      </a:r>
                    </a:p>
                  </a:txBody>
                  <a:tcPr marL="64008" marR="64008" marT="32004" marB="32004" anchor="ctr">
                    <a:solidFill>
                      <a:srgbClr val="1D5B8F"/>
                    </a:solidFill>
                  </a:tcPr>
                </a:tc>
                <a:tc>
                  <a:txBody>
                    <a:bodyPr wrap="square"/>
                    <a:lstStyle/>
                    <a:p>
                      <a:pPr algn="l"/>
                      <a:r>
                        <a:rPr sz="710" b="1" i="0">
                          <a:solidFill>
                            <a:srgbClr val="FFFFFF"/>
                          </a:solidFill>
                          <a:latin typeface="Calibri"/>
                        </a:rPr>
                        <a:t>Effect</a:t>
                      </a:r>
                    </a:p>
                  </a:txBody>
                  <a:tcPr marL="64008" marR="64008" marT="32004" marB="32004" anchor="ctr">
                    <a:solidFill>
                      <a:srgbClr val="1D5B8F"/>
                    </a:solidFill>
                  </a:tcPr>
                </a:tc>
                <a:tc>
                  <a:txBody>
                    <a:bodyPr wrap="square"/>
                    <a:lstStyle/>
                    <a:p>
                      <a:pPr algn="l"/>
                      <a:r>
                        <a:rPr sz="710" b="1" i="0">
                          <a:solidFill>
                            <a:srgbClr val="FFFFFF"/>
                          </a:solidFill>
                          <a:latin typeface="Calibri"/>
                        </a:rPr>
                        <a:t>Best for</a:t>
                      </a:r>
                    </a:p>
                  </a:txBody>
                  <a:tcPr marL="64008" marR="64008" marT="32004" marB="32004" anchor="ctr">
                    <a:solidFill>
                      <a:srgbClr val="1D5B8F"/>
                    </a:solidFill>
                  </a:tcPr>
                </a:tc>
              </a:tr>
              <a:tr h="240201">
                <a:tc>
                  <a:txBody>
                    <a:bodyPr wrap="square"/>
                    <a:lstStyle/>
                    <a:p>
                      <a:pPr algn="l"/>
                      <a:r>
                        <a:rPr sz="660" b="1" i="0">
                          <a:solidFill>
                            <a:srgbClr val="14213D"/>
                          </a:solidFill>
                          <a:latin typeface="Calibri"/>
                        </a:rPr>
                        <a:t>α &lt; 1</a:t>
                      </a:r>
                    </a:p>
                  </a:txBody>
                  <a:tcPr marL="64008" marR="64008" marT="32004" marB="32004" anchor="ctr">
                    <a:solidFill>
                      <a:srgbClr val="F4F7FA"/>
                    </a:solidFill>
                  </a:tcPr>
                </a:tc>
                <a:tc>
                  <a:txBody>
                    <a:bodyPr wrap="square"/>
                    <a:lstStyle/>
                    <a:p>
                      <a:pPr algn="l"/>
                      <a:r>
                        <a:rPr sz="660" b="0" i="0">
                          <a:solidFill>
                            <a:srgbClr val="2A3345"/>
                          </a:solidFill>
                          <a:latin typeface="Calibri"/>
                        </a:rPr>
                        <a:t>Amplifies </a:t>
                      </a:r>
                      <a:r>
                        <a:rPr sz="660" b="1" i="0">
                          <a:solidFill>
                            <a:srgbClr val="14213D"/>
                          </a:solidFill>
                          <a:latin typeface="Calibri"/>
                        </a:rPr>
                        <a:t>rare, extreme</a:t>
                      </a:r>
                      <a:r>
                        <a:rPr sz="660" b="0" i="0">
                          <a:solidFill>
                            <a:srgbClr val="2A3345"/>
                          </a:solidFill>
                          <a:latin typeface="Calibri"/>
                        </a:rPr>
                        <a:t> days</a:t>
                      </a:r>
                    </a:p>
                  </a:txBody>
                  <a:tcPr marL="64008" marR="64008" marT="32004" marB="32004" anchor="ctr">
                    <a:solidFill>
                      <a:srgbClr val="F4F7FA"/>
                    </a:solidFill>
                  </a:tcPr>
                </a:tc>
                <a:tc>
                  <a:txBody>
                    <a:bodyPr wrap="square"/>
                    <a:lstStyle/>
                    <a:p>
                      <a:pPr algn="l"/>
                      <a:r>
                        <a:rPr sz="660" b="0" i="0">
                          <a:solidFill>
                            <a:srgbClr val="2A3345"/>
                          </a:solidFill>
                          <a:latin typeface="Calibri"/>
                        </a:rPr>
                        <a:t>Crashes and panics</a:t>
                      </a:r>
                    </a:p>
                  </a:txBody>
                  <a:tcPr marL="64008" marR="64008" marT="32004" marB="32004" anchor="ctr">
                    <a:solidFill>
                      <a:srgbClr val="F4F7FA"/>
                    </a:solidFill>
                  </a:tcPr>
                </a:tc>
              </a:tr>
              <a:tr h="240201">
                <a:tc>
                  <a:txBody>
                    <a:bodyPr wrap="square"/>
                    <a:lstStyle/>
                    <a:p>
                      <a:pPr algn="l"/>
                      <a:r>
                        <a:rPr sz="660" b="1" i="0">
                          <a:solidFill>
                            <a:srgbClr val="14213D"/>
                          </a:solidFill>
                          <a:latin typeface="Calibri"/>
                        </a:rPr>
                        <a:t>α = 1</a:t>
                      </a:r>
                    </a:p>
                  </a:txBody>
                  <a:tcPr marL="64008" marR="64008" marT="32004" marB="32004" anchor="ctr">
                    <a:solidFill>
                      <a:srgbClr val="FFFFFF"/>
                    </a:solidFill>
                  </a:tcPr>
                </a:tc>
                <a:tc>
                  <a:txBody>
                    <a:bodyPr wrap="square"/>
                    <a:lstStyle/>
                    <a:p>
                      <a:pPr algn="l"/>
                      <a:r>
                        <a:rPr sz="660" b="0" i="0">
                          <a:solidFill>
                            <a:srgbClr val="2A3345"/>
                          </a:solidFill>
                          <a:latin typeface="Calibri"/>
                        </a:rPr>
                        <a:t>Everything counts equally — </a:t>
                      </a:r>
                      <a:r>
                        <a:rPr sz="660" b="0" i="1">
                          <a:solidFill>
                            <a:srgbClr val="2A3345"/>
                          </a:solidFill>
                          <a:latin typeface="Calibri"/>
                        </a:rPr>
                        <a:t>this is ordinary transfer entropy</a:t>
                      </a:r>
                    </a:p>
                  </a:txBody>
                  <a:tcPr marL="64008" marR="64008" marT="32004" marB="32004" anchor="ctr">
                    <a:solidFill>
                      <a:srgbClr val="FFFFFF"/>
                    </a:solidFill>
                  </a:tcPr>
                </a:tc>
                <a:tc>
                  <a:txBody>
                    <a:bodyPr wrap="square"/>
                    <a:lstStyle/>
                    <a:p>
                      <a:pPr algn="l"/>
                      <a:r>
                        <a:rPr sz="660" b="0" i="0">
                          <a:solidFill>
                            <a:srgbClr val="2A3345"/>
                          </a:solidFill>
                          <a:latin typeface="Calibri"/>
                        </a:rPr>
                        <a:t>The neutral default</a:t>
                      </a:r>
                    </a:p>
                  </a:txBody>
                  <a:tcPr marL="64008" marR="64008" marT="32004" marB="32004" anchor="ctr">
                    <a:solidFill>
                      <a:srgbClr val="FFFFFF"/>
                    </a:solidFill>
                  </a:tcPr>
                </a:tc>
              </a:tr>
              <a:tr h="240202">
                <a:tc>
                  <a:txBody>
                    <a:bodyPr wrap="square"/>
                    <a:lstStyle/>
                    <a:p>
                      <a:pPr algn="l"/>
                      <a:r>
                        <a:rPr sz="660" b="1" i="0">
                          <a:solidFill>
                            <a:srgbClr val="14213D"/>
                          </a:solidFill>
                          <a:latin typeface="Calibri"/>
                        </a:rPr>
                        <a:t>α &gt; 1</a:t>
                      </a:r>
                    </a:p>
                  </a:txBody>
                  <a:tcPr marL="64008" marR="64008" marT="32004" marB="32004" anchor="ctr">
                    <a:solidFill>
                      <a:srgbClr val="F4F7FA"/>
                    </a:solidFill>
                  </a:tcPr>
                </a:tc>
                <a:tc>
                  <a:txBody>
                    <a:bodyPr wrap="square"/>
                    <a:lstStyle/>
                    <a:p>
                      <a:pPr algn="l"/>
                      <a:r>
                        <a:rPr sz="660" b="0" i="0">
                          <a:solidFill>
                            <a:srgbClr val="2A3345"/>
                          </a:solidFill>
                          <a:latin typeface="Calibri"/>
                        </a:rPr>
                        <a:t>Amplifies </a:t>
                      </a:r>
                      <a:r>
                        <a:rPr sz="660" b="1" i="0">
                          <a:solidFill>
                            <a:srgbClr val="14213D"/>
                          </a:solidFill>
                          <a:latin typeface="Calibri"/>
                        </a:rPr>
                        <a:t>ordinary, typical</a:t>
                      </a:r>
                      <a:r>
                        <a:rPr sz="660" b="0" i="0">
                          <a:solidFill>
                            <a:srgbClr val="2A3345"/>
                          </a:solidFill>
                          <a:latin typeface="Calibri"/>
                        </a:rPr>
                        <a:t> days</a:t>
                      </a:r>
                    </a:p>
                  </a:txBody>
                  <a:tcPr marL="64008" marR="64008" marT="32004" marB="32004" anchor="ctr">
                    <a:solidFill>
                      <a:srgbClr val="F4F7FA"/>
                    </a:solidFill>
                  </a:tcPr>
                </a:tc>
                <a:tc>
                  <a:txBody>
                    <a:bodyPr wrap="square"/>
                    <a:lstStyle/>
                    <a:p>
                      <a:pPr algn="l"/>
                      <a:r>
                        <a:rPr sz="660" b="0" i="0">
                          <a:solidFill>
                            <a:srgbClr val="2A3345"/>
                          </a:solidFill>
                          <a:latin typeface="Calibri"/>
                        </a:rPr>
                        <a:t>Calm markets</a:t>
                      </a:r>
                    </a:p>
                  </a:txBody>
                  <a:tcPr marL="64008" marR="64008" marT="32004" marB="32004" anchor="ctr">
                    <a:solidFill>
                      <a:srgbClr val="F4F7FA"/>
                    </a:solidFill>
                  </a:tcPr>
                </a:tc>
              </a:tr>
            </a:tbl>
          </a:graphicData>
        </a:graphic>
      </p:graphicFrame>
      <p:sp>
        <p:nvSpPr>
          <p:cNvPr id="12" name="Rectangle 11"/>
          <p:cNvSpPr/>
          <p:nvPr/>
        </p:nvSpPr>
        <p:spPr>
          <a:xfrm>
            <a:off x="658368" y="3329711"/>
            <a:ext cx="10874959" cy="775817"/>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329711"/>
            <a:ext cx="50292" cy="775817"/>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421151"/>
            <a:ext cx="10463479" cy="592937"/>
          </a:xfrm>
          <a:prstGeom prst="rect">
            <a:avLst/>
          </a:prstGeom>
          <a:noFill/>
        </p:spPr>
        <p:txBody>
          <a:bodyPr wrap="square" lIns="0" rIns="0" tIns="0" bIns="0">
            <a:spAutoFit/>
          </a:bodyPr>
          <a:lstStyle/>
          <a:p>
            <a:r>
              <a:rPr sz="979" b="0" i="0">
                <a:solidFill>
                  <a:srgbClr val="14213D"/>
                </a:solidFill>
                <a:latin typeface="Calibri"/>
              </a:rPr>
              <a:t>Think of it as a </a:t>
            </a:r>
            <a:r>
              <a:rPr sz="979" b="1" i="0">
                <a:solidFill>
                  <a:srgbClr val="14213D"/>
                </a:solidFill>
                <a:latin typeface="Calibri"/>
              </a:rPr>
              <a:t>camera exposure setting</a:t>
            </a:r>
            <a:r>
              <a:rPr sz="979" b="0" i="0">
                <a:solidFill>
                  <a:srgbClr val="14213D"/>
                </a:solidFill>
                <a:latin typeface="Calibri"/>
              </a:rPr>
              <a:t>. Turn it one way and the bright ordinary scene is properly exposed. Turn it the other and you can finally see detail in the dark corners. The rare crash days </a:t>
            </a:r>
            <a:r>
              <a:rPr sz="979" b="0" i="1">
                <a:solidFill>
                  <a:srgbClr val="14213D"/>
                </a:solidFill>
                <a:latin typeface="Calibri"/>
              </a:rPr>
              <a:t>are</a:t>
            </a:r>
            <a:r>
              <a:rPr sz="979" b="0" i="0">
                <a:solidFill>
                  <a:srgbClr val="14213D"/>
                </a:solidFill>
                <a:latin typeface="Calibri"/>
              </a:rPr>
              <a:t> the dark corners — and they're exactly what a risk manager cares about.</a:t>
            </a:r>
          </a:p>
        </p:txBody>
      </p:sp>
      <p:pic>
        <p:nvPicPr>
          <p:cNvPr id="15" name="Picture 14" descr="S15_alpha_dial.png"/>
          <p:cNvPicPr>
            <a:picLocks noChangeAspect="1"/>
          </p:cNvPicPr>
          <p:nvPr/>
        </p:nvPicPr>
        <p:blipFill>
          <a:blip r:embed="rId3"/>
          <a:stretch>
            <a:fillRect/>
          </a:stretch>
        </p:blipFill>
        <p:spPr>
          <a:xfrm>
            <a:off x="3347354" y="4324985"/>
            <a:ext cx="5496986" cy="202095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How Do We Know a Crisis Is Happening, Without Being Told?</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16  ·  16/40</a:t>
            </a:r>
          </a:p>
        </p:txBody>
      </p:sp>
      <p:sp>
        <p:nvSpPr>
          <p:cNvPr id="7" name="TextBox 6"/>
          <p:cNvSpPr txBox="1"/>
          <p:nvPr/>
        </p:nvSpPr>
        <p:spPr>
          <a:xfrm>
            <a:off x="658368" y="1645920"/>
            <a:ext cx="5227167" cy="650240"/>
          </a:xfrm>
          <a:prstGeom prst="rect">
            <a:avLst/>
          </a:prstGeom>
          <a:noFill/>
        </p:spPr>
        <p:txBody>
          <a:bodyPr wrap="square" lIns="0" rIns="0" tIns="0" bIns="0">
            <a:spAutoFit/>
          </a:bodyPr>
          <a:lstStyle/>
          <a:p>
            <a:r>
              <a:rPr sz="1550" b="0" i="0">
                <a:solidFill>
                  <a:srgbClr val="2A3345"/>
                </a:solidFill>
                <a:latin typeface="Calibri"/>
              </a:rPr>
              <a:t>The </a:t>
            </a:r>
            <a:r>
              <a:rPr sz="1550" b="1" i="0">
                <a:solidFill>
                  <a:srgbClr val="14213D"/>
                </a:solidFill>
                <a:latin typeface="Calibri"/>
              </a:rPr>
              <a:t>Hurst exponent (H)</a:t>
            </a:r>
            <a:r>
              <a:rPr sz="1550" b="0" i="0">
                <a:solidFill>
                  <a:srgbClr val="2A3345"/>
                </a:solidFill>
                <a:latin typeface="Calibri"/>
              </a:rPr>
              <a:t> is one number describing a market's character:</a:t>
            </a:r>
          </a:p>
        </p:txBody>
      </p:sp>
      <p:graphicFrame>
        <p:nvGraphicFramePr>
          <p:cNvPr id="8" name="Table 7"/>
          <p:cNvGraphicFramePr>
            <a:graphicFrameLocks noGrp="1"/>
          </p:cNvGraphicFramePr>
          <p:nvPr/>
        </p:nvGraphicFramePr>
        <p:xfrm>
          <a:off x="658368" y="2296160"/>
          <a:ext cx="5227167" cy="1770507"/>
        </p:xfrm>
        <a:graphic>
          <a:graphicData uri="http://schemas.openxmlformats.org/drawingml/2006/table">
            <a:tbl>
              <a:tblPr firstRow="1">
                <a:tableStyleId>{5C22544A-7EE6-4342-B048-85BDC9FD1C3A}</a:tableStyleId>
              </a:tblPr>
              <a:tblGrid>
                <a:gridCol w="588556"/>
                <a:gridCol w="1363332"/>
                <a:gridCol w="3275279"/>
              </a:tblGrid>
              <a:tr h="442626">
                <a:tc>
                  <a:txBody>
                    <a:bodyPr wrap="square"/>
                    <a:lstStyle/>
                    <a:p>
                      <a:pPr algn="l"/>
                      <a:r>
                        <a:rPr sz="1150" b="1" i="0">
                          <a:solidFill>
                            <a:srgbClr val="FFFFFF"/>
                          </a:solidFill>
                          <a:latin typeface="Calibri"/>
                        </a:rPr>
                        <a:t>Value</a:t>
                      </a:r>
                    </a:p>
                  </a:txBody>
                  <a:tcPr marL="64008" marR="64008" marT="32004" marB="32004" anchor="ctr">
                    <a:solidFill>
                      <a:srgbClr val="1D5B8F"/>
                    </a:solidFill>
                  </a:tcPr>
                </a:tc>
                <a:tc>
                  <a:txBody>
                    <a:bodyPr wrap="square"/>
                    <a:lstStyle/>
                    <a:p>
                      <a:pPr algn="l"/>
                      <a:r>
                        <a:rPr sz="1150" b="1" i="0">
                          <a:solidFill>
                            <a:srgbClr val="FFFFFF"/>
                          </a:solidFill>
                          <a:latin typeface="Calibri"/>
                        </a:rPr>
                        <a:t>Name</a:t>
                      </a:r>
                    </a:p>
                  </a:txBody>
                  <a:tcPr marL="64008" marR="64008" marT="32004" marB="32004" anchor="ctr">
                    <a:solidFill>
                      <a:srgbClr val="1D5B8F"/>
                    </a:solidFill>
                  </a:tcPr>
                </a:tc>
                <a:tc>
                  <a:txBody>
                    <a:bodyPr wrap="square"/>
                    <a:lstStyle/>
                    <a:p>
                      <a:pPr algn="l"/>
                      <a:r>
                        <a:rPr sz="1150" b="1" i="0">
                          <a:solidFill>
                            <a:srgbClr val="FFFFFF"/>
                          </a:solidFill>
                          <a:latin typeface="Calibri"/>
                        </a:rPr>
                        <a:t>Day to day</a:t>
                      </a:r>
                    </a:p>
                  </a:txBody>
                  <a:tcPr marL="64008" marR="64008" marT="32004" marB="32004" anchor="ctr">
                    <a:solidFill>
                      <a:srgbClr val="1D5B8F"/>
                    </a:solidFill>
                  </a:tcPr>
                </a:tc>
              </a:tr>
              <a:tr h="442626">
                <a:tc>
                  <a:txBody>
                    <a:bodyPr wrap="square"/>
                    <a:lstStyle/>
                    <a:p>
                      <a:pPr algn="l"/>
                      <a:r>
                        <a:rPr sz="1100" b="1" i="0">
                          <a:solidFill>
                            <a:srgbClr val="14213D"/>
                          </a:solidFill>
                          <a:latin typeface="Calibri"/>
                        </a:rPr>
                        <a:t>H &gt; 0.5</a:t>
                      </a:r>
                    </a:p>
                  </a:txBody>
                  <a:tcPr marL="64008" marR="64008" marT="32004" marB="32004" anchor="ctr">
                    <a:solidFill>
                      <a:srgbClr val="F4F7FA"/>
                    </a:solidFill>
                  </a:tcPr>
                </a:tc>
                <a:tc>
                  <a:txBody>
                    <a:bodyPr wrap="square"/>
                    <a:lstStyle/>
                    <a:p>
                      <a:pPr algn="l"/>
                      <a:r>
                        <a:rPr sz="1100" b="0" i="0">
                          <a:solidFill>
                            <a:srgbClr val="2A3345"/>
                          </a:solidFill>
                          <a:latin typeface="Calibri"/>
                        </a:rPr>
                        <a:t>persistent</a:t>
                      </a:r>
                    </a:p>
                  </a:txBody>
                  <a:tcPr marL="64008" marR="64008" marT="32004" marB="32004" anchor="ctr">
                    <a:solidFill>
                      <a:srgbClr val="F4F7FA"/>
                    </a:solidFill>
                  </a:tcPr>
                </a:tc>
                <a:tc>
                  <a:txBody>
                    <a:bodyPr wrap="square"/>
                    <a:lstStyle/>
                    <a:p>
                      <a:pPr algn="l"/>
                      <a:r>
                        <a:rPr sz="1100" b="0" i="0">
                          <a:solidFill>
                            <a:srgbClr val="2A3345"/>
                          </a:solidFill>
                          <a:latin typeface="Calibri"/>
                        </a:rPr>
                        <a:t>Trends continue. Up days follow up days. Calm, orderly.</a:t>
                      </a:r>
                    </a:p>
                  </a:txBody>
                  <a:tcPr marL="64008" marR="64008" marT="32004" marB="32004" anchor="ctr">
                    <a:solidFill>
                      <a:srgbClr val="F4F7FA"/>
                    </a:solidFill>
                  </a:tcPr>
                </a:tc>
              </a:tr>
              <a:tr h="442626">
                <a:tc>
                  <a:txBody>
                    <a:bodyPr wrap="square"/>
                    <a:lstStyle/>
                    <a:p>
                      <a:pPr algn="l"/>
                      <a:r>
                        <a:rPr sz="1100" b="1" i="0">
                          <a:solidFill>
                            <a:srgbClr val="14213D"/>
                          </a:solidFill>
                          <a:latin typeface="Calibri"/>
                        </a:rPr>
                        <a:t>H ≈ 0.5</a:t>
                      </a:r>
                    </a:p>
                  </a:txBody>
                  <a:tcPr marL="64008" marR="64008" marT="32004" marB="32004" anchor="ctr">
                    <a:solidFill>
                      <a:srgbClr val="FFFFFF"/>
                    </a:solidFill>
                  </a:tcPr>
                </a:tc>
                <a:tc>
                  <a:txBody>
                    <a:bodyPr wrap="square"/>
                    <a:lstStyle/>
                    <a:p>
                      <a:pPr algn="l"/>
                      <a:r>
                        <a:rPr sz="1100" b="0" i="0">
                          <a:solidFill>
                            <a:srgbClr val="2A3345"/>
                          </a:solidFill>
                          <a:latin typeface="Calibri"/>
                        </a:rPr>
                        <a:t>random walk</a:t>
                      </a:r>
                    </a:p>
                  </a:txBody>
                  <a:tcPr marL="64008" marR="64008" marT="32004" marB="32004" anchor="ctr">
                    <a:solidFill>
                      <a:srgbClr val="FFFFFF"/>
                    </a:solidFill>
                  </a:tcPr>
                </a:tc>
                <a:tc>
                  <a:txBody>
                    <a:bodyPr wrap="square"/>
                    <a:lstStyle/>
                    <a:p>
                      <a:pPr algn="l"/>
                      <a:r>
                        <a:rPr sz="1100" b="0" i="0">
                          <a:solidFill>
                            <a:srgbClr val="2A3345"/>
                          </a:solidFill>
                          <a:latin typeface="Calibri"/>
                        </a:rPr>
                        <a:t>Yesterday says nothing about today.</a:t>
                      </a:r>
                    </a:p>
                  </a:txBody>
                  <a:tcPr marL="64008" marR="64008" marT="32004" marB="32004" anchor="ctr">
                    <a:solidFill>
                      <a:srgbClr val="FFFFFF"/>
                    </a:solidFill>
                  </a:tcPr>
                </a:tc>
              </a:tr>
              <a:tr h="442629">
                <a:tc>
                  <a:txBody>
                    <a:bodyPr wrap="square"/>
                    <a:lstStyle/>
                    <a:p>
                      <a:pPr algn="l"/>
                      <a:r>
                        <a:rPr sz="1100" b="1" i="0">
                          <a:solidFill>
                            <a:srgbClr val="14213D"/>
                          </a:solidFill>
                          <a:latin typeface="Calibri"/>
                        </a:rPr>
                        <a:t>H &lt; 0.5</a:t>
                      </a:r>
                    </a:p>
                  </a:txBody>
                  <a:tcPr marL="64008" marR="64008" marT="32004" marB="32004" anchor="ctr">
                    <a:solidFill>
                      <a:srgbClr val="F4F7FA"/>
                    </a:solidFill>
                  </a:tcPr>
                </a:tc>
                <a:tc>
                  <a:txBody>
                    <a:bodyPr wrap="square"/>
                    <a:lstStyle/>
                    <a:p>
                      <a:pPr algn="l"/>
                      <a:r>
                        <a:rPr sz="1100" b="0" i="0">
                          <a:solidFill>
                            <a:srgbClr val="2A3345"/>
                          </a:solidFill>
                          <a:latin typeface="Calibri"/>
                        </a:rPr>
                        <a:t>anti-persistent</a:t>
                      </a:r>
                    </a:p>
                  </a:txBody>
                  <a:tcPr marL="64008" marR="64008" marT="32004" marB="32004" anchor="ctr">
                    <a:solidFill>
                      <a:srgbClr val="F4F7FA"/>
                    </a:solidFill>
                  </a:tcPr>
                </a:tc>
                <a:tc>
                  <a:txBody>
                    <a:bodyPr wrap="square"/>
                    <a:lstStyle/>
                    <a:p>
                      <a:pPr algn="l"/>
                      <a:r>
                        <a:rPr sz="1100" b="0" i="0">
                          <a:solidFill>
                            <a:srgbClr val="2A3345"/>
                          </a:solidFill>
                          <a:latin typeface="Calibri"/>
                        </a:rPr>
                        <a:t>Violent reversals. Up 3%, down 4%, up 2%. </a:t>
                      </a:r>
                      <a:r>
                        <a:rPr sz="1100" b="1" i="0">
                          <a:solidFill>
                            <a:srgbClr val="14213D"/>
                          </a:solidFill>
                          <a:latin typeface="Calibri"/>
                        </a:rPr>
                        <a:t>Panic.</a:t>
                      </a:r>
                    </a:p>
                  </a:txBody>
                  <a:tcPr marL="64008" marR="64008" marT="32004" marB="32004" anchor="ctr">
                    <a:solidFill>
                      <a:srgbClr val="F4F7FA"/>
                    </a:solidFill>
                  </a:tcPr>
                </a:tc>
              </a:tr>
            </a:tbl>
          </a:graphicData>
        </a:graphic>
      </p:graphicFrame>
      <p:sp>
        <p:nvSpPr>
          <p:cNvPr id="9" name="TextBox 8"/>
          <p:cNvSpPr txBox="1"/>
          <p:nvPr/>
        </p:nvSpPr>
        <p:spPr>
          <a:xfrm>
            <a:off x="658368" y="4194683"/>
            <a:ext cx="5227167" cy="622808"/>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Computed on a rolling basis as an automatic regime switch.</a:t>
            </a:r>
          </a:p>
        </p:txBody>
      </p:sp>
      <p:sp>
        <p:nvSpPr>
          <p:cNvPr id="10" name="TextBox 9"/>
          <p:cNvSpPr txBox="1"/>
          <p:nvPr/>
        </p:nvSpPr>
        <p:spPr>
          <a:xfrm>
            <a:off x="658368" y="4817491"/>
            <a:ext cx="5227167" cy="622808"/>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When H drops below 0.5, the model dials α toward the tail-sensitive setting.</a:t>
            </a:r>
          </a:p>
        </p:txBody>
      </p:sp>
      <p:sp>
        <p:nvSpPr>
          <p:cNvPr id="11" name="TextBox 10"/>
          <p:cNvSpPr txBox="1"/>
          <p:nvPr/>
        </p:nvSpPr>
        <p:spPr>
          <a:xfrm>
            <a:off x="658368" y="5440299"/>
            <a:ext cx="5227167" cy="370840"/>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That is the </a:t>
            </a:r>
            <a:r>
              <a:rPr sz="1550" b="1" i="0">
                <a:solidFill>
                  <a:srgbClr val="14213D"/>
                </a:solidFill>
                <a:latin typeface="Calibri"/>
              </a:rPr>
              <a:t>"Hurst-Regime-Adaptive"</a:t>
            </a:r>
            <a:r>
              <a:rPr sz="1550" b="0" i="0">
                <a:solidFill>
                  <a:srgbClr val="2A3345"/>
                </a:solidFill>
                <a:latin typeface="Calibri"/>
              </a:rPr>
              <a:t> in the title.</a:t>
            </a:r>
          </a:p>
        </p:txBody>
      </p:sp>
      <p:pic>
        <p:nvPicPr>
          <p:cNvPr id="12" name="Picture 11" descr="S16_hurst_regime_detector.png"/>
          <p:cNvPicPr>
            <a:picLocks noChangeAspect="1"/>
          </p:cNvPicPr>
          <p:nvPr/>
        </p:nvPicPr>
        <p:blipFill>
          <a:blip r:embed="rId3"/>
          <a:stretch>
            <a:fillRect/>
          </a:stretch>
        </p:blipFill>
        <p:spPr>
          <a:xfrm>
            <a:off x="6306159" y="1645920"/>
            <a:ext cx="5227167" cy="28491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Research Question 1</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17  ·  17/40</a:t>
            </a:r>
          </a:p>
        </p:txBody>
      </p:sp>
      <p:sp>
        <p:nvSpPr>
          <p:cNvPr id="7" name="Rectangle 6"/>
          <p:cNvSpPr/>
          <p:nvPr/>
        </p:nvSpPr>
        <p:spPr>
          <a:xfrm>
            <a:off x="658368" y="2148840"/>
            <a:ext cx="10874959" cy="977391"/>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48840"/>
            <a:ext cx="50292" cy="977391"/>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240280"/>
            <a:ext cx="10463479" cy="794511"/>
          </a:xfrm>
          <a:prstGeom prst="rect">
            <a:avLst/>
          </a:prstGeom>
          <a:noFill/>
        </p:spPr>
        <p:txBody>
          <a:bodyPr wrap="square" lIns="0" rIns="0" tIns="0" bIns="0">
            <a:spAutoFit/>
          </a:bodyPr>
          <a:lstStyle/>
          <a:p>
            <a:r>
              <a:rPr sz="1600" b="1" i="0">
                <a:solidFill>
                  <a:srgbClr val="14213D"/>
                </a:solidFill>
                <a:latin typeface="Calibri"/>
              </a:rPr>
              <a:t>Does replacing Shannon-based Effective Transfer Entropy with Effective </a:t>
            </a:r>
            <a:r>
              <a:rPr sz="1600" b="1" i="1">
                <a:solidFill>
                  <a:srgbClr val="14213D"/>
                </a:solidFill>
                <a:latin typeface="Calibri"/>
              </a:rPr>
              <a:t>Rényi</a:t>
            </a:r>
            <a:r>
              <a:rPr sz="1600" b="1" i="0">
                <a:solidFill>
                  <a:srgbClr val="14213D"/>
                </a:solidFill>
                <a:latin typeface="Calibri"/>
              </a:rPr>
              <a:t> Transfer Entropy as the graph-construction metric produce statistically significant forecasting gains?</a:t>
            </a:r>
          </a:p>
        </p:txBody>
      </p:sp>
      <p:sp>
        <p:nvSpPr>
          <p:cNvPr id="10" name="TextBox 9"/>
          <p:cNvSpPr txBox="1"/>
          <p:nvPr/>
        </p:nvSpPr>
        <p:spPr>
          <a:xfrm>
            <a:off x="658368" y="3254248"/>
            <a:ext cx="10874959" cy="398272"/>
          </a:xfrm>
          <a:prstGeom prst="rect">
            <a:avLst/>
          </a:prstGeom>
          <a:noFill/>
        </p:spPr>
        <p:txBody>
          <a:bodyPr wrap="square" lIns="0" rIns="0" tIns="0" bIns="0">
            <a:spAutoFit/>
          </a:bodyPr>
          <a:lstStyle/>
          <a:p>
            <a:r>
              <a:rPr sz="1550" b="0" i="0">
                <a:solidFill>
                  <a:srgbClr val="2A3345"/>
                </a:solidFill>
                <a:latin typeface="Calibri"/>
              </a:rPr>
              <a:t>In plain English:</a:t>
            </a:r>
          </a:p>
        </p:txBody>
      </p:sp>
      <p:sp>
        <p:nvSpPr>
          <p:cNvPr id="11" name="Rectangle 10"/>
          <p:cNvSpPr/>
          <p:nvPr/>
        </p:nvSpPr>
        <p:spPr>
          <a:xfrm>
            <a:off x="658368" y="3652520"/>
            <a:ext cx="10874959" cy="977391"/>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52520"/>
            <a:ext cx="50292" cy="977391"/>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743959"/>
            <a:ext cx="10463479" cy="794511"/>
          </a:xfrm>
          <a:prstGeom prst="rect">
            <a:avLst/>
          </a:prstGeom>
          <a:noFill/>
        </p:spPr>
        <p:txBody>
          <a:bodyPr wrap="square" lIns="0" rIns="0" tIns="0" bIns="0">
            <a:spAutoFit/>
          </a:bodyPr>
          <a:lstStyle/>
          <a:p>
            <a:r>
              <a:rPr sz="1600" b="1" i="0">
                <a:solidFill>
                  <a:srgbClr val="14213D"/>
                </a:solidFill>
                <a:latin typeface="Calibri"/>
              </a:rPr>
              <a:t>If I build the map of "who influences whom" using a method that pays extra attention to crash days, do I get better forecasts?</a:t>
            </a:r>
          </a:p>
        </p:txBody>
      </p:sp>
      <p:sp>
        <p:nvSpPr>
          <p:cNvPr id="14" name="TextBox 13"/>
          <p:cNvSpPr txBox="1"/>
          <p:nvPr/>
        </p:nvSpPr>
        <p:spPr>
          <a:xfrm>
            <a:off x="658368" y="4757928"/>
            <a:ext cx="10874959" cy="370840"/>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Everything else — the neural network, the data, the training, the seeds — is held </a:t>
            </a:r>
            <a:r>
              <a:rPr sz="1550" b="1" i="0">
                <a:solidFill>
                  <a:srgbClr val="14213D"/>
                </a:solidFill>
                <a:latin typeface="Calibri"/>
              </a:rPr>
              <a:t>identical</a:t>
            </a:r>
            <a:r>
              <a:rPr sz="1550" b="0" i="0">
                <a:solidFill>
                  <a:srgbClr val="2A3345"/>
                </a:solidFill>
                <a:latin typeface="Calibri"/>
              </a:rPr>
              <a:t>.</a:t>
            </a:r>
          </a:p>
        </p:txBody>
      </p:sp>
      <p:sp>
        <p:nvSpPr>
          <p:cNvPr id="15" name="TextBox 14"/>
          <p:cNvSpPr txBox="1"/>
          <p:nvPr/>
        </p:nvSpPr>
        <p:spPr>
          <a:xfrm>
            <a:off x="658368" y="5128768"/>
            <a:ext cx="10874959" cy="370840"/>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The </a:t>
            </a:r>
            <a:r>
              <a:rPr sz="1550" b="0" i="1">
                <a:solidFill>
                  <a:srgbClr val="2A3345"/>
                </a:solidFill>
                <a:latin typeface="Calibri"/>
              </a:rPr>
              <a:t>only</a:t>
            </a:r>
            <a:r>
              <a:rPr sz="1550" b="0" i="0">
                <a:solidFill>
                  <a:srgbClr val="2A3345"/>
                </a:solidFill>
                <a:latin typeface="Calibri"/>
              </a:rPr>
              <a:t> thing that changes is how the map is drawn.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First — How Do We Score a Forecast? Meet QLIKE</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465308" y="566928"/>
            <a:ext cx="1068019" cy="274320"/>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65308" y="608076"/>
            <a:ext cx="1068019" cy="237744"/>
          </a:xfrm>
          <a:prstGeom prst="rect">
            <a:avLst/>
          </a:prstGeom>
          <a:noFill/>
        </p:spPr>
        <p:txBody>
          <a:bodyPr wrap="square" lIns="0" rIns="0" tIns="0" bIns="0">
            <a:spAutoFit/>
          </a:bodyPr>
          <a:lstStyle/>
          <a:p>
            <a:pPr algn="ctr"/>
            <a:r>
              <a:rPr sz="1050" b="1" i="0">
                <a:solidFill>
                  <a:srgbClr val="FFFFFF"/>
                </a:solidFill>
                <a:latin typeface="Calibri"/>
              </a:rPr>
              <a:t>KEY CONCEPT</a:t>
            </a:r>
          </a:p>
        </p:txBody>
      </p:sp>
      <p:sp>
        <p:nvSpPr>
          <p:cNvPr id="7" name="TextBox 6"/>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8" name="TextBox 7"/>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18  ·  18/40</a:t>
            </a:r>
          </a:p>
        </p:txBody>
      </p:sp>
      <p:sp>
        <p:nvSpPr>
          <p:cNvPr id="9" name="TextBox 8"/>
          <p:cNvSpPr txBox="1"/>
          <p:nvPr/>
        </p:nvSpPr>
        <p:spPr>
          <a:xfrm>
            <a:off x="658368" y="1645920"/>
            <a:ext cx="10874959" cy="368035"/>
          </a:xfrm>
          <a:prstGeom prst="rect">
            <a:avLst/>
          </a:prstGeom>
          <a:noFill/>
        </p:spPr>
        <p:txBody>
          <a:bodyPr wrap="square" lIns="0" rIns="0" tIns="0" bIns="0">
            <a:spAutoFit/>
          </a:bodyPr>
          <a:lstStyle/>
          <a:p>
            <a:r>
              <a:rPr sz="1363" b="0" i="0">
                <a:solidFill>
                  <a:srgbClr val="2A3345"/>
                </a:solidFill>
                <a:latin typeface="Calibri"/>
              </a:rPr>
              <a:t>Every hypothesis below rests on a </a:t>
            </a:r>
            <a:r>
              <a:rPr sz="1363" b="1" i="0">
                <a:solidFill>
                  <a:srgbClr val="14213D"/>
                </a:solidFill>
                <a:latin typeface="Calibri"/>
              </a:rPr>
              <a:t>loss function</a:t>
            </a:r>
            <a:r>
              <a:rPr sz="1363" b="0" i="0">
                <a:solidFill>
                  <a:srgbClr val="2A3345"/>
                </a:solidFill>
                <a:latin typeface="Calibri"/>
              </a:rPr>
              <a:t>: a number saying how badly a forecast missed. Lower = better.</a:t>
            </a:r>
          </a:p>
        </p:txBody>
      </p:sp>
      <p:sp>
        <p:nvSpPr>
          <p:cNvPr id="10" name="TextBox 9"/>
          <p:cNvSpPr txBox="1"/>
          <p:nvPr/>
        </p:nvSpPr>
        <p:spPr>
          <a:xfrm>
            <a:off x="658368" y="2013955"/>
            <a:ext cx="10874959" cy="589767"/>
          </a:xfrm>
          <a:prstGeom prst="rect">
            <a:avLst/>
          </a:prstGeom>
          <a:noFill/>
        </p:spPr>
        <p:txBody>
          <a:bodyPr wrap="square" lIns="0" rIns="0" tIns="0" bIns="0">
            <a:spAutoFit/>
          </a:bodyPr>
          <a:lstStyle/>
          <a:p>
            <a:r>
              <a:rPr sz="1363" b="1" i="0">
                <a:solidFill>
                  <a:srgbClr val="14213D"/>
                </a:solidFill>
                <a:latin typeface="Calibri"/>
              </a:rPr>
              <a:t>The obvious choice, squared error, has a problem here.</a:t>
            </a:r>
            <a:r>
              <a:rPr sz="1363" b="0" i="0">
                <a:solidFill>
                  <a:srgbClr val="2A3345"/>
                </a:solidFill>
                <a:latin typeface="Calibri"/>
              </a:rPr>
              <a:t> It punishes a miss of 0.5 the same whether true volatility was 1.0 or 20.0. But missing by 0.5 on a calm day is a disaster; missing by 0.5 in a crisis is a rounding error.</a:t>
            </a:r>
          </a:p>
        </p:txBody>
      </p:sp>
      <p:sp>
        <p:nvSpPr>
          <p:cNvPr id="11" name="TextBox 10"/>
          <p:cNvSpPr txBox="1"/>
          <p:nvPr/>
        </p:nvSpPr>
        <p:spPr>
          <a:xfrm>
            <a:off x="658368" y="2603723"/>
            <a:ext cx="10874959" cy="368035"/>
          </a:xfrm>
          <a:prstGeom prst="rect">
            <a:avLst/>
          </a:prstGeom>
          <a:noFill/>
        </p:spPr>
        <p:txBody>
          <a:bodyPr wrap="square" lIns="0" rIns="0" tIns="0" bIns="0">
            <a:spAutoFit/>
          </a:bodyPr>
          <a:lstStyle/>
          <a:p>
            <a:r>
              <a:rPr sz="1363" b="1" i="0">
                <a:solidFill>
                  <a:srgbClr val="14213D"/>
                </a:solidFill>
                <a:latin typeface="Calibri"/>
              </a:rPr>
              <a:t>QLIKE fixes this by scoring the </a:t>
            </a:r>
            <a:r>
              <a:rPr sz="1363" b="1" i="1">
                <a:solidFill>
                  <a:srgbClr val="14213D"/>
                </a:solidFill>
                <a:latin typeface="Calibri"/>
              </a:rPr>
              <a:t>ratio</a:t>
            </a:r>
            <a:r>
              <a:rPr sz="1363" b="1" i="0">
                <a:solidFill>
                  <a:srgbClr val="14213D"/>
                </a:solidFill>
                <a:latin typeface="Calibri"/>
              </a:rPr>
              <a:t>, not the difference:</a:t>
            </a:r>
          </a:p>
        </p:txBody>
      </p:sp>
      <p:pic>
        <p:nvPicPr>
          <p:cNvPr id="12" name="Picture 11" descr="s18_3.png"/>
          <p:cNvPicPr>
            <a:picLocks noChangeAspect="1"/>
          </p:cNvPicPr>
          <p:nvPr/>
        </p:nvPicPr>
        <p:blipFill>
          <a:blip r:embed="rId3"/>
          <a:stretch>
            <a:fillRect/>
          </a:stretch>
        </p:blipFill>
        <p:spPr>
          <a:xfrm>
            <a:off x="4128637" y="2971759"/>
            <a:ext cx="3934420" cy="590336"/>
          </a:xfrm>
          <a:prstGeom prst="rect">
            <a:avLst/>
          </a:prstGeom>
        </p:spPr>
      </p:pic>
      <p:graphicFrame>
        <p:nvGraphicFramePr>
          <p:cNvPr id="13" name="Table 12"/>
          <p:cNvGraphicFramePr>
            <a:graphicFrameLocks noGrp="1"/>
          </p:cNvGraphicFramePr>
          <p:nvPr/>
        </p:nvGraphicFramePr>
        <p:xfrm>
          <a:off x="658368" y="3726687"/>
          <a:ext cx="10874958" cy="1157950"/>
        </p:xfrm>
        <a:graphic>
          <a:graphicData uri="http://schemas.openxmlformats.org/drawingml/2006/table">
            <a:tbl>
              <a:tblPr firstRow="1">
                <a:tableStyleId>{5C22544A-7EE6-4342-B048-85BDC9FD1C3A}</a:tableStyleId>
              </a:tblPr>
              <a:tblGrid>
                <a:gridCol w="6692282"/>
                <a:gridCol w="4182676"/>
              </a:tblGrid>
              <a:tr h="289487">
                <a:tc>
                  <a:txBody>
                    <a:bodyPr wrap="square"/>
                    <a:lstStyle/>
                    <a:p>
                      <a:pPr algn="l"/>
                      <a:r>
                        <a:rPr sz="1018" b="1" i="0">
                          <a:solidFill>
                            <a:srgbClr val="FFFFFF"/>
                          </a:solidFill>
                          <a:latin typeface="Calibri"/>
                        </a:rPr>
                        <a:t>If your forecast is...</a:t>
                      </a:r>
                    </a:p>
                  </a:txBody>
                  <a:tcPr marL="64008" marR="64008" marT="32004" marB="32004" anchor="ctr">
                    <a:solidFill>
                      <a:srgbClr val="1D5B8F"/>
                    </a:solidFill>
                  </a:tcPr>
                </a:tc>
                <a:tc>
                  <a:txBody>
                    <a:bodyPr wrap="square"/>
                    <a:lstStyle/>
                    <a:p>
                      <a:pPr algn="l"/>
                      <a:r>
                        <a:rPr sz="1018" b="1" i="0">
                          <a:solidFill>
                            <a:srgbClr val="FFFFFF"/>
                          </a:solidFill>
                          <a:latin typeface="Calibri"/>
                        </a:rPr>
                        <a:t>QLIKE says</a:t>
                      </a:r>
                    </a:p>
                  </a:txBody>
                  <a:tcPr marL="64008" marR="64008" marT="32004" marB="32004" anchor="ctr">
                    <a:solidFill>
                      <a:srgbClr val="1D5B8F"/>
                    </a:solidFill>
                  </a:tcPr>
                </a:tc>
              </a:tr>
              <a:tr h="289487">
                <a:tc>
                  <a:txBody>
                    <a:bodyPr wrap="square"/>
                    <a:lstStyle/>
                    <a:p>
                      <a:pPr algn="l"/>
                      <a:r>
                        <a:rPr sz="968" b="1" i="0">
                          <a:solidFill>
                            <a:srgbClr val="14213D"/>
                          </a:solidFill>
                          <a:latin typeface="Calibri"/>
                        </a:rPr>
                        <a:t>Exactly right (ratio = 1)</a:t>
                      </a:r>
                    </a:p>
                  </a:txBody>
                  <a:tcPr marL="64008" marR="64008" marT="32004" marB="32004" anchor="ctr">
                    <a:solidFill>
                      <a:srgbClr val="F4F7FA"/>
                    </a:solidFill>
                  </a:tcPr>
                </a:tc>
                <a:tc>
                  <a:txBody>
                    <a:bodyPr wrap="square"/>
                    <a:lstStyle/>
                    <a:p>
                      <a:pPr algn="l"/>
                      <a:r>
                        <a:rPr sz="968" b="1" i="0">
                          <a:solidFill>
                            <a:srgbClr val="14213D"/>
                          </a:solidFill>
                          <a:latin typeface="Calibri"/>
                        </a:rPr>
                        <a:t>0</a:t>
                      </a:r>
                      <a:r>
                        <a:rPr sz="968" b="0" i="0">
                          <a:solidFill>
                            <a:srgbClr val="14213D"/>
                          </a:solidFill>
                          <a:latin typeface="Calibri"/>
                        </a:rPr>
                        <a:t> — a perfect score</a:t>
                      </a:r>
                    </a:p>
                  </a:txBody>
                  <a:tcPr marL="64008" marR="64008" marT="32004" marB="32004" anchor="ctr">
                    <a:solidFill>
                      <a:srgbClr val="F4F7FA"/>
                    </a:solidFill>
                  </a:tcPr>
                </a:tc>
              </a:tr>
              <a:tr h="289487">
                <a:tc>
                  <a:txBody>
                    <a:bodyPr wrap="square"/>
                    <a:lstStyle/>
                    <a:p>
                      <a:pPr algn="l"/>
                      <a:r>
                        <a:rPr sz="968" b="1" i="0">
                          <a:solidFill>
                            <a:srgbClr val="14213D"/>
                          </a:solidFill>
                          <a:latin typeface="Calibri"/>
                        </a:rPr>
                        <a:t>Too low (you missed an incoming storm)</a:t>
                      </a:r>
                    </a:p>
                  </a:txBody>
                  <a:tcPr marL="64008" marR="64008" marT="32004" marB="32004" anchor="ctr">
                    <a:solidFill>
                      <a:srgbClr val="FFFFFF"/>
                    </a:solidFill>
                  </a:tcPr>
                </a:tc>
                <a:tc>
                  <a:txBody>
                    <a:bodyPr wrap="square"/>
                    <a:lstStyle/>
                    <a:p>
                      <a:pPr algn="l"/>
                      <a:r>
                        <a:rPr sz="968" b="1" i="0">
                          <a:solidFill>
                            <a:srgbClr val="14213D"/>
                          </a:solidFill>
                          <a:latin typeface="Calibri"/>
                        </a:rPr>
                        <a:t>Heavily punished</a:t>
                      </a:r>
                    </a:p>
                  </a:txBody>
                  <a:tcPr marL="64008" marR="64008" marT="32004" marB="32004" anchor="ctr">
                    <a:solidFill>
                      <a:srgbClr val="FFFFFF"/>
                    </a:solidFill>
                  </a:tcPr>
                </a:tc>
              </a:tr>
              <a:tr h="289489">
                <a:tc>
                  <a:txBody>
                    <a:bodyPr wrap="square"/>
                    <a:lstStyle/>
                    <a:p>
                      <a:pPr algn="l"/>
                      <a:r>
                        <a:rPr sz="968" b="1" i="0">
                          <a:solidFill>
                            <a:srgbClr val="14213D"/>
                          </a:solidFill>
                          <a:latin typeface="Calibri"/>
                        </a:rPr>
                        <a:t>Too high (you were over-cautious)</a:t>
                      </a:r>
                    </a:p>
                  </a:txBody>
                  <a:tcPr marL="64008" marR="64008" marT="32004" marB="32004" anchor="ctr">
                    <a:solidFill>
                      <a:srgbClr val="F4F7FA"/>
                    </a:solidFill>
                  </a:tcPr>
                </a:tc>
                <a:tc>
                  <a:txBody>
                    <a:bodyPr wrap="square"/>
                    <a:lstStyle/>
                    <a:p>
                      <a:pPr algn="l"/>
                      <a:r>
                        <a:rPr sz="968" b="0" i="0">
                          <a:solidFill>
                            <a:srgbClr val="2A3345"/>
                          </a:solidFill>
                          <a:latin typeface="Calibri"/>
                        </a:rPr>
                        <a:t>Punished, but </a:t>
                      </a:r>
                      <a:r>
                        <a:rPr sz="968" b="1" i="0">
                          <a:solidFill>
                            <a:srgbClr val="14213D"/>
                          </a:solidFill>
                          <a:latin typeface="Calibri"/>
                        </a:rPr>
                        <a:t>more gently</a:t>
                      </a:r>
                    </a:p>
                  </a:txBody>
                  <a:tcPr marL="64008" marR="64008" marT="32004" marB="32004" anchor="ctr">
                    <a:solidFill>
                      <a:srgbClr val="F4F7FA"/>
                    </a:solidFill>
                  </a:tcPr>
                </a:tc>
              </a:tr>
            </a:tbl>
          </a:graphicData>
        </a:graphic>
      </p:graphicFrame>
      <p:sp>
        <p:nvSpPr>
          <p:cNvPr id="14" name="TextBox 13"/>
          <p:cNvSpPr txBox="1"/>
          <p:nvPr/>
        </p:nvSpPr>
        <p:spPr>
          <a:xfrm>
            <a:off x="658368" y="5012654"/>
            <a:ext cx="10874959" cy="368035"/>
          </a:xfrm>
          <a:prstGeom prst="rect">
            <a:avLst/>
          </a:prstGeom>
          <a:noFill/>
        </p:spPr>
        <p:txBody>
          <a:bodyPr wrap="square" lIns="0" rIns="0" tIns="0" bIns="0">
            <a:spAutoFit/>
          </a:bodyPr>
          <a:lstStyle/>
          <a:p>
            <a:r>
              <a:rPr sz="1363" b="1" i="0">
                <a:solidFill>
                  <a:srgbClr val="14213D"/>
                </a:solidFill>
                <a:latin typeface="Calibri"/>
              </a:rPr>
              <a:t>Two reasons it's the right ruler here:</a:t>
            </a:r>
          </a:p>
        </p:txBody>
      </p:sp>
      <p:sp>
        <p:nvSpPr>
          <p:cNvPr id="15" name="TextBox 14"/>
          <p:cNvSpPr txBox="1"/>
          <p:nvPr/>
        </p:nvSpPr>
        <p:spPr>
          <a:xfrm>
            <a:off x="658368" y="5380690"/>
            <a:ext cx="10874959" cy="340603"/>
          </a:xfrm>
          <a:prstGeom prst="rect">
            <a:avLst/>
          </a:prstGeom>
          <a:noFill/>
        </p:spPr>
        <p:txBody>
          <a:bodyPr wrap="square" lIns="0" rIns="0" tIns="0" bIns="0">
            <a:spAutoFit/>
          </a:bodyPr>
          <a:lstStyle/>
          <a:p>
            <a:pPr marL="274320" indent="-274320"/>
            <a:r>
              <a:rPr sz="1363" b="0" i="0">
                <a:solidFill>
                  <a:srgbClr val="2A3345"/>
                </a:solidFill>
                <a:latin typeface="Calibri"/>
              </a:rPr>
              <a:t>1.  </a:t>
            </a:r>
            <a:r>
              <a:rPr sz="1363" b="1" i="0">
                <a:solidFill>
                  <a:srgbClr val="14213D"/>
                </a:solidFill>
                <a:latin typeface="Calibri"/>
              </a:rPr>
              <a:t>It's asymmetric on purpose.</a:t>
            </a:r>
            <a:r>
              <a:rPr sz="1363" b="0" i="0">
                <a:solidFill>
                  <a:srgbClr val="2A3345"/>
                </a:solidFill>
                <a:latin typeface="Calibri"/>
              </a:rPr>
              <a:t> Under-forecasting risk is the mistake that blows up institutions. QLIKE punishes it harder.</a:t>
            </a:r>
          </a:p>
        </p:txBody>
      </p:sp>
      <p:sp>
        <p:nvSpPr>
          <p:cNvPr id="16" name="TextBox 15"/>
          <p:cNvSpPr txBox="1"/>
          <p:nvPr/>
        </p:nvSpPr>
        <p:spPr>
          <a:xfrm>
            <a:off x="658368" y="5721294"/>
            <a:ext cx="10874959" cy="562335"/>
          </a:xfrm>
          <a:prstGeom prst="rect">
            <a:avLst/>
          </a:prstGeom>
          <a:noFill/>
        </p:spPr>
        <p:txBody>
          <a:bodyPr wrap="square" lIns="0" rIns="0" tIns="0" bIns="0">
            <a:spAutoFit/>
          </a:bodyPr>
          <a:lstStyle/>
          <a:p>
            <a:pPr marL="274320" indent="-274320"/>
            <a:r>
              <a:rPr sz="1363" b="0" i="0">
                <a:solidFill>
                  <a:srgbClr val="2A3345"/>
                </a:solidFill>
                <a:latin typeface="Calibri"/>
              </a:rPr>
              <a:t>2.  </a:t>
            </a:r>
            <a:r>
              <a:rPr sz="1363" b="1" i="0">
                <a:solidFill>
                  <a:srgbClr val="14213D"/>
                </a:solidFill>
                <a:latin typeface="Calibri"/>
              </a:rPr>
              <a:t>It's proxy-robust</a:t>
            </a:r>
            <a:r>
              <a:rPr sz="1363" b="0" i="0">
                <a:solidFill>
                  <a:srgbClr val="2A3345"/>
                </a:solidFill>
                <a:latin typeface="Calibri"/>
              </a:rPr>
              <a:t> (Patton, 2011). We never observe "true" volatility — only a noisy 20-day estimate of it. QLIKE ranks models correctly </a:t>
            </a:r>
            <a:r>
              <a:rPr sz="1363" b="0" i="1">
                <a:solidFill>
                  <a:srgbClr val="2A3345"/>
                </a:solidFill>
                <a:latin typeface="Calibri"/>
              </a:rPr>
              <a:t>despite</a:t>
            </a:r>
            <a:r>
              <a:rPr sz="1363" b="0" i="0">
                <a:solidFill>
                  <a:srgbClr val="2A3345"/>
                </a:solidFill>
                <a:latin typeface="Calibri"/>
              </a:rPr>
              <a:t> that noise. Squared error and MAPE do 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Two More Terms, Then No More Jargon</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19  ·  19/40</a:t>
            </a:r>
          </a:p>
        </p:txBody>
      </p:sp>
      <p:sp>
        <p:nvSpPr>
          <p:cNvPr id="7" name="TextBox 6"/>
          <p:cNvSpPr txBox="1"/>
          <p:nvPr/>
        </p:nvSpPr>
        <p:spPr>
          <a:xfrm>
            <a:off x="658368" y="2012086"/>
            <a:ext cx="10874959" cy="398272"/>
          </a:xfrm>
          <a:prstGeom prst="rect">
            <a:avLst/>
          </a:prstGeom>
          <a:noFill/>
        </p:spPr>
        <p:txBody>
          <a:bodyPr wrap="square" lIns="0" rIns="0" tIns="0" bIns="0">
            <a:spAutoFit/>
          </a:bodyPr>
          <a:lstStyle/>
          <a:p>
            <a:r>
              <a:rPr sz="1550" b="1" i="0">
                <a:solidFill>
                  <a:srgbClr val="14213D"/>
                </a:solidFill>
                <a:latin typeface="Calibri"/>
              </a:rPr>
              <a:t>Loss differential (d_t):</a:t>
            </a:r>
          </a:p>
        </p:txBody>
      </p:sp>
      <p:sp>
        <p:nvSpPr>
          <p:cNvPr id="8" name="Rectangle 7"/>
          <p:cNvSpPr/>
          <p:nvPr/>
        </p:nvSpPr>
        <p:spPr>
          <a:xfrm>
            <a:off x="658368" y="2410358"/>
            <a:ext cx="10874959" cy="123748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410358"/>
            <a:ext cx="50292" cy="123748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01798"/>
            <a:ext cx="10463479" cy="1054608"/>
          </a:xfrm>
          <a:prstGeom prst="rect">
            <a:avLst/>
          </a:prstGeom>
          <a:noFill/>
        </p:spPr>
        <p:txBody>
          <a:bodyPr wrap="square" lIns="0" rIns="0" tIns="0" bIns="0">
            <a:spAutoFit/>
          </a:bodyPr>
          <a:lstStyle/>
          <a:p>
            <a:r>
              <a:rPr sz="1600" b="0" i="0">
                <a:solidFill>
                  <a:srgbClr val="14213D"/>
                </a:solidFill>
                <a:latin typeface="Calibri"/>
              </a:rPr>
              <a:t>On each test day, score both models with QLIKE, then subtract: </a:t>
            </a:r>
            <a:r>
              <a:rPr sz="1600" b="1" i="0">
                <a:solidFill>
                  <a:srgbClr val="14213D"/>
                </a:solidFill>
                <a:latin typeface="Calibri"/>
              </a:rPr>
              <a:t>d_t = (baseline's loss) − (my model's loss)</a:t>
            </a:r>
            <a:r>
              <a:rPr sz="1600" b="0" i="0">
                <a:solidFill>
                  <a:srgbClr val="14213D"/>
                </a:solidFill>
                <a:latin typeface="Calibri"/>
              </a:rPr>
              <a:t> </a:t>
            </a:r>
            <a:r>
              <a:rPr sz="1600" b="1" i="0">
                <a:solidFill>
                  <a:srgbClr val="14213D"/>
                </a:solidFill>
                <a:latin typeface="Calibri"/>
              </a:rPr>
              <a:t>d_t &gt; 0 means my model lost less — my model won that day.</a:t>
            </a:r>
            <a:r>
              <a:rPr sz="1600" b="0" i="0">
                <a:solidFill>
                  <a:srgbClr val="14213D"/>
                </a:solidFill>
                <a:latin typeface="Calibri"/>
              </a:rPr>
              <a:t> Computed as the average across the ten countries, once per day.</a:t>
            </a:r>
          </a:p>
        </p:txBody>
      </p:sp>
      <p:sp>
        <p:nvSpPr>
          <p:cNvPr id="11" name="TextBox 10"/>
          <p:cNvSpPr txBox="1"/>
          <p:nvPr/>
        </p:nvSpPr>
        <p:spPr>
          <a:xfrm>
            <a:off x="658368" y="3775862"/>
            <a:ext cx="10874959" cy="398272"/>
          </a:xfrm>
          <a:prstGeom prst="rect">
            <a:avLst/>
          </a:prstGeom>
          <a:noFill/>
        </p:spPr>
        <p:txBody>
          <a:bodyPr wrap="square" lIns="0" rIns="0" tIns="0" bIns="0">
            <a:spAutoFit/>
          </a:bodyPr>
          <a:lstStyle/>
          <a:p>
            <a:r>
              <a:rPr sz="1550" b="1" i="0">
                <a:solidFill>
                  <a:srgbClr val="14213D"/>
                </a:solidFill>
                <a:latin typeface="Calibri"/>
              </a:rPr>
              <a:t>Giacomini–White test:</a:t>
            </a:r>
          </a:p>
        </p:txBody>
      </p:sp>
      <p:sp>
        <p:nvSpPr>
          <p:cNvPr id="12" name="Rectangle 11"/>
          <p:cNvSpPr/>
          <p:nvPr/>
        </p:nvSpPr>
        <p:spPr>
          <a:xfrm>
            <a:off x="658368" y="4174134"/>
            <a:ext cx="10874959" cy="1497584"/>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4174134"/>
            <a:ext cx="50292" cy="1497584"/>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4265574"/>
            <a:ext cx="10463479" cy="1314704"/>
          </a:xfrm>
          <a:prstGeom prst="rect">
            <a:avLst/>
          </a:prstGeom>
          <a:noFill/>
        </p:spPr>
        <p:txBody>
          <a:bodyPr wrap="square" lIns="0" rIns="0" tIns="0" bIns="0">
            <a:spAutoFit/>
          </a:bodyPr>
          <a:lstStyle/>
          <a:p>
            <a:r>
              <a:rPr sz="1600" b="0" i="0">
                <a:solidFill>
                  <a:srgbClr val="14213D"/>
                </a:solidFill>
                <a:latin typeface="Calibri"/>
              </a:rPr>
              <a:t>"Is the average of those daily wins reliably above zero — or just a lucky streak?" It's a t-test with two adjustments: </a:t>
            </a:r>
            <a:r>
              <a:rPr sz="1600" b="1" i="0">
                <a:solidFill>
                  <a:srgbClr val="14213D"/>
                </a:solidFill>
                <a:latin typeface="Calibri"/>
              </a:rPr>
              <a:t>HAC standard errors</a:t>
            </a:r>
            <a:r>
              <a:rPr sz="1600" b="0" i="0">
                <a:solidFill>
                  <a:srgbClr val="14213D"/>
                </a:solidFill>
                <a:latin typeface="Calibri"/>
              </a:rPr>
              <a:t> (because a good day tends to be followed by another good day, so the days aren't independent), and it stays valid when one model </a:t>
            </a:r>
            <a:r>
              <a:rPr sz="1600" b="0" i="1">
                <a:solidFill>
                  <a:srgbClr val="14213D"/>
                </a:solidFill>
                <a:latin typeface="Calibri"/>
              </a:rPr>
              <a:t>contains</a:t>
            </a:r>
            <a:r>
              <a:rPr sz="1600" b="0" i="0">
                <a:solidFill>
                  <a:srgbClr val="14213D"/>
                </a:solidFill>
                <a:latin typeface="Calibri"/>
              </a:rPr>
              <a:t> the other as a special case — which is exactly our situation at α = 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H1a — "Does It Work At All?"</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20  ·  20/40</a:t>
            </a:r>
          </a:p>
        </p:txBody>
      </p:sp>
      <p:graphicFrame>
        <p:nvGraphicFramePr>
          <p:cNvPr id="7" name="Table 6"/>
          <p:cNvGraphicFramePr>
            <a:graphicFrameLocks noGrp="1"/>
          </p:cNvGraphicFramePr>
          <p:nvPr/>
        </p:nvGraphicFramePr>
        <p:xfrm>
          <a:off x="658368" y="2148840"/>
          <a:ext cx="10874958" cy="670941"/>
        </p:xfrm>
        <a:graphic>
          <a:graphicData uri="http://schemas.openxmlformats.org/drawingml/2006/table">
            <a:tbl>
              <a:tblPr>
                <a:tableStyleId>{5C22544A-7EE6-4342-B048-85BDC9FD1C3A}</a:tableStyleId>
              </a:tblPr>
              <a:tblGrid>
                <a:gridCol w="393307"/>
                <a:gridCol w="10481651"/>
              </a:tblGrid>
              <a:tr h="335470">
                <a:tc>
                  <a:txBody>
                    <a:bodyPr wrap="square"/>
                    <a:lstStyle/>
                    <a:p>
                      <a:pPr algn="l"/>
                      <a:r>
                        <a:rPr sz="1100" b="1" i="0">
                          <a:solidFill>
                            <a:srgbClr val="14213D"/>
                          </a:solidFill>
                          <a:latin typeface="Calibri"/>
                        </a:rPr>
                        <a:t>H₀</a:t>
                      </a:r>
                    </a:p>
                  </a:txBody>
                  <a:tcPr marL="64008" marR="64008" marT="32004" marB="32004" anchor="ctr">
                    <a:solidFill>
                      <a:srgbClr val="F4F7FA"/>
                    </a:solidFill>
                  </a:tcPr>
                </a:tc>
                <a:tc>
                  <a:txBody>
                    <a:bodyPr wrap="square"/>
                    <a:lstStyle/>
                    <a:p>
                      <a:pPr algn="l"/>
                      <a:r>
                        <a:rPr sz="1100" b="0" i="0">
                          <a:solidFill>
                            <a:srgbClr val="2A3345"/>
                          </a:solidFill>
                          <a:latin typeface="Calibri"/>
                        </a:rPr>
                        <a:t>Across the test period, my model and the baseline are equally accurate. Any difference is sampling noise. </a:t>
                      </a:r>
                      <a:r>
                        <a:rPr sz="1100" b="0" i="1">
                          <a:solidFill>
                            <a:srgbClr val="2A3345"/>
                          </a:solidFill>
                          <a:latin typeface="Calibri"/>
                        </a:rPr>
                        <a:t>(average d_t = 0)</a:t>
                      </a:r>
                    </a:p>
                  </a:txBody>
                  <a:tcPr marL="64008" marR="64008" marT="32004" marB="32004" anchor="ctr">
                    <a:solidFill>
                      <a:srgbClr val="F4F7FA"/>
                    </a:solidFill>
                  </a:tcPr>
                </a:tc>
              </a:tr>
              <a:tr h="335471">
                <a:tc>
                  <a:txBody>
                    <a:bodyPr wrap="square"/>
                    <a:lstStyle/>
                    <a:p>
                      <a:pPr algn="l"/>
                      <a:r>
                        <a:rPr sz="1100" b="1" i="0">
                          <a:solidFill>
                            <a:srgbClr val="14213D"/>
                          </a:solidFill>
                          <a:latin typeface="Calibri"/>
                        </a:rPr>
                        <a:t>H₁</a:t>
                      </a:r>
                    </a:p>
                  </a:txBody>
                  <a:tcPr marL="64008" marR="64008" marT="32004" marB="32004" anchor="ctr">
                    <a:solidFill>
                      <a:srgbClr val="FFFFFF"/>
                    </a:solidFill>
                  </a:tcPr>
                </a:tc>
                <a:tc>
                  <a:txBody>
                    <a:bodyPr wrap="square"/>
                    <a:lstStyle/>
                    <a:p>
                      <a:pPr algn="l"/>
                      <a:r>
                        <a:rPr sz="1100" b="0" i="0">
                          <a:solidFill>
                            <a:srgbClr val="2A3345"/>
                          </a:solidFill>
                          <a:latin typeface="Calibri"/>
                        </a:rPr>
                        <a:t>My model has strictly lower expected loss. </a:t>
                      </a:r>
                      <a:r>
                        <a:rPr sz="1100" b="0" i="1">
                          <a:solidFill>
                            <a:srgbClr val="2A3345"/>
                          </a:solidFill>
                          <a:latin typeface="Calibri"/>
                        </a:rPr>
                        <a:t>(average d_t &gt; 0)</a:t>
                      </a:r>
                    </a:p>
                  </a:txBody>
                  <a:tcPr marL="64008" marR="64008" marT="32004" marB="32004" anchor="ctr">
                    <a:solidFill>
                      <a:srgbClr val="FFFFFF"/>
                    </a:solidFill>
                  </a:tcPr>
                </a:tc>
              </a:tr>
            </a:tbl>
          </a:graphicData>
        </a:graphic>
      </p:graphicFrame>
      <p:sp>
        <p:nvSpPr>
          <p:cNvPr id="8" name="TextBox 7"/>
          <p:cNvSpPr txBox="1"/>
          <p:nvPr/>
        </p:nvSpPr>
        <p:spPr>
          <a:xfrm>
            <a:off x="658368" y="2947797"/>
            <a:ext cx="10874959" cy="650240"/>
          </a:xfrm>
          <a:prstGeom prst="rect">
            <a:avLst/>
          </a:prstGeom>
          <a:noFill/>
        </p:spPr>
        <p:txBody>
          <a:bodyPr wrap="square" lIns="0" rIns="0" tIns="0" bIns="0">
            <a:spAutoFit/>
          </a:bodyPr>
          <a:lstStyle/>
          <a:p>
            <a:r>
              <a:rPr sz="1550" b="1" i="0">
                <a:solidFill>
                  <a:srgbClr val="14213D"/>
                </a:solidFill>
                <a:latin typeface="Calibri"/>
              </a:rPr>
              <a:t>Test:</a:t>
            </a:r>
            <a:r>
              <a:rPr sz="1550" b="0" i="0">
                <a:solidFill>
                  <a:srgbClr val="2A3345"/>
                </a:solidFill>
                <a:latin typeface="Calibri"/>
              </a:rPr>
              <a:t> Giacomini–White, HAC-robust, one-sided. Reported alongside HLN-corrected Diebold–Mariano, plus RMSE and MAE as secondary losses.</a:t>
            </a:r>
          </a:p>
        </p:txBody>
      </p:sp>
      <p:sp>
        <p:nvSpPr>
          <p:cNvPr id="9" name="Rectangle 8"/>
          <p:cNvSpPr/>
          <p:nvPr/>
        </p:nvSpPr>
        <p:spPr>
          <a:xfrm>
            <a:off x="658368" y="3598037"/>
            <a:ext cx="10874959" cy="123748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598037"/>
            <a:ext cx="50292" cy="123748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689476"/>
            <a:ext cx="10463479" cy="1054608"/>
          </a:xfrm>
          <a:prstGeom prst="rect">
            <a:avLst/>
          </a:prstGeom>
          <a:noFill/>
        </p:spPr>
        <p:txBody>
          <a:bodyPr wrap="square" lIns="0" rIns="0" tIns="0" bIns="0">
            <a:spAutoFit/>
          </a:bodyPr>
          <a:lstStyle/>
          <a:p>
            <a:r>
              <a:rPr sz="1600" b="1" i="0">
                <a:solidFill>
                  <a:srgbClr val="14213D"/>
                </a:solidFill>
                <a:latin typeface="Calibri"/>
              </a:rPr>
              <a:t>Why this hypothesis exists:</a:t>
            </a:r>
            <a:r>
              <a:rPr sz="1600" b="0" i="0">
                <a:solidFill>
                  <a:srgbClr val="14213D"/>
                </a:solidFill>
                <a:latin typeface="Calibri"/>
              </a:rPr>
              <a:t> it's the basic sanity check. Take every test day, see how badly each model missed, subtract, and ask whether the average difference is reliably above zero. It answers </a:t>
            </a:r>
            <a:r>
              <a:rPr sz="1600" b="0" i="1">
                <a:solidFill>
                  <a:srgbClr val="14213D"/>
                </a:solidFill>
                <a:latin typeface="Calibri"/>
              </a:rPr>
              <a:t>"is it better on average?"</a:t>
            </a:r>
            <a:r>
              <a:rPr sz="1600" b="0" i="0">
                <a:solidFill>
                  <a:srgbClr val="14213D"/>
                </a:solidFill>
                <a:latin typeface="Calibri"/>
              </a:rPr>
              <a:t> — </a:t>
            </a:r>
            <a:r>
              <a:rPr sz="1600" b="1" i="0">
                <a:solidFill>
                  <a:srgbClr val="14213D"/>
                </a:solidFill>
                <a:latin typeface="Calibri"/>
              </a:rPr>
              <a:t>nothing about when, and nothing about why.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H1b — The Hypothesis the Thesis Actually Rests On</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23906" y="566928"/>
            <a:ext cx="1309420" cy="274320"/>
          </a:xfrm>
          <a:prstGeom prst="rect">
            <a:avLst/>
          </a:prstGeom>
          <a:solidFill>
            <a:srgbClr val="7A2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23906" y="608076"/>
            <a:ext cx="1309420" cy="237744"/>
          </a:xfrm>
          <a:prstGeom prst="rect">
            <a:avLst/>
          </a:prstGeom>
          <a:noFill/>
        </p:spPr>
        <p:txBody>
          <a:bodyPr wrap="square" lIns="0" rIns="0" tIns="0" bIns="0">
            <a:spAutoFit/>
          </a:bodyPr>
          <a:lstStyle/>
          <a:p>
            <a:pPr algn="ctr"/>
            <a:r>
              <a:rPr sz="1050" b="1" i="0">
                <a:solidFill>
                  <a:srgbClr val="FFFFFF"/>
                </a:solidFill>
                <a:latin typeface="Calibri"/>
              </a:rPr>
              <a:t>THE CORE CLAIM</a:t>
            </a:r>
          </a:p>
        </p:txBody>
      </p:sp>
      <p:sp>
        <p:nvSpPr>
          <p:cNvPr id="7" name="TextBox 6"/>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8" name="TextBox 7"/>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21  ·  21/40</a:t>
            </a:r>
          </a:p>
        </p:txBody>
      </p:sp>
      <p:graphicFrame>
        <p:nvGraphicFramePr>
          <p:cNvPr id="9" name="Table 8"/>
          <p:cNvGraphicFramePr>
            <a:graphicFrameLocks noGrp="1"/>
          </p:cNvGraphicFramePr>
          <p:nvPr/>
        </p:nvGraphicFramePr>
        <p:xfrm>
          <a:off x="658368" y="1645920"/>
          <a:ext cx="10874958" cy="854964"/>
        </p:xfrm>
        <a:graphic>
          <a:graphicData uri="http://schemas.openxmlformats.org/drawingml/2006/table">
            <a:tbl>
              <a:tblPr>
                <a:tableStyleId>{5C22544A-7EE6-4342-B048-85BDC9FD1C3A}</a:tableStyleId>
              </a:tblPr>
              <a:tblGrid>
                <a:gridCol w="356123"/>
                <a:gridCol w="10518835"/>
              </a:tblGrid>
              <a:tr h="427482">
                <a:tc>
                  <a:txBody>
                    <a:bodyPr wrap="square"/>
                    <a:lstStyle/>
                    <a:p>
                      <a:pPr algn="l"/>
                      <a:r>
                        <a:rPr sz="1100" b="1" i="0">
                          <a:solidFill>
                            <a:srgbClr val="14213D"/>
                          </a:solidFill>
                          <a:latin typeface="Calibri"/>
                        </a:rPr>
                        <a:t>H₀</a:t>
                      </a:r>
                    </a:p>
                  </a:txBody>
                  <a:tcPr marL="64008" marR="64008" marT="32004" marB="32004" anchor="ctr">
                    <a:solidFill>
                      <a:srgbClr val="F4F7FA"/>
                    </a:solidFill>
                  </a:tcPr>
                </a:tc>
                <a:tc>
                  <a:txBody>
                    <a:bodyPr wrap="square"/>
                    <a:lstStyle/>
                    <a:p>
                      <a:pPr algn="l"/>
                      <a:r>
                        <a:rPr sz="1100" b="0" i="0">
                          <a:solidFill>
                            <a:srgbClr val="2A3345"/>
                          </a:solidFill>
                          <a:latin typeface="Calibri"/>
                        </a:rPr>
                        <a:t>Whatever advantage exists, it is </a:t>
                      </a:r>
                      <a:r>
                        <a:rPr sz="1100" b="1" i="0">
                          <a:solidFill>
                            <a:srgbClr val="14213D"/>
                          </a:solidFill>
                          <a:latin typeface="Calibri"/>
                        </a:rPr>
                        <a:t>the same</a:t>
                      </a:r>
                      <a:r>
                        <a:rPr sz="1100" b="0" i="0">
                          <a:solidFill>
                            <a:srgbClr val="2A3345"/>
                          </a:solidFill>
                          <a:latin typeface="Calibri"/>
                        </a:rPr>
                        <a:t> in turbulent and calm markets. The regime indicator carries no information about when the Rényi model wins. </a:t>
                      </a:r>
                      <a:r>
                        <a:rPr sz="1100" b="0" i="1">
                          <a:solidFill>
                            <a:srgbClr val="2A3345"/>
                          </a:solidFill>
                          <a:latin typeface="Calibri"/>
                        </a:rPr>
                        <a:t>(β₁ = 0)</a:t>
                      </a:r>
                    </a:p>
                  </a:txBody>
                  <a:tcPr marL="64008" marR="64008" marT="32004" marB="32004" anchor="ctr">
                    <a:solidFill>
                      <a:srgbClr val="F4F7FA"/>
                    </a:solidFill>
                  </a:tcPr>
                </a:tc>
              </a:tr>
              <a:tr h="427482">
                <a:tc>
                  <a:txBody>
                    <a:bodyPr wrap="square"/>
                    <a:lstStyle/>
                    <a:p>
                      <a:pPr algn="l"/>
                      <a:r>
                        <a:rPr sz="1100" b="1" i="0">
                          <a:solidFill>
                            <a:srgbClr val="14213D"/>
                          </a:solidFill>
                          <a:latin typeface="Calibri"/>
                        </a:rPr>
                        <a:t>H₁</a:t>
                      </a:r>
                    </a:p>
                  </a:txBody>
                  <a:tcPr marL="64008" marR="64008" marT="32004" marB="32004" anchor="ctr">
                    <a:solidFill>
                      <a:srgbClr val="FFFFFF"/>
                    </a:solidFill>
                  </a:tcPr>
                </a:tc>
                <a:tc>
                  <a:txBody>
                    <a:bodyPr wrap="square"/>
                    <a:lstStyle/>
                    <a:p>
                      <a:pPr algn="l"/>
                      <a:r>
                        <a:rPr sz="1100" b="0" i="0">
                          <a:solidFill>
                            <a:srgbClr val="2A3345"/>
                          </a:solidFill>
                          <a:latin typeface="Calibri"/>
                        </a:rPr>
                        <a:t>The advantage is </a:t>
                      </a:r>
                      <a:r>
                        <a:rPr sz="1100" b="1" i="0">
                          <a:solidFill>
                            <a:srgbClr val="14213D"/>
                          </a:solidFill>
                          <a:latin typeface="Calibri"/>
                        </a:rPr>
                        <a:t>concentrated in turbulence</a:t>
                      </a:r>
                      <a:r>
                        <a:rPr sz="1100" b="0" i="0">
                          <a:solidFill>
                            <a:srgbClr val="2A3345"/>
                          </a:solidFill>
                          <a:latin typeface="Calibri"/>
                        </a:rPr>
                        <a:t> — the gain is systematically larger on days following an anti-persistent (H &lt; 0.5) signal. </a:t>
                      </a:r>
                      <a:r>
                        <a:rPr sz="1100" b="0" i="1">
                          <a:solidFill>
                            <a:srgbClr val="2A3345"/>
                          </a:solidFill>
                          <a:latin typeface="Calibri"/>
                        </a:rPr>
                        <a:t>(β₁ &gt; 0)</a:t>
                      </a:r>
                    </a:p>
                  </a:txBody>
                  <a:tcPr marL="64008" marR="64008" marT="32004" marB="32004" anchor="ctr">
                    <a:solidFill>
                      <a:srgbClr val="FFFFFF"/>
                    </a:solidFill>
                  </a:tcPr>
                </a:tc>
              </a:tr>
            </a:tbl>
          </a:graphicData>
        </a:graphic>
      </p:graphicFrame>
      <p:sp>
        <p:nvSpPr>
          <p:cNvPr id="10" name="TextBox 9"/>
          <p:cNvSpPr txBox="1"/>
          <p:nvPr/>
        </p:nvSpPr>
        <p:spPr>
          <a:xfrm>
            <a:off x="658368" y="2628900"/>
            <a:ext cx="10874959" cy="398272"/>
          </a:xfrm>
          <a:prstGeom prst="rect">
            <a:avLst/>
          </a:prstGeom>
          <a:noFill/>
        </p:spPr>
        <p:txBody>
          <a:bodyPr wrap="square" lIns="0" rIns="0" tIns="0" bIns="0">
            <a:spAutoFit/>
          </a:bodyPr>
          <a:lstStyle/>
          <a:p>
            <a:r>
              <a:rPr sz="1550" b="1" i="0">
                <a:solidFill>
                  <a:srgbClr val="14213D"/>
                </a:solidFill>
                <a:latin typeface="Calibri"/>
              </a:rPr>
              <a:t>The regression:</a:t>
            </a:r>
          </a:p>
        </p:txBody>
      </p:sp>
      <p:pic>
        <p:nvPicPr>
          <p:cNvPr id="11" name="Picture 10" descr="s21_2.png"/>
          <p:cNvPicPr>
            <a:picLocks noChangeAspect="1"/>
          </p:cNvPicPr>
          <p:nvPr/>
        </p:nvPicPr>
        <p:blipFill>
          <a:blip r:embed="rId3"/>
          <a:stretch>
            <a:fillRect/>
          </a:stretch>
        </p:blipFill>
        <p:spPr>
          <a:xfrm>
            <a:off x="2377385" y="3027172"/>
            <a:ext cx="7436924" cy="658368"/>
          </a:xfrm>
          <a:prstGeom prst="rect">
            <a:avLst/>
          </a:prstGeom>
        </p:spPr>
      </p:pic>
      <p:sp>
        <p:nvSpPr>
          <p:cNvPr id="12" name="TextBox 11"/>
          <p:cNvSpPr txBox="1"/>
          <p:nvPr/>
        </p:nvSpPr>
        <p:spPr>
          <a:xfrm>
            <a:off x="658368" y="3850132"/>
            <a:ext cx="10874959" cy="370840"/>
          </a:xfrm>
          <a:prstGeom prst="rect">
            <a:avLst/>
          </a:prstGeom>
          <a:noFill/>
        </p:spPr>
        <p:txBody>
          <a:bodyPr wrap="square" lIns="0" rIns="0" tIns="0" bIns="0">
            <a:spAutoFit/>
          </a:bodyPr>
          <a:lstStyle/>
          <a:p>
            <a:pPr marL="237744" indent="-237744"/>
            <a:r>
              <a:rPr sz="1550">
                <a:solidFill>
                  <a:srgbClr val="1D5B8F"/>
                </a:solidFill>
                <a:latin typeface="Calibri"/>
              </a:rPr>
              <a:t>▪  </a:t>
            </a:r>
            <a:r>
              <a:rPr sz="1550" b="1" i="0">
                <a:solidFill>
                  <a:srgbClr val="14213D"/>
                </a:solidFill>
                <a:latin typeface="Calibri"/>
              </a:rPr>
              <a:t>β₀</a:t>
            </a:r>
            <a:r>
              <a:rPr sz="1550" b="0" i="0">
                <a:solidFill>
                  <a:srgbClr val="2A3345"/>
                </a:solidFill>
                <a:latin typeface="Calibri"/>
              </a:rPr>
              <a:t> = my advantage in calm markets</a:t>
            </a:r>
          </a:p>
        </p:txBody>
      </p:sp>
      <p:sp>
        <p:nvSpPr>
          <p:cNvPr id="13" name="TextBox 12"/>
          <p:cNvSpPr txBox="1"/>
          <p:nvPr/>
        </p:nvSpPr>
        <p:spPr>
          <a:xfrm>
            <a:off x="658368" y="4220972"/>
            <a:ext cx="10874959" cy="370840"/>
          </a:xfrm>
          <a:prstGeom prst="rect">
            <a:avLst/>
          </a:prstGeom>
          <a:noFill/>
        </p:spPr>
        <p:txBody>
          <a:bodyPr wrap="square" lIns="0" rIns="0" tIns="0" bIns="0">
            <a:spAutoFit/>
          </a:bodyPr>
          <a:lstStyle/>
          <a:p>
            <a:pPr marL="237744" indent="-237744"/>
            <a:r>
              <a:rPr sz="1550">
                <a:solidFill>
                  <a:srgbClr val="1D5B8F"/>
                </a:solidFill>
                <a:latin typeface="Calibri"/>
              </a:rPr>
              <a:t>▪  </a:t>
            </a:r>
            <a:r>
              <a:rPr sz="1550" b="1" i="0">
                <a:solidFill>
                  <a:srgbClr val="14213D"/>
                </a:solidFill>
                <a:latin typeface="Calibri"/>
              </a:rPr>
              <a:t>β₁</a:t>
            </a:r>
            <a:r>
              <a:rPr sz="1550" b="0" i="0">
                <a:solidFill>
                  <a:srgbClr val="2A3345"/>
                </a:solidFill>
                <a:latin typeface="Calibri"/>
              </a:rPr>
              <a:t> = the </a:t>
            </a:r>
            <a:r>
              <a:rPr sz="1550" b="0" i="1">
                <a:solidFill>
                  <a:srgbClr val="2A3345"/>
                </a:solidFill>
                <a:latin typeface="Calibri"/>
              </a:rPr>
              <a:t>extra</a:t>
            </a:r>
            <a:r>
              <a:rPr sz="1550" b="0" i="0">
                <a:solidFill>
                  <a:srgbClr val="2A3345"/>
                </a:solidFill>
                <a:latin typeface="Calibri"/>
              </a:rPr>
              <a:t> advantage in turbulence ← </a:t>
            </a:r>
            <a:r>
              <a:rPr sz="1550" b="1" i="0">
                <a:solidFill>
                  <a:srgbClr val="14213D"/>
                </a:solidFill>
                <a:latin typeface="Calibri"/>
              </a:rPr>
              <a:t>the number the thesis rests on</a:t>
            </a:r>
          </a:p>
        </p:txBody>
      </p:sp>
      <p:sp>
        <p:nvSpPr>
          <p:cNvPr id="14" name="TextBox 13"/>
          <p:cNvSpPr txBox="1"/>
          <p:nvPr/>
        </p:nvSpPr>
        <p:spPr>
          <a:xfrm>
            <a:off x="658368" y="4591812"/>
            <a:ext cx="10874959" cy="902208"/>
          </a:xfrm>
          <a:prstGeom prst="rect">
            <a:avLst/>
          </a:prstGeom>
          <a:noFill/>
        </p:spPr>
        <p:txBody>
          <a:bodyPr wrap="square" lIns="0" rIns="0" tIns="0" bIns="0">
            <a:spAutoFit/>
          </a:bodyPr>
          <a:lstStyle/>
          <a:p>
            <a:r>
              <a:rPr sz="1550" b="1" i="0">
                <a:solidFill>
                  <a:srgbClr val="14213D"/>
                </a:solidFill>
                <a:latin typeface="Calibri"/>
              </a:rPr>
              <a:t>Why this is the real claim:</a:t>
            </a:r>
            <a:r>
              <a:rPr sz="1550" b="0" i="0">
                <a:solidFill>
                  <a:srgbClr val="2A3345"/>
                </a:solidFill>
                <a:latin typeface="Calibri"/>
              </a:rPr>
              <a:t> α &lt; 1 up-weights the tails of the return distribution. Tails only matter when returns are non-Gaussian. That's what crises </a:t>
            </a:r>
            <a:r>
              <a:rPr sz="1550" b="0" i="1">
                <a:solidFill>
                  <a:srgbClr val="2A3345"/>
                </a:solidFill>
                <a:latin typeface="Calibri"/>
              </a:rPr>
              <a:t>are</a:t>
            </a:r>
            <a:r>
              <a:rPr sz="1550" b="0" i="0">
                <a:solidFill>
                  <a:srgbClr val="2A3345"/>
                </a:solidFill>
                <a:latin typeface="Calibri"/>
              </a:rPr>
              <a:t>. So the mechanism I claim predicts something specific and falsifiable: </a:t>
            </a:r>
            <a:r>
              <a:rPr sz="1550" b="1" i="0">
                <a:solidFill>
                  <a:srgbClr val="14213D"/>
                </a:solidFill>
                <a:latin typeface="Calibri"/>
              </a:rPr>
              <a:t>not "is the gain positive" but "is the gain bigger when the market is turbulent."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Where the H1b Numbers Come From</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465308" y="566928"/>
            <a:ext cx="1068019" cy="274320"/>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65308" y="608076"/>
            <a:ext cx="1068019" cy="237744"/>
          </a:xfrm>
          <a:prstGeom prst="rect">
            <a:avLst/>
          </a:prstGeom>
          <a:noFill/>
        </p:spPr>
        <p:txBody>
          <a:bodyPr wrap="square" lIns="0" rIns="0" tIns="0" bIns="0">
            <a:spAutoFit/>
          </a:bodyPr>
          <a:lstStyle/>
          <a:p>
            <a:pPr algn="ctr"/>
            <a:r>
              <a:rPr sz="1050" b="1" i="0">
                <a:solidFill>
                  <a:srgbClr val="FFFFFF"/>
                </a:solidFill>
                <a:latin typeface="Calibri"/>
              </a:rPr>
              <a:t>KEY CONCEPT</a:t>
            </a:r>
          </a:p>
        </p:txBody>
      </p:sp>
      <p:sp>
        <p:nvSpPr>
          <p:cNvPr id="7" name="TextBox 6"/>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8" name="TextBox 7"/>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21b  ·  22/40</a:t>
            </a:r>
          </a:p>
        </p:txBody>
      </p:sp>
      <p:sp>
        <p:nvSpPr>
          <p:cNvPr id="9" name="TextBox 8"/>
          <p:cNvSpPr txBox="1"/>
          <p:nvPr/>
        </p:nvSpPr>
        <p:spPr>
          <a:xfrm>
            <a:off x="658368" y="1645920"/>
            <a:ext cx="10874959" cy="398272"/>
          </a:xfrm>
          <a:prstGeom prst="rect">
            <a:avLst/>
          </a:prstGeom>
          <a:noFill/>
        </p:spPr>
        <p:txBody>
          <a:bodyPr wrap="square" lIns="0" rIns="0" tIns="0" bIns="0">
            <a:spAutoFit/>
          </a:bodyPr>
          <a:lstStyle/>
          <a:p>
            <a:r>
              <a:rPr sz="1550" b="0" i="0">
                <a:solidFill>
                  <a:srgbClr val="2A3345"/>
                </a:solidFill>
                <a:latin typeface="Calibri"/>
              </a:rPr>
              <a:t>Four steps, on six real test days: </a:t>
            </a:r>
            <a:r>
              <a:rPr sz="1550" b="1" i="0">
                <a:solidFill>
                  <a:srgbClr val="14213D"/>
                </a:solidFill>
                <a:latin typeface="Calibri"/>
              </a:rPr>
              <a:t>score → subtract → sort → decide.</a:t>
            </a:r>
          </a:p>
        </p:txBody>
      </p:sp>
      <p:pic>
        <p:nvPicPr>
          <p:cNvPr id="10" name="Picture 9" descr="S21_h1b_walkthrough.png"/>
          <p:cNvPicPr>
            <a:picLocks noChangeAspect="1"/>
          </p:cNvPicPr>
          <p:nvPr/>
        </p:nvPicPr>
        <p:blipFill>
          <a:blip r:embed="rId3"/>
          <a:stretch>
            <a:fillRect/>
          </a:stretch>
        </p:blipFill>
        <p:spPr>
          <a:xfrm>
            <a:off x="1155757" y="2135632"/>
            <a:ext cx="9880180" cy="421030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The Experimental Setup</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22  ·  23/40</a:t>
            </a:r>
          </a:p>
        </p:txBody>
      </p:sp>
      <p:graphicFrame>
        <p:nvGraphicFramePr>
          <p:cNvPr id="7" name="Table 6"/>
          <p:cNvGraphicFramePr>
            <a:graphicFrameLocks noGrp="1"/>
          </p:cNvGraphicFramePr>
          <p:nvPr/>
        </p:nvGraphicFramePr>
        <p:xfrm>
          <a:off x="658368" y="2148840"/>
          <a:ext cx="10874958" cy="1704213"/>
        </p:xfrm>
        <a:graphic>
          <a:graphicData uri="http://schemas.openxmlformats.org/drawingml/2006/table">
            <a:tbl>
              <a:tblPr>
                <a:tableStyleId>{5C22544A-7EE6-4342-B048-85BDC9FD1C3A}</a:tableStyleId>
              </a:tblPr>
              <a:tblGrid>
                <a:gridCol w="979261"/>
                <a:gridCol w="9895697"/>
              </a:tblGrid>
              <a:tr h="340842">
                <a:tc>
                  <a:txBody>
                    <a:bodyPr wrap="square"/>
                    <a:lstStyle/>
                    <a:p>
                      <a:pPr algn="l"/>
                      <a:r>
                        <a:rPr sz="1100" b="1" i="0">
                          <a:solidFill>
                            <a:srgbClr val="14213D"/>
                          </a:solidFill>
                          <a:latin typeface="Calibri"/>
                        </a:rPr>
                        <a:t>Data</a:t>
                      </a:r>
                    </a:p>
                  </a:txBody>
                  <a:tcPr marL="64008" marR="64008" marT="32004" marB="32004" anchor="ctr">
                    <a:solidFill>
                      <a:srgbClr val="F4F7FA"/>
                    </a:solidFill>
                  </a:tcPr>
                </a:tc>
                <a:tc>
                  <a:txBody>
                    <a:bodyPr wrap="square"/>
                    <a:lstStyle/>
                    <a:p>
                      <a:pPr algn="l"/>
                      <a:r>
                        <a:rPr sz="1100" b="0" i="0">
                          <a:solidFill>
                            <a:srgbClr val="2A3345"/>
                          </a:solidFill>
                          <a:latin typeface="Calibri"/>
                        </a:rPr>
                        <a:t>10 country ETFs, daily. Pilot: 2018–2024. Final: from 2003.</a:t>
                      </a:r>
                    </a:p>
                  </a:txBody>
                  <a:tcPr marL="64008" marR="64008" marT="32004" marB="32004" anchor="ctr">
                    <a:solidFill>
                      <a:srgbClr val="F4F7FA"/>
                    </a:solidFill>
                  </a:tcPr>
                </a:tc>
              </a:tr>
              <a:tr h="340842">
                <a:tc>
                  <a:txBody>
                    <a:bodyPr wrap="square"/>
                    <a:lstStyle/>
                    <a:p>
                      <a:pPr algn="l"/>
                      <a:r>
                        <a:rPr sz="1100" b="1" i="0">
                          <a:solidFill>
                            <a:srgbClr val="14213D"/>
                          </a:solidFill>
                          <a:latin typeface="Calibri"/>
                        </a:rPr>
                        <a:t>Split</a:t>
                      </a:r>
                    </a:p>
                  </a:txBody>
                  <a:tcPr marL="64008" marR="64008" marT="32004" marB="32004" anchor="ctr">
                    <a:solidFill>
                      <a:srgbClr val="FFFFFF"/>
                    </a:solidFill>
                  </a:tcPr>
                </a:tc>
                <a:tc>
                  <a:txBody>
                    <a:bodyPr wrap="square"/>
                    <a:lstStyle/>
                    <a:p>
                      <a:pPr algn="l"/>
                      <a:r>
                        <a:rPr sz="1100" b="0" i="0">
                          <a:solidFill>
                            <a:srgbClr val="2A3345"/>
                          </a:solidFill>
                          <a:latin typeface="Calibri"/>
                        </a:rPr>
                        <a:t>Train 942 days (to 2021-11-24) → Validate 314 → </a:t>
                      </a:r>
                      <a:r>
                        <a:rPr sz="1100" b="1" i="0">
                          <a:solidFill>
                            <a:srgbClr val="14213D"/>
                          </a:solidFill>
                          <a:latin typeface="Calibri"/>
                        </a:rPr>
                        <a:t>Test 314 (2023-02-28 to 2024-05-28)</a:t>
                      </a:r>
                    </a:p>
                  </a:txBody>
                  <a:tcPr marL="64008" marR="64008" marT="32004" marB="32004" anchor="ctr">
                    <a:solidFill>
                      <a:srgbClr val="FFFFFF"/>
                    </a:solidFill>
                  </a:tcPr>
                </a:tc>
              </a:tr>
              <a:tr h="340842">
                <a:tc>
                  <a:txBody>
                    <a:bodyPr wrap="square"/>
                    <a:lstStyle/>
                    <a:p>
                      <a:pPr algn="l"/>
                      <a:r>
                        <a:rPr sz="1100" b="1" i="0">
                          <a:solidFill>
                            <a:srgbClr val="14213D"/>
                          </a:solidFill>
                          <a:latin typeface="Calibri"/>
                        </a:rPr>
                        <a:t>Controlled</a:t>
                      </a:r>
                    </a:p>
                  </a:txBody>
                  <a:tcPr marL="64008" marR="64008" marT="32004" marB="32004" anchor="ctr">
                    <a:solidFill>
                      <a:srgbClr val="F4F7FA"/>
                    </a:solidFill>
                  </a:tcPr>
                </a:tc>
                <a:tc>
                  <a:txBody>
                    <a:bodyPr wrap="square"/>
                    <a:lstStyle/>
                    <a:p>
                      <a:pPr algn="l"/>
                      <a:r>
                        <a:rPr sz="1100" b="0" i="0">
                          <a:solidFill>
                            <a:srgbClr val="2A3345"/>
                          </a:solidFill>
                          <a:latin typeface="Calibri"/>
                        </a:rPr>
                        <a:t>Identical architecture, seeds, epochs across arms. Only the graph changes.</a:t>
                      </a:r>
                    </a:p>
                  </a:txBody>
                  <a:tcPr marL="64008" marR="64008" marT="32004" marB="32004" anchor="ctr">
                    <a:solidFill>
                      <a:srgbClr val="F4F7FA"/>
                    </a:solidFill>
                  </a:tcPr>
                </a:tc>
              </a:tr>
              <a:tr h="340842">
                <a:tc>
                  <a:txBody>
                    <a:bodyPr wrap="square"/>
                    <a:lstStyle/>
                    <a:p>
                      <a:pPr algn="l"/>
                      <a:r>
                        <a:rPr sz="1100" b="1" i="0">
                          <a:solidFill>
                            <a:srgbClr val="14213D"/>
                          </a:solidFill>
                          <a:latin typeface="Calibri"/>
                        </a:rPr>
                        <a:t>No leakage</a:t>
                      </a:r>
                    </a:p>
                  </a:txBody>
                  <a:tcPr marL="64008" marR="64008" marT="32004" marB="32004" anchor="ctr">
                    <a:solidFill>
                      <a:srgbClr val="FFFFFF"/>
                    </a:solidFill>
                  </a:tcPr>
                </a:tc>
                <a:tc>
                  <a:txBody>
                    <a:bodyPr wrap="square"/>
                    <a:lstStyle/>
                    <a:p>
                      <a:pPr algn="l"/>
                      <a:r>
                        <a:rPr sz="1100" b="0" i="0">
                          <a:solidFill>
                            <a:srgbClr val="2A3345"/>
                          </a:solidFill>
                          <a:latin typeface="Calibri"/>
                        </a:rPr>
                        <a:t>The graph is estimated on </a:t>
                      </a:r>
                      <a:r>
                        <a:rPr sz="1100" b="1" i="0">
                          <a:solidFill>
                            <a:srgbClr val="14213D"/>
                          </a:solidFill>
                          <a:latin typeface="Calibri"/>
                        </a:rPr>
                        <a:t>training data only</a:t>
                      </a:r>
                      <a:r>
                        <a:rPr sz="1100" b="0" i="0">
                          <a:solidFill>
                            <a:srgbClr val="2A3345"/>
                          </a:solidFill>
                          <a:latin typeface="Calibri"/>
                        </a:rPr>
                        <a:t>, ending 461 calendar days before the test block opens.</a:t>
                      </a:r>
                    </a:p>
                  </a:txBody>
                  <a:tcPr marL="64008" marR="64008" marT="32004" marB="32004" anchor="ctr">
                    <a:solidFill>
                      <a:srgbClr val="FFFFFF"/>
                    </a:solidFill>
                  </a:tcPr>
                </a:tc>
              </a:tr>
              <a:tr h="340845">
                <a:tc>
                  <a:txBody>
                    <a:bodyPr wrap="square"/>
                    <a:lstStyle/>
                    <a:p>
                      <a:pPr algn="l"/>
                      <a:r>
                        <a:rPr sz="1100" b="1" i="0">
                          <a:solidFill>
                            <a:srgbClr val="14213D"/>
                          </a:solidFill>
                          <a:latin typeface="Calibri"/>
                        </a:rPr>
                        <a:t>Arms compared</a:t>
                      </a:r>
                    </a:p>
                  </a:txBody>
                  <a:tcPr marL="64008" marR="64008" marT="32004" marB="32004" anchor="ctr">
                    <a:solidFill>
                      <a:srgbClr val="F4F7FA"/>
                    </a:solidFill>
                  </a:tcPr>
                </a:tc>
                <a:tc>
                  <a:txBody>
                    <a:bodyPr wrap="square"/>
                    <a:lstStyle/>
                    <a:p>
                      <a:pPr algn="l"/>
                      <a:r>
                        <a:rPr sz="1100" b="0" i="0">
                          <a:solidFill>
                            <a:srgbClr val="2A3345"/>
                          </a:solidFill>
                          <a:latin typeface="Calibri"/>
                        </a:rPr>
                        <a:t>HR-ETE-GNN (α=0.5), HR-ETE-GNN (α=1.5), H-ETE-GNN (Shannon, α=1.0), random-graph control, no-graph ablation, HAR-RV, random walk</a:t>
                      </a:r>
                    </a:p>
                  </a:txBody>
                  <a:tcPr marL="64008" marR="64008" marT="32004" marB="32004" anchor="ctr">
                    <a:solidFill>
                      <a:srgbClr val="F4F7FA"/>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H1a — Preliminary Result: </a:t>
            </a:r>
            <a:r>
              <a:rPr sz="3000" b="1" i="0">
                <a:solidFill>
                  <a:srgbClr val="14213D"/>
                </a:solidFill>
                <a:latin typeface="Georgia"/>
              </a:rPr>
              <a:t>Not Supported</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67644" y="566928"/>
            <a:ext cx="665683" cy="274320"/>
          </a:xfrm>
          <a:prstGeom prst="rect">
            <a:avLst/>
          </a:prstGeom>
          <a:solidFill>
            <a:srgbClr val="A83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7644" y="608076"/>
            <a:ext cx="665683" cy="237744"/>
          </a:xfrm>
          <a:prstGeom prst="rect">
            <a:avLst/>
          </a:prstGeom>
          <a:noFill/>
        </p:spPr>
        <p:txBody>
          <a:bodyPr wrap="square" lIns="0" rIns="0" tIns="0" bIns="0">
            <a:spAutoFit/>
          </a:bodyPr>
          <a:lstStyle/>
          <a:p>
            <a:pPr algn="ctr"/>
            <a:r>
              <a:rPr sz="1050" b="1" i="0">
                <a:solidFill>
                  <a:srgbClr val="FFFFFF"/>
                </a:solidFill>
                <a:latin typeface="Calibri"/>
              </a:rPr>
              <a:t>RESULT</a:t>
            </a:r>
          </a:p>
        </p:txBody>
      </p:sp>
      <p:sp>
        <p:nvSpPr>
          <p:cNvPr id="7" name="TextBox 6"/>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8" name="TextBox 7"/>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23  ·  24/40</a:t>
            </a:r>
          </a:p>
        </p:txBody>
      </p:sp>
      <p:graphicFrame>
        <p:nvGraphicFramePr>
          <p:cNvPr id="9" name="Table 8"/>
          <p:cNvGraphicFramePr>
            <a:graphicFrameLocks noGrp="1"/>
          </p:cNvGraphicFramePr>
          <p:nvPr/>
        </p:nvGraphicFramePr>
        <p:xfrm>
          <a:off x="658368" y="1645920"/>
          <a:ext cx="5236310" cy="2385441"/>
        </p:xfrm>
        <a:graphic>
          <a:graphicData uri="http://schemas.openxmlformats.org/drawingml/2006/table">
            <a:tbl>
              <a:tblPr firstRow="1">
                <a:tableStyleId>{5C22544A-7EE6-4342-B048-85BDC9FD1C3A}</a:tableStyleId>
              </a:tblPr>
              <a:tblGrid>
                <a:gridCol w="3245629"/>
                <a:gridCol w="1990681"/>
              </a:tblGrid>
              <a:tr h="298180">
                <a:tc>
                  <a:txBody>
                    <a:bodyPr wrap="square"/>
                    <a:lstStyle/>
                    <a:p>
                      <a:pPr algn="l"/>
                      <a:r>
                        <a:rPr sz="1150" b="1" i="0">
                          <a:solidFill>
                            <a:srgbClr val="FFFFFF"/>
                          </a:solidFill>
                          <a:latin typeface="Calibri"/>
                        </a:rPr>
                        <a:t>Quantity</a:t>
                      </a:r>
                    </a:p>
                  </a:txBody>
                  <a:tcPr marL="64008" marR="64008" marT="32004" marB="32004" anchor="ctr">
                    <a:solidFill>
                      <a:srgbClr val="1D5B8F"/>
                    </a:solidFill>
                  </a:tcPr>
                </a:tc>
                <a:tc>
                  <a:txBody>
                    <a:bodyPr wrap="square"/>
                    <a:lstStyle/>
                    <a:p>
                      <a:pPr algn="l"/>
                      <a:r>
                        <a:rPr sz="1150" b="1" i="0">
                          <a:solidFill>
                            <a:srgbClr val="FFFFFF"/>
                          </a:solidFill>
                          <a:latin typeface="Calibri"/>
                        </a:rPr>
                        <a:t>Value</a:t>
                      </a:r>
                    </a:p>
                  </a:txBody>
                  <a:tcPr marL="64008" marR="64008" marT="32004" marB="32004" anchor="ctr">
                    <a:solidFill>
                      <a:srgbClr val="1D5B8F"/>
                    </a:solidFill>
                  </a:tcPr>
                </a:tc>
              </a:tr>
              <a:tr h="298180">
                <a:tc>
                  <a:txBody>
                    <a:bodyPr wrap="square"/>
                    <a:lstStyle/>
                    <a:p>
                      <a:pPr algn="l"/>
                      <a:r>
                        <a:rPr sz="1100" b="1" i="0">
                          <a:solidFill>
                            <a:srgbClr val="14213D"/>
                          </a:solidFill>
                          <a:latin typeface="Calibri"/>
                        </a:rPr>
                        <a:t>Test days (T)</a:t>
                      </a:r>
                    </a:p>
                  </a:txBody>
                  <a:tcPr marL="64008" marR="64008" marT="32004" marB="32004" anchor="ctr">
                    <a:solidFill>
                      <a:srgbClr val="F4F7FA"/>
                    </a:solidFill>
                  </a:tcPr>
                </a:tc>
                <a:tc>
                  <a:txBody>
                    <a:bodyPr wrap="square"/>
                    <a:lstStyle/>
                    <a:p>
                      <a:pPr algn="l"/>
                      <a:r>
                        <a:rPr sz="1100" b="0" i="0">
                          <a:solidFill>
                            <a:srgbClr val="2A3345"/>
                          </a:solidFill>
                          <a:latin typeface="Calibri"/>
                        </a:rPr>
                        <a:t>314</a:t>
                      </a:r>
                    </a:p>
                  </a:txBody>
                  <a:tcPr marL="64008" marR="64008" marT="32004" marB="32004" anchor="ctr">
                    <a:solidFill>
                      <a:srgbClr val="F4F7FA"/>
                    </a:solidFill>
                  </a:tcPr>
                </a:tc>
              </a:tr>
              <a:tr h="298180">
                <a:tc>
                  <a:txBody>
                    <a:bodyPr wrap="square"/>
                    <a:lstStyle/>
                    <a:p>
                      <a:pPr algn="l"/>
                      <a:r>
                        <a:rPr sz="1100" b="1" i="0">
                          <a:solidFill>
                            <a:srgbClr val="14213D"/>
                          </a:solidFill>
                          <a:latin typeface="Calibri"/>
                        </a:rPr>
                        <a:t>Mean loss differential (d̄)</a:t>
                      </a:r>
                    </a:p>
                  </a:txBody>
                  <a:tcPr marL="64008" marR="64008" marT="32004" marB="32004" anchor="ctr">
                    <a:solidFill>
                      <a:srgbClr val="FFFFFF"/>
                    </a:solidFill>
                  </a:tcPr>
                </a:tc>
                <a:tc>
                  <a:txBody>
                    <a:bodyPr wrap="square"/>
                    <a:lstStyle/>
                    <a:p>
                      <a:pPr algn="l"/>
                      <a:r>
                        <a:rPr sz="1100" b="1" i="0">
                          <a:solidFill>
                            <a:srgbClr val="14213D"/>
                          </a:solidFill>
                          <a:latin typeface="Calibri"/>
                        </a:rPr>
                        <a:t>−0.000699</a:t>
                      </a:r>
                    </a:p>
                  </a:txBody>
                  <a:tcPr marL="64008" marR="64008" marT="32004" marB="32004" anchor="ctr">
                    <a:solidFill>
                      <a:srgbClr val="FFFFFF"/>
                    </a:solidFill>
                  </a:tcPr>
                </a:tc>
              </a:tr>
              <a:tr h="298180">
                <a:tc>
                  <a:txBody>
                    <a:bodyPr wrap="square"/>
                    <a:lstStyle/>
                    <a:p>
                      <a:pPr algn="l"/>
                      <a:r>
                        <a:rPr sz="1100" b="1" i="0">
                          <a:solidFill>
                            <a:srgbClr val="14213D"/>
                          </a:solidFill>
                          <a:latin typeface="Calibri"/>
                        </a:rPr>
                        <a:t>Relative change vs. baseline</a:t>
                      </a:r>
                    </a:p>
                  </a:txBody>
                  <a:tcPr marL="64008" marR="64008" marT="32004" marB="32004" anchor="ctr">
                    <a:solidFill>
                      <a:srgbClr val="F4F7FA"/>
                    </a:solidFill>
                  </a:tcPr>
                </a:tc>
                <a:tc>
                  <a:txBody>
                    <a:bodyPr wrap="square"/>
                    <a:lstStyle/>
                    <a:p>
                      <a:pPr algn="l"/>
                      <a:r>
                        <a:rPr sz="1100" b="1" i="0">
                          <a:solidFill>
                            <a:srgbClr val="14213D"/>
                          </a:solidFill>
                          <a:latin typeface="Calibri"/>
                        </a:rPr>
                        <a:t>−5.14%</a:t>
                      </a:r>
                      <a:r>
                        <a:rPr sz="1100" b="0" i="0">
                          <a:solidFill>
                            <a:srgbClr val="14213D"/>
                          </a:solidFill>
                          <a:latin typeface="Calibri"/>
                        </a:rPr>
                        <a:t> </a:t>
                      </a:r>
                      <a:r>
                        <a:rPr sz="1100" b="0" i="1">
                          <a:solidFill>
                            <a:srgbClr val="14213D"/>
                          </a:solidFill>
                          <a:latin typeface="Calibri"/>
                        </a:rPr>
                        <a:t>(a deterioration)</a:t>
                      </a:r>
                    </a:p>
                  </a:txBody>
                  <a:tcPr marL="64008" marR="64008" marT="32004" marB="32004" anchor="ctr">
                    <a:solidFill>
                      <a:srgbClr val="F4F7FA"/>
                    </a:solidFill>
                  </a:tcPr>
                </a:tc>
              </a:tr>
              <a:tr h="298180">
                <a:tc>
                  <a:txBody>
                    <a:bodyPr wrap="square"/>
                    <a:lstStyle/>
                    <a:p>
                      <a:pPr algn="l"/>
                      <a:r>
                        <a:rPr sz="1100" b="1" i="0">
                          <a:solidFill>
                            <a:srgbClr val="14213D"/>
                          </a:solidFill>
                          <a:latin typeface="Calibri"/>
                        </a:rPr>
                        <a:t>HAC standard error</a:t>
                      </a:r>
                    </a:p>
                  </a:txBody>
                  <a:tcPr marL="64008" marR="64008" marT="32004" marB="32004" anchor="ctr">
                    <a:solidFill>
                      <a:srgbClr val="FFFFFF"/>
                    </a:solidFill>
                  </a:tcPr>
                </a:tc>
                <a:tc>
                  <a:txBody>
                    <a:bodyPr wrap="square"/>
                    <a:lstStyle/>
                    <a:p>
                      <a:pPr algn="l"/>
                      <a:r>
                        <a:rPr sz="1100" b="0" i="0">
                          <a:solidFill>
                            <a:srgbClr val="2A3345"/>
                          </a:solidFill>
                          <a:latin typeface="Calibri"/>
                        </a:rPr>
                        <a:t>0.000363</a:t>
                      </a:r>
                    </a:p>
                  </a:txBody>
                  <a:tcPr marL="64008" marR="64008" marT="32004" marB="32004" anchor="ctr">
                    <a:solidFill>
                      <a:srgbClr val="FFFFFF"/>
                    </a:solidFill>
                  </a:tcPr>
                </a:tc>
              </a:tr>
              <a:tr h="298180">
                <a:tc>
                  <a:txBody>
                    <a:bodyPr wrap="square"/>
                    <a:lstStyle/>
                    <a:p>
                      <a:pPr algn="l"/>
                      <a:r>
                        <a:rPr sz="1100" b="1" i="0">
                          <a:solidFill>
                            <a:srgbClr val="14213D"/>
                          </a:solidFill>
                          <a:latin typeface="Calibri"/>
                        </a:rPr>
                        <a:t>GW t-statistic</a:t>
                      </a:r>
                    </a:p>
                  </a:txBody>
                  <a:tcPr marL="64008" marR="64008" marT="32004" marB="32004" anchor="ctr">
                    <a:solidFill>
                      <a:srgbClr val="F4F7FA"/>
                    </a:solidFill>
                  </a:tcPr>
                </a:tc>
                <a:tc>
                  <a:txBody>
                    <a:bodyPr wrap="square"/>
                    <a:lstStyle/>
                    <a:p>
                      <a:pPr algn="l"/>
                      <a:r>
                        <a:rPr sz="1100" b="1" i="0">
                          <a:solidFill>
                            <a:srgbClr val="14213D"/>
                          </a:solidFill>
                          <a:latin typeface="Calibri"/>
                        </a:rPr>
                        <a:t>−1.928</a:t>
                      </a:r>
                    </a:p>
                  </a:txBody>
                  <a:tcPr marL="64008" marR="64008" marT="32004" marB="32004" anchor="ctr">
                    <a:solidFill>
                      <a:srgbClr val="F4F7FA"/>
                    </a:solidFill>
                  </a:tcPr>
                </a:tc>
              </a:tr>
              <a:tr h="298180">
                <a:tc>
                  <a:txBody>
                    <a:bodyPr wrap="square"/>
                    <a:lstStyle/>
                    <a:p>
                      <a:pPr algn="l"/>
                      <a:r>
                        <a:rPr sz="1100" b="1" i="0">
                          <a:solidFill>
                            <a:srgbClr val="14213D"/>
                          </a:solidFill>
                          <a:latin typeface="Calibri"/>
                        </a:rPr>
                        <a:t>One-sided p-value</a:t>
                      </a:r>
                    </a:p>
                  </a:txBody>
                  <a:tcPr marL="64008" marR="64008" marT="32004" marB="32004" anchor="ctr">
                    <a:solidFill>
                      <a:srgbClr val="FFFFFF"/>
                    </a:solidFill>
                  </a:tcPr>
                </a:tc>
                <a:tc>
                  <a:txBody>
                    <a:bodyPr wrap="square"/>
                    <a:lstStyle/>
                    <a:p>
                      <a:pPr algn="l"/>
                      <a:r>
                        <a:rPr sz="1100" b="1" i="0">
                          <a:solidFill>
                            <a:srgbClr val="14213D"/>
                          </a:solidFill>
                          <a:latin typeface="Calibri"/>
                        </a:rPr>
                        <a:t>0.973</a:t>
                      </a:r>
                    </a:p>
                  </a:txBody>
                  <a:tcPr marL="64008" marR="64008" marT="32004" marB="32004" anchor="ctr">
                    <a:solidFill>
                      <a:srgbClr val="FFFFFF"/>
                    </a:solidFill>
                  </a:tcPr>
                </a:tc>
              </a:tr>
              <a:tr h="298181">
                <a:tc>
                  <a:txBody>
                    <a:bodyPr wrap="square"/>
                    <a:lstStyle/>
                    <a:p>
                      <a:pPr algn="l"/>
                      <a:r>
                        <a:rPr sz="1100" b="1" i="0">
                          <a:solidFill>
                            <a:srgbClr val="14213D"/>
                          </a:solidFill>
                          <a:latin typeface="Calibri"/>
                        </a:rPr>
                        <a:t>Decision at 5%</a:t>
                      </a:r>
                    </a:p>
                  </a:txBody>
                  <a:tcPr marL="64008" marR="64008" marT="32004" marB="32004" anchor="ctr">
                    <a:solidFill>
                      <a:srgbClr val="F4F7FA"/>
                    </a:solidFill>
                  </a:tcPr>
                </a:tc>
                <a:tc>
                  <a:txBody>
                    <a:bodyPr wrap="square"/>
                    <a:lstStyle/>
                    <a:p>
                      <a:pPr algn="l"/>
                      <a:r>
                        <a:rPr sz="1100" b="1" i="0">
                          <a:solidFill>
                            <a:srgbClr val="14213D"/>
                          </a:solidFill>
                          <a:latin typeface="Calibri"/>
                        </a:rPr>
                        <a:t>Fail to reject H₀</a:t>
                      </a:r>
                    </a:p>
                  </a:txBody>
                  <a:tcPr marL="64008" marR="64008" marT="32004" marB="32004" anchor="ctr">
                    <a:solidFill>
                      <a:srgbClr val="F4F7FA"/>
                    </a:solidFill>
                  </a:tcPr>
                </a:tc>
              </a:tr>
            </a:tbl>
          </a:graphicData>
        </a:graphic>
      </p:graphicFrame>
      <p:sp>
        <p:nvSpPr>
          <p:cNvPr id="10" name="TextBox 9"/>
          <p:cNvSpPr txBox="1"/>
          <p:nvPr/>
        </p:nvSpPr>
        <p:spPr>
          <a:xfrm>
            <a:off x="6297015" y="1645920"/>
            <a:ext cx="5236311" cy="398272"/>
          </a:xfrm>
          <a:prstGeom prst="rect">
            <a:avLst/>
          </a:prstGeom>
          <a:noFill/>
        </p:spPr>
        <p:txBody>
          <a:bodyPr wrap="square" lIns="0" rIns="0" tIns="0" bIns="0">
            <a:spAutoFit/>
          </a:bodyPr>
          <a:lstStyle/>
          <a:p>
            <a:r>
              <a:rPr sz="1550" b="1" i="0">
                <a:solidFill>
                  <a:srgbClr val="14213D"/>
                </a:solidFill>
                <a:latin typeface="Calibri"/>
              </a:rPr>
              <a:t>Mean QLIKE across all arms:</a:t>
            </a:r>
          </a:p>
        </p:txBody>
      </p:sp>
      <p:graphicFrame>
        <p:nvGraphicFramePr>
          <p:cNvPr id="11" name="Table 10"/>
          <p:cNvGraphicFramePr>
            <a:graphicFrameLocks noGrp="1"/>
          </p:cNvGraphicFramePr>
          <p:nvPr/>
        </p:nvGraphicFramePr>
        <p:xfrm>
          <a:off x="6297015" y="2044192"/>
          <a:ext cx="5236310" cy="2385441"/>
        </p:xfrm>
        <a:graphic>
          <a:graphicData uri="http://schemas.openxmlformats.org/drawingml/2006/table">
            <a:tbl>
              <a:tblPr firstRow="1">
                <a:tableStyleId>{5C22544A-7EE6-4342-B048-85BDC9FD1C3A}</a:tableStyleId>
              </a:tblPr>
              <a:tblGrid>
                <a:gridCol w="2391311"/>
                <a:gridCol w="968382"/>
                <a:gridCol w="1876617"/>
              </a:tblGrid>
              <a:tr h="298180">
                <a:tc>
                  <a:txBody>
                    <a:bodyPr wrap="square"/>
                    <a:lstStyle/>
                    <a:p>
                      <a:pPr algn="l"/>
                      <a:r>
                        <a:rPr sz="1150" b="1" i="0">
                          <a:solidFill>
                            <a:srgbClr val="FFFFFF"/>
                          </a:solidFill>
                          <a:latin typeface="Calibri"/>
                        </a:rPr>
                        <a:t>Model</a:t>
                      </a:r>
                    </a:p>
                  </a:txBody>
                  <a:tcPr marL="64008" marR="64008" marT="32004" marB="32004" anchor="ctr">
                    <a:solidFill>
                      <a:srgbClr val="1D5B8F"/>
                    </a:solidFill>
                  </a:tcPr>
                </a:tc>
                <a:tc>
                  <a:txBody>
                    <a:bodyPr wrap="square"/>
                    <a:lstStyle/>
                    <a:p>
                      <a:pPr algn="l"/>
                      <a:r>
                        <a:rPr sz="1150" b="1" i="0">
                          <a:solidFill>
                            <a:srgbClr val="FFFFFF"/>
                          </a:solidFill>
                          <a:latin typeface="Calibri"/>
                        </a:rPr>
                        <a:t>QLIKE</a:t>
                      </a:r>
                    </a:p>
                  </a:txBody>
                  <a:tcPr marL="64008" marR="64008" marT="32004" marB="32004" anchor="ctr">
                    <a:solidFill>
                      <a:srgbClr val="1D5B8F"/>
                    </a:solidFill>
                  </a:tcPr>
                </a:tc>
                <a:tc>
                  <a:txBody>
                    <a:bodyPr wrap="square"/>
                    <a:lstStyle/>
                    <a:p>
                      <a:pPr algn="l"/>
                      <a:r>
                        <a:rPr sz="1150" b="1" i="0">
                          <a:solidFill>
                            <a:srgbClr val="FFFFFF"/>
                          </a:solidFill>
                          <a:latin typeface="Calibri"/>
                        </a:rPr>
                        <a:t>vs. baseline</a:t>
                      </a:r>
                    </a:p>
                  </a:txBody>
                  <a:tcPr marL="64008" marR="64008" marT="32004" marB="32004" anchor="ctr">
                    <a:solidFill>
                      <a:srgbClr val="1D5B8F"/>
                    </a:solidFill>
                  </a:tcPr>
                </a:tc>
              </a:tr>
              <a:tr h="298180">
                <a:tc>
                  <a:txBody>
                    <a:bodyPr wrap="square"/>
                    <a:lstStyle/>
                    <a:p>
                      <a:pPr algn="l"/>
                      <a:r>
                        <a:rPr sz="1100" b="1" i="0">
                          <a:solidFill>
                            <a:srgbClr val="14213D"/>
                          </a:solidFill>
                          <a:latin typeface="Calibri"/>
                        </a:rPr>
                        <a:t>Random walk</a:t>
                      </a:r>
                    </a:p>
                  </a:txBody>
                  <a:tcPr marL="64008" marR="64008" marT="32004" marB="32004" anchor="ctr">
                    <a:solidFill>
                      <a:srgbClr val="F4F7FA"/>
                    </a:solidFill>
                  </a:tcPr>
                </a:tc>
                <a:tc>
                  <a:txBody>
                    <a:bodyPr wrap="square"/>
                    <a:lstStyle/>
                    <a:p>
                      <a:pPr algn="l"/>
                      <a:r>
                        <a:rPr sz="1100" b="0" i="0">
                          <a:solidFill>
                            <a:srgbClr val="2A3345"/>
                          </a:solidFill>
                          <a:latin typeface="Calibri"/>
                        </a:rPr>
                        <a:t>0.00601</a:t>
                      </a:r>
                    </a:p>
                  </a:txBody>
                  <a:tcPr marL="64008" marR="64008" marT="32004" marB="32004" anchor="ctr">
                    <a:solidFill>
                      <a:srgbClr val="F4F7FA"/>
                    </a:solidFill>
                  </a:tcPr>
                </a:tc>
                <a:tc>
                  <a:txBody>
                    <a:bodyPr wrap="square"/>
                    <a:lstStyle/>
                    <a:p>
                      <a:pPr algn="l"/>
                      <a:r>
                        <a:rPr sz="1100" b="0" i="0">
                          <a:solidFill>
                            <a:srgbClr val="2A3345"/>
                          </a:solidFill>
                          <a:latin typeface="Calibri"/>
                        </a:rPr>
                        <a:t>+55.8%</a:t>
                      </a:r>
                    </a:p>
                  </a:txBody>
                  <a:tcPr marL="64008" marR="64008" marT="32004" marB="32004" anchor="ctr">
                    <a:solidFill>
                      <a:srgbClr val="F4F7FA"/>
                    </a:solidFill>
                  </a:tcPr>
                </a:tc>
              </a:tr>
              <a:tr h="298180">
                <a:tc>
                  <a:txBody>
                    <a:bodyPr wrap="square"/>
                    <a:lstStyle/>
                    <a:p>
                      <a:pPr algn="l"/>
                      <a:r>
                        <a:rPr sz="1100" b="1" i="0">
                          <a:solidFill>
                            <a:srgbClr val="14213D"/>
                          </a:solidFill>
                          <a:latin typeface="Calibri"/>
                        </a:rPr>
                        <a:t>HAR-RV (Corsi 2009)</a:t>
                      </a:r>
                    </a:p>
                  </a:txBody>
                  <a:tcPr marL="64008" marR="64008" marT="32004" marB="32004" anchor="ctr">
                    <a:solidFill>
                      <a:srgbClr val="FFFFFF"/>
                    </a:solidFill>
                  </a:tcPr>
                </a:tc>
                <a:tc>
                  <a:txBody>
                    <a:bodyPr wrap="square"/>
                    <a:lstStyle/>
                    <a:p>
                      <a:pPr algn="l"/>
                      <a:r>
                        <a:rPr sz="1100" b="0" i="0">
                          <a:solidFill>
                            <a:srgbClr val="2A3345"/>
                          </a:solidFill>
                          <a:latin typeface="Calibri"/>
                        </a:rPr>
                        <a:t>0.00619</a:t>
                      </a:r>
                    </a:p>
                  </a:txBody>
                  <a:tcPr marL="64008" marR="64008" marT="32004" marB="32004" anchor="ctr">
                    <a:solidFill>
                      <a:srgbClr val="FFFFFF"/>
                    </a:solidFill>
                  </a:tcPr>
                </a:tc>
                <a:tc>
                  <a:txBody>
                    <a:bodyPr wrap="square"/>
                    <a:lstStyle/>
                    <a:p>
                      <a:pPr algn="l"/>
                      <a:r>
                        <a:rPr sz="1100" b="0" i="0">
                          <a:solidFill>
                            <a:srgbClr val="2A3345"/>
                          </a:solidFill>
                          <a:latin typeface="Calibri"/>
                        </a:rPr>
                        <a:t>+54.5%</a:t>
                      </a:r>
                    </a:p>
                  </a:txBody>
                  <a:tcPr marL="64008" marR="64008" marT="32004" marB="32004" anchor="ctr">
                    <a:solidFill>
                      <a:srgbClr val="FFFFFF"/>
                    </a:solidFill>
                  </a:tcPr>
                </a:tc>
              </a:tr>
              <a:tr h="298180">
                <a:tc>
                  <a:txBody>
                    <a:bodyPr wrap="square"/>
                    <a:lstStyle/>
                    <a:p>
                      <a:pPr algn="l"/>
                      <a:r>
                        <a:rPr sz="1100" b="1" i="0">
                          <a:solidFill>
                            <a:srgbClr val="14213D"/>
                          </a:solidFill>
                          <a:latin typeface="Calibri"/>
                        </a:rPr>
                        <a:t>Random graph</a:t>
                      </a:r>
                    </a:p>
                  </a:txBody>
                  <a:tcPr marL="64008" marR="64008" marT="32004" marB="32004" anchor="ctr">
                    <a:solidFill>
                      <a:srgbClr val="F4F7FA"/>
                    </a:solidFill>
                  </a:tcPr>
                </a:tc>
                <a:tc>
                  <a:txBody>
                    <a:bodyPr wrap="square"/>
                    <a:lstStyle/>
                    <a:p>
                      <a:pPr algn="l"/>
                      <a:r>
                        <a:rPr sz="1100" b="0" i="0">
                          <a:solidFill>
                            <a:srgbClr val="2A3345"/>
                          </a:solidFill>
                          <a:latin typeface="Calibri"/>
                        </a:rPr>
                        <a:t>0.01260</a:t>
                      </a:r>
                    </a:p>
                  </a:txBody>
                  <a:tcPr marL="64008" marR="64008" marT="32004" marB="32004" anchor="ctr">
                    <a:solidFill>
                      <a:srgbClr val="F4F7FA"/>
                    </a:solidFill>
                  </a:tcPr>
                </a:tc>
                <a:tc>
                  <a:txBody>
                    <a:bodyPr wrap="square"/>
                    <a:lstStyle/>
                    <a:p>
                      <a:pPr algn="l"/>
                      <a:r>
                        <a:rPr sz="1100" b="0" i="0">
                          <a:solidFill>
                            <a:srgbClr val="2A3345"/>
                          </a:solidFill>
                          <a:latin typeface="Calibri"/>
                        </a:rPr>
                        <a:t>+7.3%</a:t>
                      </a:r>
                    </a:p>
                  </a:txBody>
                  <a:tcPr marL="64008" marR="64008" marT="32004" marB="32004" anchor="ctr">
                    <a:solidFill>
                      <a:srgbClr val="F4F7FA"/>
                    </a:solidFill>
                  </a:tcPr>
                </a:tc>
              </a:tr>
              <a:tr h="298180">
                <a:tc>
                  <a:txBody>
                    <a:bodyPr wrap="square"/>
                    <a:lstStyle/>
                    <a:p>
                      <a:pPr algn="l"/>
                      <a:r>
                        <a:rPr sz="1100" b="1" i="0">
                          <a:solidFill>
                            <a:srgbClr val="14213D"/>
                          </a:solidFill>
                          <a:latin typeface="Calibri"/>
                        </a:rPr>
                        <a:t>No-graph ablation</a:t>
                      </a:r>
                    </a:p>
                  </a:txBody>
                  <a:tcPr marL="64008" marR="64008" marT="32004" marB="32004" anchor="ctr">
                    <a:solidFill>
                      <a:srgbClr val="FFFFFF"/>
                    </a:solidFill>
                  </a:tcPr>
                </a:tc>
                <a:tc>
                  <a:txBody>
                    <a:bodyPr wrap="square"/>
                    <a:lstStyle/>
                    <a:p>
                      <a:pPr algn="l"/>
                      <a:r>
                        <a:rPr sz="1100" b="0" i="0">
                          <a:solidFill>
                            <a:srgbClr val="2A3345"/>
                          </a:solidFill>
                          <a:latin typeface="Calibri"/>
                        </a:rPr>
                        <a:t>0.01351</a:t>
                      </a:r>
                    </a:p>
                  </a:txBody>
                  <a:tcPr marL="64008" marR="64008" marT="32004" marB="32004" anchor="ctr">
                    <a:solidFill>
                      <a:srgbClr val="FFFFFF"/>
                    </a:solidFill>
                  </a:tcPr>
                </a:tc>
                <a:tc>
                  <a:txBody>
                    <a:bodyPr wrap="square"/>
                    <a:lstStyle/>
                    <a:p>
                      <a:pPr algn="l"/>
                      <a:r>
                        <a:rPr sz="1100" b="0" i="0">
                          <a:solidFill>
                            <a:srgbClr val="2A3345"/>
                          </a:solidFill>
                          <a:latin typeface="Calibri"/>
                        </a:rPr>
                        <a:t>+0.6%</a:t>
                      </a:r>
                    </a:p>
                  </a:txBody>
                  <a:tcPr marL="64008" marR="64008" marT="32004" marB="32004" anchor="ctr">
                    <a:solidFill>
                      <a:srgbClr val="FFFFFF"/>
                    </a:solidFill>
                  </a:tcPr>
                </a:tc>
              </a:tr>
              <a:tr h="298180">
                <a:tc>
                  <a:txBody>
                    <a:bodyPr wrap="square"/>
                    <a:lstStyle/>
                    <a:p>
                      <a:pPr algn="l"/>
                      <a:r>
                        <a:rPr sz="1100" b="1" i="0">
                          <a:solidFill>
                            <a:srgbClr val="14213D"/>
                          </a:solidFill>
                          <a:latin typeface="Calibri"/>
                        </a:rPr>
                        <a:t>H-ETE-GNN (Shannon, α=1.0)</a:t>
                      </a:r>
                    </a:p>
                  </a:txBody>
                  <a:tcPr marL="64008" marR="64008" marT="32004" marB="32004" anchor="ctr">
                    <a:solidFill>
                      <a:srgbClr val="F4F7FA"/>
                    </a:solidFill>
                  </a:tcPr>
                </a:tc>
                <a:tc>
                  <a:txBody>
                    <a:bodyPr wrap="square"/>
                    <a:lstStyle/>
                    <a:p>
                      <a:pPr algn="l"/>
                      <a:r>
                        <a:rPr sz="1100" b="1" i="0">
                          <a:solidFill>
                            <a:srgbClr val="14213D"/>
                          </a:solidFill>
                          <a:latin typeface="Calibri"/>
                        </a:rPr>
                        <a:t>0.01360</a:t>
                      </a:r>
                    </a:p>
                  </a:txBody>
                  <a:tcPr marL="64008" marR="64008" marT="32004" marB="32004" anchor="ctr">
                    <a:solidFill>
                      <a:srgbClr val="F4F7FA"/>
                    </a:solidFill>
                  </a:tcPr>
                </a:tc>
                <a:tc>
                  <a:txBody>
                    <a:bodyPr wrap="square"/>
                    <a:lstStyle/>
                    <a:p>
                      <a:pPr algn="l"/>
                      <a:r>
                        <a:rPr sz="1100" b="0" i="0">
                          <a:solidFill>
                            <a:srgbClr val="2A3345"/>
                          </a:solidFill>
                          <a:latin typeface="Calibri"/>
                        </a:rPr>
                        <a:t>—</a:t>
                      </a:r>
                    </a:p>
                  </a:txBody>
                  <a:tcPr marL="64008" marR="64008" marT="32004" marB="32004" anchor="ctr">
                    <a:solidFill>
                      <a:srgbClr val="F4F7FA"/>
                    </a:solidFill>
                  </a:tcPr>
                </a:tc>
              </a:tr>
              <a:tr h="298180">
                <a:tc>
                  <a:txBody>
                    <a:bodyPr wrap="square"/>
                    <a:lstStyle/>
                    <a:p>
                      <a:pPr algn="l"/>
                      <a:r>
                        <a:rPr sz="1100" b="1" i="0">
                          <a:solidFill>
                            <a:srgbClr val="14213D"/>
                          </a:solidFill>
                          <a:latin typeface="Calibri"/>
                        </a:rPr>
                        <a:t>HR-ETE-GNN (α=0.5)</a:t>
                      </a:r>
                    </a:p>
                  </a:txBody>
                  <a:tcPr marL="64008" marR="64008" marT="32004" marB="32004" anchor="ctr">
                    <a:solidFill>
                      <a:srgbClr val="FFFFFF"/>
                    </a:solidFill>
                  </a:tcPr>
                </a:tc>
                <a:tc>
                  <a:txBody>
                    <a:bodyPr wrap="square"/>
                    <a:lstStyle/>
                    <a:p>
                      <a:pPr algn="l"/>
                      <a:r>
                        <a:rPr sz="1100" b="1" i="0">
                          <a:solidFill>
                            <a:srgbClr val="14213D"/>
                          </a:solidFill>
                          <a:latin typeface="Calibri"/>
                        </a:rPr>
                        <a:t>0.01430</a:t>
                      </a:r>
                    </a:p>
                  </a:txBody>
                  <a:tcPr marL="64008" marR="64008" marT="32004" marB="32004" anchor="ctr">
                    <a:solidFill>
                      <a:srgbClr val="FFFFFF"/>
                    </a:solidFill>
                  </a:tcPr>
                </a:tc>
                <a:tc>
                  <a:txBody>
                    <a:bodyPr wrap="square"/>
                    <a:lstStyle/>
                    <a:p>
                      <a:pPr algn="l"/>
                      <a:r>
                        <a:rPr sz="1100" b="1" i="0">
                          <a:solidFill>
                            <a:srgbClr val="14213D"/>
                          </a:solidFill>
                          <a:latin typeface="Calibri"/>
                        </a:rPr>
                        <a:t>−5.1%</a:t>
                      </a:r>
                    </a:p>
                  </a:txBody>
                  <a:tcPr marL="64008" marR="64008" marT="32004" marB="32004" anchor="ctr">
                    <a:solidFill>
                      <a:srgbClr val="FFFFFF"/>
                    </a:solidFill>
                  </a:tcPr>
                </a:tc>
              </a:tr>
              <a:tr h="298181">
                <a:tc>
                  <a:txBody>
                    <a:bodyPr wrap="square"/>
                    <a:lstStyle/>
                    <a:p>
                      <a:pPr algn="l"/>
                      <a:r>
                        <a:rPr sz="1100" b="1" i="0">
                          <a:solidFill>
                            <a:srgbClr val="14213D"/>
                          </a:solidFill>
                          <a:latin typeface="Calibri"/>
                        </a:rPr>
                        <a:t>HR-ETE-GNN (α=1.5)</a:t>
                      </a:r>
                    </a:p>
                  </a:txBody>
                  <a:tcPr marL="64008" marR="64008" marT="32004" marB="32004" anchor="ctr">
                    <a:solidFill>
                      <a:srgbClr val="F4F7FA"/>
                    </a:solidFill>
                  </a:tcPr>
                </a:tc>
                <a:tc>
                  <a:txBody>
                    <a:bodyPr wrap="square"/>
                    <a:lstStyle/>
                    <a:p>
                      <a:pPr algn="l"/>
                      <a:r>
                        <a:rPr sz="1100" b="0" i="0">
                          <a:solidFill>
                            <a:srgbClr val="2A3345"/>
                          </a:solidFill>
                          <a:latin typeface="Calibri"/>
                        </a:rPr>
                        <a:t>0.01791</a:t>
                      </a:r>
                    </a:p>
                  </a:txBody>
                  <a:tcPr marL="64008" marR="64008" marT="32004" marB="32004" anchor="ctr">
                    <a:solidFill>
                      <a:srgbClr val="F4F7FA"/>
                    </a:solidFill>
                  </a:tcPr>
                </a:tc>
                <a:tc>
                  <a:txBody>
                    <a:bodyPr wrap="square"/>
                    <a:lstStyle/>
                    <a:p>
                      <a:pPr algn="l"/>
                      <a:r>
                        <a:rPr sz="1100" b="0" i="0">
                          <a:solidFill>
                            <a:srgbClr val="2A3345"/>
                          </a:solidFill>
                          <a:latin typeface="Calibri"/>
                        </a:rPr>
                        <a:t>−31.7%</a:t>
                      </a:r>
                    </a:p>
                  </a:txBody>
                  <a:tcPr marL="64008" marR="64008" marT="32004" marB="32004" anchor="ctr">
                    <a:solidFill>
                      <a:srgbClr val="F4F7FA"/>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H1b — Preliminary Result: </a:t>
            </a:r>
            <a:r>
              <a:rPr sz="3000" b="1" i="0">
                <a:solidFill>
                  <a:srgbClr val="14213D"/>
                </a:solidFill>
                <a:latin typeface="Georgia"/>
              </a:rPr>
              <a:t>Not Evaluable</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67644" y="566928"/>
            <a:ext cx="665683" cy="274320"/>
          </a:xfrm>
          <a:prstGeom prst="rect">
            <a:avLst/>
          </a:prstGeom>
          <a:solidFill>
            <a:srgbClr val="A83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7644" y="608076"/>
            <a:ext cx="665683" cy="237744"/>
          </a:xfrm>
          <a:prstGeom prst="rect">
            <a:avLst/>
          </a:prstGeom>
          <a:noFill/>
        </p:spPr>
        <p:txBody>
          <a:bodyPr wrap="square" lIns="0" rIns="0" tIns="0" bIns="0">
            <a:spAutoFit/>
          </a:bodyPr>
          <a:lstStyle/>
          <a:p>
            <a:pPr algn="ctr"/>
            <a:r>
              <a:rPr sz="1050" b="1" i="0">
                <a:solidFill>
                  <a:srgbClr val="FFFFFF"/>
                </a:solidFill>
                <a:latin typeface="Calibri"/>
              </a:rPr>
              <a:t>RESULT</a:t>
            </a:r>
          </a:p>
        </p:txBody>
      </p:sp>
      <p:sp>
        <p:nvSpPr>
          <p:cNvPr id="7" name="TextBox 6"/>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8" name="TextBox 7"/>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24  ·  25/40</a:t>
            </a:r>
          </a:p>
        </p:txBody>
      </p:sp>
      <p:graphicFrame>
        <p:nvGraphicFramePr>
          <p:cNvPr id="9" name="Table 8"/>
          <p:cNvGraphicFramePr>
            <a:graphicFrameLocks noGrp="1"/>
          </p:cNvGraphicFramePr>
          <p:nvPr/>
        </p:nvGraphicFramePr>
        <p:xfrm>
          <a:off x="658368" y="2117488"/>
          <a:ext cx="10874957" cy="1242441"/>
        </p:xfrm>
        <a:graphic>
          <a:graphicData uri="http://schemas.openxmlformats.org/drawingml/2006/table">
            <a:tbl>
              <a:tblPr firstRow="1">
                <a:tableStyleId>{5C22544A-7EE6-4342-B048-85BDC9FD1C3A}</a:tableStyleId>
              </a:tblPr>
              <a:tblGrid>
                <a:gridCol w="3748503"/>
                <a:gridCol w="4039256"/>
                <a:gridCol w="820988"/>
                <a:gridCol w="671864"/>
                <a:gridCol w="1594346"/>
              </a:tblGrid>
              <a:tr h="310610">
                <a:tc>
                  <a:txBody>
                    <a:bodyPr wrap="square"/>
                    <a:lstStyle/>
                    <a:p>
                      <a:pPr algn="l"/>
                      <a:r>
                        <a:rPr sz="1150" b="1" i="0">
                          <a:solidFill>
                            <a:srgbClr val="FFFFFF"/>
                          </a:solidFill>
                          <a:latin typeface="Calibri"/>
                        </a:rPr>
                        <a:t>Instrument</a:t>
                      </a:r>
                    </a:p>
                  </a:txBody>
                  <a:tcPr marL="64008" marR="64008" marT="32004" marB="32004" anchor="ctr">
                    <a:solidFill>
                      <a:srgbClr val="1D5B8F"/>
                    </a:solidFill>
                  </a:tcPr>
                </a:tc>
                <a:tc>
                  <a:txBody>
                    <a:bodyPr wrap="square"/>
                    <a:lstStyle/>
                    <a:p>
                      <a:pPr algn="l"/>
                      <a:r>
                        <a:rPr sz="1150" b="1" i="0">
                          <a:solidFill>
                            <a:srgbClr val="FFFFFF"/>
                          </a:solidFill>
                          <a:latin typeface="Calibri"/>
                        </a:rPr>
                        <a:t>Turbulent days in test block</a:t>
                      </a:r>
                    </a:p>
                  </a:txBody>
                  <a:tcPr marL="64008" marR="64008" marT="32004" marB="32004" anchor="ctr">
                    <a:solidFill>
                      <a:srgbClr val="1D5B8F"/>
                    </a:solidFill>
                  </a:tcPr>
                </a:tc>
                <a:tc>
                  <a:txBody>
                    <a:bodyPr wrap="square"/>
                    <a:lstStyle/>
                    <a:p>
                      <a:pPr algn="l"/>
                      <a:r>
                        <a:rPr sz="1150" b="1" i="0">
                          <a:solidFill>
                            <a:srgbClr val="FFFFFF"/>
                          </a:solidFill>
                          <a:latin typeface="Calibri"/>
                        </a:rPr>
                        <a:t>β̂₁</a:t>
                      </a:r>
                    </a:p>
                  </a:txBody>
                  <a:tcPr marL="64008" marR="64008" marT="32004" marB="32004" anchor="ctr">
                    <a:solidFill>
                      <a:srgbClr val="1D5B8F"/>
                    </a:solidFill>
                  </a:tcPr>
                </a:tc>
                <a:tc>
                  <a:txBody>
                    <a:bodyPr wrap="square"/>
                    <a:lstStyle/>
                    <a:p>
                      <a:pPr algn="l"/>
                      <a:r>
                        <a:rPr sz="1150" b="1" i="0">
                          <a:solidFill>
                            <a:srgbClr val="FFFFFF"/>
                          </a:solidFill>
                          <a:latin typeface="Calibri"/>
                        </a:rPr>
                        <a:t>t</a:t>
                      </a:r>
                    </a:p>
                  </a:txBody>
                  <a:tcPr marL="64008" marR="64008" marT="32004" marB="32004" anchor="ctr">
                    <a:solidFill>
                      <a:srgbClr val="1D5B8F"/>
                    </a:solidFill>
                  </a:tcPr>
                </a:tc>
                <a:tc>
                  <a:txBody>
                    <a:bodyPr wrap="square"/>
                    <a:lstStyle/>
                    <a:p>
                      <a:pPr algn="l"/>
                      <a:r>
                        <a:rPr sz="1150" b="1" i="0">
                          <a:solidFill>
                            <a:srgbClr val="FFFFFF"/>
                          </a:solidFill>
                          <a:latin typeface="Calibri"/>
                        </a:rPr>
                        <a:t>one-sided p</a:t>
                      </a:r>
                    </a:p>
                  </a:txBody>
                  <a:tcPr marL="64008" marR="64008" marT="32004" marB="32004" anchor="ctr">
                    <a:solidFill>
                      <a:srgbClr val="1D5B8F"/>
                    </a:solidFill>
                  </a:tcPr>
                </a:tc>
              </a:tr>
              <a:tr h="310610">
                <a:tc>
                  <a:txBody>
                    <a:bodyPr wrap="square"/>
                    <a:lstStyle/>
                    <a:p>
                      <a:pPr algn="l"/>
                      <a:r>
                        <a:rPr sz="1100" b="1" i="0">
                          <a:solidFill>
                            <a:srgbClr val="14213D"/>
                          </a:solidFill>
                          <a:latin typeface="Calibri"/>
                        </a:rPr>
                        <a:t>Lagged Hurst (H &lt; 0.5, URTH)</a:t>
                      </a:r>
                    </a:p>
                  </a:txBody>
                  <a:tcPr marL="64008" marR="64008" marT="32004" marB="32004" anchor="ctr">
                    <a:solidFill>
                      <a:srgbClr val="F4F7FA"/>
                    </a:solidFill>
                  </a:tcPr>
                </a:tc>
                <a:tc>
                  <a:txBody>
                    <a:bodyPr wrap="square"/>
                    <a:lstStyle/>
                    <a:p>
                      <a:pPr algn="l"/>
                      <a:r>
                        <a:rPr sz="1100" b="1" i="0">
                          <a:solidFill>
                            <a:srgbClr val="14213D"/>
                          </a:solidFill>
                          <a:latin typeface="Calibri"/>
                        </a:rPr>
                        <a:t>4 of 314 (1.3%)</a:t>
                      </a:r>
                    </a:p>
                  </a:txBody>
                  <a:tcPr marL="64008" marR="64008" marT="32004" marB="32004" anchor="ctr">
                    <a:solidFill>
                      <a:srgbClr val="F4F7FA"/>
                    </a:solidFill>
                  </a:tcPr>
                </a:tc>
                <a:tc>
                  <a:txBody>
                    <a:bodyPr wrap="square"/>
                    <a:lstStyle/>
                    <a:p>
                      <a:pPr algn="l"/>
                      <a:r>
                        <a:rPr sz="1100" b="0" i="0">
                          <a:solidFill>
                            <a:srgbClr val="2A3345"/>
                          </a:solidFill>
                          <a:latin typeface="Calibri"/>
                        </a:rPr>
                        <a:t>−0.00204</a:t>
                      </a:r>
                    </a:p>
                  </a:txBody>
                  <a:tcPr marL="64008" marR="64008" marT="32004" marB="32004" anchor="ctr">
                    <a:solidFill>
                      <a:srgbClr val="F4F7FA"/>
                    </a:solidFill>
                  </a:tcPr>
                </a:tc>
                <a:tc>
                  <a:txBody>
                    <a:bodyPr wrap="square"/>
                    <a:lstStyle/>
                    <a:p>
                      <a:pPr algn="l"/>
                      <a:r>
                        <a:rPr sz="1100" b="0" i="0">
                          <a:solidFill>
                            <a:srgbClr val="2A3345"/>
                          </a:solidFill>
                          <a:latin typeface="Calibri"/>
                        </a:rPr>
                        <a:t>−2.02</a:t>
                      </a:r>
                    </a:p>
                  </a:txBody>
                  <a:tcPr marL="64008" marR="64008" marT="32004" marB="32004" anchor="ctr">
                    <a:solidFill>
                      <a:srgbClr val="F4F7FA"/>
                    </a:solidFill>
                  </a:tcPr>
                </a:tc>
                <a:tc>
                  <a:txBody>
                    <a:bodyPr wrap="square"/>
                    <a:lstStyle/>
                    <a:p>
                      <a:pPr algn="l"/>
                      <a:r>
                        <a:rPr sz="1100" b="0" i="0">
                          <a:solidFill>
                            <a:srgbClr val="2A3345"/>
                          </a:solidFill>
                          <a:latin typeface="Calibri"/>
                        </a:rPr>
                        <a:t>0.978</a:t>
                      </a:r>
                    </a:p>
                  </a:txBody>
                  <a:tcPr marL="64008" marR="64008" marT="32004" marB="32004" anchor="ctr">
                    <a:solidFill>
                      <a:srgbClr val="F4F7FA"/>
                    </a:solidFill>
                  </a:tcPr>
                </a:tc>
              </a:tr>
              <a:tr h="310610">
                <a:tc>
                  <a:txBody>
                    <a:bodyPr wrap="square"/>
                    <a:lstStyle/>
                    <a:p>
                      <a:pPr algn="l"/>
                      <a:r>
                        <a:rPr sz="1100" b="1" i="0">
                          <a:solidFill>
                            <a:srgbClr val="14213D"/>
                          </a:solidFill>
                          <a:latin typeface="Calibri"/>
                        </a:rPr>
                        <a:t>Relative high-vol (&gt;80th pct)</a:t>
                      </a:r>
                    </a:p>
                  </a:txBody>
                  <a:tcPr marL="64008" marR="64008" marT="32004" marB="32004" anchor="ctr">
                    <a:solidFill>
                      <a:srgbClr val="FFFFFF"/>
                    </a:solidFill>
                  </a:tcPr>
                </a:tc>
                <a:tc>
                  <a:txBody>
                    <a:bodyPr wrap="square"/>
                    <a:lstStyle/>
                    <a:p>
                      <a:pPr algn="l"/>
                      <a:r>
                        <a:rPr sz="1100" b="1" i="0">
                          <a:solidFill>
                            <a:srgbClr val="14213D"/>
                          </a:solidFill>
                          <a:latin typeface="Calibri"/>
                        </a:rPr>
                        <a:t>11 of 314 (3.5%)</a:t>
                      </a:r>
                    </a:p>
                  </a:txBody>
                  <a:tcPr marL="64008" marR="64008" marT="32004" marB="32004" anchor="ctr">
                    <a:solidFill>
                      <a:srgbClr val="FFFFFF"/>
                    </a:solidFill>
                  </a:tcPr>
                </a:tc>
                <a:tc>
                  <a:txBody>
                    <a:bodyPr wrap="square"/>
                    <a:lstStyle/>
                    <a:p>
                      <a:pPr algn="l"/>
                      <a:r>
                        <a:rPr sz="1100" b="0" i="0">
                          <a:solidFill>
                            <a:srgbClr val="2A3345"/>
                          </a:solidFill>
                          <a:latin typeface="Calibri"/>
                        </a:rPr>
                        <a:t>−0.00062</a:t>
                      </a:r>
                    </a:p>
                  </a:txBody>
                  <a:tcPr marL="64008" marR="64008" marT="32004" marB="32004" anchor="ctr">
                    <a:solidFill>
                      <a:srgbClr val="FFFFFF"/>
                    </a:solidFill>
                  </a:tcPr>
                </a:tc>
                <a:tc>
                  <a:txBody>
                    <a:bodyPr wrap="square"/>
                    <a:lstStyle/>
                    <a:p>
                      <a:pPr algn="l"/>
                      <a:r>
                        <a:rPr sz="1100" b="0" i="0">
                          <a:solidFill>
                            <a:srgbClr val="2A3345"/>
                          </a:solidFill>
                          <a:latin typeface="Calibri"/>
                        </a:rPr>
                        <a:t>−0.69</a:t>
                      </a:r>
                    </a:p>
                  </a:txBody>
                  <a:tcPr marL="64008" marR="64008" marT="32004" marB="32004" anchor="ctr">
                    <a:solidFill>
                      <a:srgbClr val="FFFFFF"/>
                    </a:solidFill>
                  </a:tcPr>
                </a:tc>
                <a:tc>
                  <a:txBody>
                    <a:bodyPr wrap="square"/>
                    <a:lstStyle/>
                    <a:p>
                      <a:pPr algn="l"/>
                      <a:r>
                        <a:rPr sz="1100" b="0" i="0">
                          <a:solidFill>
                            <a:srgbClr val="2A3345"/>
                          </a:solidFill>
                          <a:latin typeface="Calibri"/>
                        </a:rPr>
                        <a:t>0.754</a:t>
                      </a:r>
                    </a:p>
                  </a:txBody>
                  <a:tcPr marL="64008" marR="64008" marT="32004" marB="32004" anchor="ctr">
                    <a:solidFill>
                      <a:srgbClr val="FFFFFF"/>
                    </a:solidFill>
                  </a:tcPr>
                </a:tc>
              </a:tr>
              <a:tr h="310611">
                <a:tc>
                  <a:txBody>
                    <a:bodyPr wrap="square"/>
                    <a:lstStyle/>
                    <a:p>
                      <a:pPr algn="l"/>
                      <a:r>
                        <a:rPr sz="1100" b="1" i="0">
                          <a:solidFill>
                            <a:srgbClr val="14213D"/>
                          </a:solidFill>
                          <a:latin typeface="Calibri"/>
                        </a:rPr>
                        <a:t>Absolute high-vol (train-fixed)</a:t>
                      </a:r>
                    </a:p>
                  </a:txBody>
                  <a:tcPr marL="64008" marR="64008" marT="32004" marB="32004" anchor="ctr">
                    <a:solidFill>
                      <a:srgbClr val="F4F7FA"/>
                    </a:solidFill>
                  </a:tcPr>
                </a:tc>
                <a:tc>
                  <a:txBody>
                    <a:bodyPr wrap="square"/>
                    <a:lstStyle/>
                    <a:p>
                      <a:pPr algn="l"/>
                      <a:r>
                        <a:rPr sz="1100" b="1" i="0">
                          <a:solidFill>
                            <a:srgbClr val="14213D"/>
                          </a:solidFill>
                          <a:latin typeface="Calibri"/>
                        </a:rPr>
                        <a:t>0 of 314 (0.0%)</a:t>
                      </a:r>
                    </a:p>
                  </a:txBody>
                  <a:tcPr marL="64008" marR="64008" marT="32004" marB="32004" anchor="ctr">
                    <a:solidFill>
                      <a:srgbClr val="F4F7FA"/>
                    </a:solidFill>
                  </a:tcPr>
                </a:tc>
                <a:tc>
                  <a:txBody>
                    <a:bodyPr wrap="square"/>
                    <a:lstStyle/>
                    <a:p>
                      <a:pPr algn="l"/>
                      <a:r>
                        <a:rPr sz="1100" b="0" i="0">
                          <a:solidFill>
                            <a:srgbClr val="2A3345"/>
                          </a:solidFill>
                          <a:latin typeface="Calibri"/>
                        </a:rPr>
                        <a:t>—</a:t>
                      </a:r>
                    </a:p>
                  </a:txBody>
                  <a:tcPr marL="64008" marR="64008" marT="32004" marB="32004" anchor="ctr">
                    <a:solidFill>
                      <a:srgbClr val="F4F7FA"/>
                    </a:solidFill>
                  </a:tcPr>
                </a:tc>
                <a:tc>
                  <a:txBody>
                    <a:bodyPr wrap="square"/>
                    <a:lstStyle/>
                    <a:p>
                      <a:pPr algn="l"/>
                      <a:r>
                        <a:rPr sz="1100" b="0" i="0">
                          <a:solidFill>
                            <a:srgbClr val="2A3345"/>
                          </a:solidFill>
                          <a:latin typeface="Calibri"/>
                        </a:rPr>
                        <a:t>—</a:t>
                      </a:r>
                    </a:p>
                  </a:txBody>
                  <a:tcPr marL="64008" marR="64008" marT="32004" marB="32004" anchor="ctr">
                    <a:solidFill>
                      <a:srgbClr val="F4F7FA"/>
                    </a:solidFill>
                  </a:tcPr>
                </a:tc>
                <a:tc>
                  <a:txBody>
                    <a:bodyPr wrap="square"/>
                    <a:lstStyle/>
                    <a:p>
                      <a:pPr algn="l"/>
                      <a:r>
                        <a:rPr sz="1100" b="0" i="0">
                          <a:solidFill>
                            <a:srgbClr val="2A3345"/>
                          </a:solidFill>
                          <a:latin typeface="Calibri"/>
                        </a:rPr>
                        <a:t>—</a:t>
                      </a:r>
                    </a:p>
                  </a:txBody>
                  <a:tcPr marL="64008" marR="64008" marT="32004" marB="32004" anchor="ctr">
                    <a:solidFill>
                      <a:srgbClr val="F4F7FA"/>
                    </a:solidFill>
                  </a:tcPr>
                </a:tc>
              </a:tr>
            </a:tbl>
          </a:graphicData>
        </a:graphic>
      </p:graphicFrame>
      <p:sp>
        <p:nvSpPr>
          <p:cNvPr id="10" name="Rectangle 9"/>
          <p:cNvSpPr/>
          <p:nvPr/>
        </p:nvSpPr>
        <p:spPr>
          <a:xfrm>
            <a:off x="658368" y="3487945"/>
            <a:ext cx="10874959" cy="123748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487945"/>
            <a:ext cx="50292" cy="123748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579385"/>
            <a:ext cx="10463479" cy="1054608"/>
          </a:xfrm>
          <a:prstGeom prst="rect">
            <a:avLst/>
          </a:prstGeom>
          <a:noFill/>
        </p:spPr>
        <p:txBody>
          <a:bodyPr wrap="square" lIns="0" rIns="0" tIns="0" bIns="0">
            <a:spAutoFit/>
          </a:bodyPr>
          <a:lstStyle/>
          <a:p>
            <a:r>
              <a:rPr sz="1600" b="1" i="0">
                <a:solidFill>
                  <a:srgbClr val="14213D"/>
                </a:solidFill>
                <a:latin typeface="Calibri"/>
              </a:rPr>
              <a:t>The honest statement:</a:t>
            </a:r>
            <a:r>
              <a:rPr sz="1600" b="0" i="0">
                <a:solidFill>
                  <a:srgbClr val="14213D"/>
                </a:solidFill>
                <a:latin typeface="Calibri"/>
              </a:rPr>
              <a:t> the test block (Feb 2023 – May 2024) was a calm market. With </a:t>
            </a:r>
            <a:r>
              <a:rPr sz="1600" b="1" i="0">
                <a:solidFill>
                  <a:srgbClr val="14213D"/>
                </a:solidFill>
                <a:latin typeface="Calibri"/>
              </a:rPr>
              <a:t>4 turbulent days</a:t>
            </a:r>
            <a:r>
              <a:rPr sz="1600" b="0" i="0">
                <a:solidFill>
                  <a:srgbClr val="14213D"/>
                </a:solidFill>
                <a:latin typeface="Calibri"/>
              </a:rPr>
              <a:t>, H1b has essentially no statistical power. This is </a:t>
            </a:r>
            <a:r>
              <a:rPr sz="1600" b="1" i="0">
                <a:solidFill>
                  <a:srgbClr val="14213D"/>
                </a:solidFill>
                <a:latin typeface="Calibri"/>
              </a:rPr>
              <a:t>not evidence against the hypothesis</a:t>
            </a:r>
            <a:r>
              <a:rPr sz="1600" b="0" i="0">
                <a:solidFill>
                  <a:srgbClr val="14213D"/>
                </a:solidFill>
                <a:latin typeface="Calibri"/>
              </a:rPr>
              <a:t> — it is an absence of evidence either way.</a:t>
            </a:r>
          </a:p>
        </p:txBody>
      </p:sp>
      <p:sp>
        <p:nvSpPr>
          <p:cNvPr id="13" name="TextBox 12"/>
          <p:cNvSpPr txBox="1"/>
          <p:nvPr/>
        </p:nvSpPr>
        <p:spPr>
          <a:xfrm>
            <a:off x="658368" y="4853449"/>
            <a:ext cx="10874959" cy="650240"/>
          </a:xfrm>
          <a:prstGeom prst="rect">
            <a:avLst/>
          </a:prstGeom>
          <a:noFill/>
        </p:spPr>
        <p:txBody>
          <a:bodyPr wrap="square" lIns="0" rIns="0" tIns="0" bIns="0">
            <a:spAutoFit/>
          </a:bodyPr>
          <a:lstStyle/>
          <a:p>
            <a:r>
              <a:rPr sz="1550" b="1" i="0">
                <a:solidFill>
                  <a:srgbClr val="14213D"/>
                </a:solidFill>
                <a:latin typeface="Calibri"/>
              </a:rPr>
              <a:t>Power audit:</a:t>
            </a:r>
            <a:r>
              <a:rPr sz="1550" b="0" i="0">
                <a:solidFill>
                  <a:srgbClr val="2A3345"/>
                </a:solidFill>
                <a:latin typeface="Calibri"/>
              </a:rPr>
              <a:t> minimum detectable effect at 80% power = </a:t>
            </a:r>
            <a:r>
              <a:rPr sz="1550" b="1" i="0">
                <a:solidFill>
                  <a:srgbClr val="14213D"/>
                </a:solidFill>
                <a:latin typeface="Calibri"/>
              </a:rPr>
              <a:t>0.140</a:t>
            </a:r>
            <a:r>
              <a:rPr sz="1550" b="0" i="0">
                <a:solidFill>
                  <a:srgbClr val="2A3345"/>
                </a:solidFill>
                <a:latin typeface="Calibri"/>
              </a:rPr>
              <a:t> standardized. Anything smaller is invisible regardless of whether it's true.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The Pilot Ran at 1/180th of the Final Configuration</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2 — Research Question 1</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25  ·  26/40</a:t>
            </a:r>
          </a:p>
        </p:txBody>
      </p:sp>
      <p:graphicFrame>
        <p:nvGraphicFramePr>
          <p:cNvPr id="7" name="Table 6"/>
          <p:cNvGraphicFramePr>
            <a:graphicFrameLocks noGrp="1"/>
          </p:cNvGraphicFramePr>
          <p:nvPr/>
        </p:nvGraphicFramePr>
        <p:xfrm>
          <a:off x="658368" y="1645920"/>
          <a:ext cx="10874958" cy="2099691"/>
        </p:xfrm>
        <a:graphic>
          <a:graphicData uri="http://schemas.openxmlformats.org/drawingml/2006/table">
            <a:tbl>
              <a:tblPr firstRow="1">
                <a:tableStyleId>{5C22544A-7EE6-4342-B048-85BDC9FD1C3A}</a:tableStyleId>
              </a:tblPr>
              <a:tblGrid>
                <a:gridCol w="2137182"/>
                <a:gridCol w="5248433"/>
                <a:gridCol w="3489343"/>
              </a:tblGrid>
              <a:tr h="299955">
                <a:tc>
                  <a:txBody>
                    <a:bodyPr wrap="square"/>
                    <a:lstStyle/>
                    <a:p>
                      <a:pPr algn="l"/>
                    </a:p>
                  </a:txBody>
                  <a:tcPr marL="64008" marR="64008" marT="32004" marB="32004" anchor="ctr">
                    <a:solidFill>
                      <a:srgbClr val="1D5B8F"/>
                    </a:solidFill>
                  </a:tcPr>
                </a:tc>
                <a:tc>
                  <a:txBody>
                    <a:bodyPr wrap="square"/>
                    <a:lstStyle/>
                    <a:p>
                      <a:pPr algn="l"/>
                      <a:r>
                        <a:rPr sz="1150" b="1" i="0">
                          <a:solidFill>
                            <a:srgbClr val="FFFFFF"/>
                          </a:solidFill>
                          <a:latin typeface="Calibri"/>
                        </a:rPr>
                        <a:t>Pilot (these results)</a:t>
                      </a:r>
                    </a:p>
                  </a:txBody>
                  <a:tcPr marL="64008" marR="64008" marT="32004" marB="32004" anchor="ctr">
                    <a:solidFill>
                      <a:srgbClr val="1D5B8F"/>
                    </a:solidFill>
                  </a:tcPr>
                </a:tc>
                <a:tc>
                  <a:txBody>
                    <a:bodyPr wrap="square"/>
                    <a:lstStyle/>
                    <a:p>
                      <a:pPr algn="l"/>
                      <a:r>
                        <a:rPr sz="1150" b="1" i="0">
                          <a:solidFill>
                            <a:srgbClr val="FFFFFF"/>
                          </a:solidFill>
                          <a:latin typeface="Calibri"/>
                        </a:rPr>
                        <a:t>Thesis run</a:t>
                      </a:r>
                    </a:p>
                  </a:txBody>
                  <a:tcPr marL="64008" marR="64008" marT="32004" marB="32004" anchor="ctr">
                    <a:solidFill>
                      <a:srgbClr val="1D5B8F"/>
                    </a:solidFill>
                  </a:tcPr>
                </a:tc>
              </a:tr>
              <a:tr h="299955">
                <a:tc>
                  <a:txBody>
                    <a:bodyPr wrap="square"/>
                    <a:lstStyle/>
                    <a:p>
                      <a:pPr algn="l"/>
                      <a:r>
                        <a:rPr sz="1100" b="1" i="0">
                          <a:solidFill>
                            <a:srgbClr val="14213D"/>
                          </a:solidFill>
                          <a:latin typeface="Calibri"/>
                        </a:rPr>
                        <a:t>Seeds</a:t>
                      </a:r>
                    </a:p>
                  </a:txBody>
                  <a:tcPr marL="64008" marR="64008" marT="32004" marB="32004" anchor="ctr">
                    <a:solidFill>
                      <a:srgbClr val="F4F7FA"/>
                    </a:solidFill>
                  </a:tcPr>
                </a:tc>
                <a:tc>
                  <a:txBody>
                    <a:bodyPr wrap="square"/>
                    <a:lstStyle/>
                    <a:p>
                      <a:pPr algn="l"/>
                      <a:r>
                        <a:rPr sz="1100" b="0" i="0">
                          <a:solidFill>
                            <a:srgbClr val="2A3345"/>
                          </a:solidFill>
                          <a:latin typeface="Calibri"/>
                        </a:rPr>
                        <a:t>3</a:t>
                      </a:r>
                    </a:p>
                  </a:txBody>
                  <a:tcPr marL="64008" marR="64008" marT="32004" marB="32004" anchor="ctr">
                    <a:solidFill>
                      <a:srgbClr val="F4F7FA"/>
                    </a:solidFill>
                  </a:tcPr>
                </a:tc>
                <a:tc>
                  <a:txBody>
                    <a:bodyPr wrap="square"/>
                    <a:lstStyle/>
                    <a:p>
                      <a:pPr algn="l"/>
                      <a:r>
                        <a:rPr sz="1100" b="1" i="0">
                          <a:solidFill>
                            <a:srgbClr val="14213D"/>
                          </a:solidFill>
                          <a:latin typeface="Calibri"/>
                        </a:rPr>
                        <a:t>20</a:t>
                      </a:r>
                    </a:p>
                  </a:txBody>
                  <a:tcPr marL="64008" marR="64008" marT="32004" marB="32004" anchor="ctr">
                    <a:solidFill>
                      <a:srgbClr val="F4F7FA"/>
                    </a:solidFill>
                  </a:tcPr>
                </a:tc>
              </a:tr>
              <a:tr h="299955">
                <a:tc>
                  <a:txBody>
                    <a:bodyPr wrap="square"/>
                    <a:lstStyle/>
                    <a:p>
                      <a:pPr algn="l"/>
                      <a:r>
                        <a:rPr sz="1100" b="1" i="0">
                          <a:solidFill>
                            <a:srgbClr val="14213D"/>
                          </a:solidFill>
                          <a:latin typeface="Calibri"/>
                        </a:rPr>
                        <a:t>Epochs</a:t>
                      </a:r>
                    </a:p>
                  </a:txBody>
                  <a:tcPr marL="64008" marR="64008" marT="32004" marB="32004" anchor="ctr">
                    <a:solidFill>
                      <a:srgbClr val="FFFFFF"/>
                    </a:solidFill>
                  </a:tcPr>
                </a:tc>
                <a:tc>
                  <a:txBody>
                    <a:bodyPr wrap="square"/>
                    <a:lstStyle/>
                    <a:p>
                      <a:pPr algn="l"/>
                      <a:r>
                        <a:rPr sz="1100" b="0" i="0">
                          <a:solidFill>
                            <a:srgbClr val="2A3345"/>
                          </a:solidFill>
                          <a:latin typeface="Calibri"/>
                        </a:rPr>
                        <a:t>200 </a:t>
                      </a:r>
                      <a:r>
                        <a:rPr sz="1100" b="0" i="1">
                          <a:solidFill>
                            <a:srgbClr val="2A3345"/>
                          </a:solidFill>
                          <a:latin typeface="Calibri"/>
                        </a:rPr>
                        <a:t>(hit the cap — not converged)</a:t>
                      </a:r>
                    </a:p>
                  </a:txBody>
                  <a:tcPr marL="64008" marR="64008" marT="32004" marB="32004" anchor="ctr">
                    <a:solidFill>
                      <a:srgbClr val="FFFFFF"/>
                    </a:solidFill>
                  </a:tcPr>
                </a:tc>
                <a:tc>
                  <a:txBody>
                    <a:bodyPr wrap="square"/>
                    <a:lstStyle/>
                    <a:p>
                      <a:pPr algn="l"/>
                      <a:r>
                        <a:rPr sz="1100" b="1" i="0">
                          <a:solidFill>
                            <a:srgbClr val="14213D"/>
                          </a:solidFill>
                          <a:latin typeface="Calibri"/>
                        </a:rPr>
                        <a:t>3,000</a:t>
                      </a:r>
                    </a:p>
                  </a:txBody>
                  <a:tcPr marL="64008" marR="64008" marT="32004" marB="32004" anchor="ctr">
                    <a:solidFill>
                      <a:srgbClr val="FFFFFF"/>
                    </a:solidFill>
                  </a:tcPr>
                </a:tc>
              </a:tr>
              <a:tr h="299955">
                <a:tc>
                  <a:txBody>
                    <a:bodyPr wrap="square"/>
                    <a:lstStyle/>
                    <a:p>
                      <a:pPr algn="l"/>
                      <a:r>
                        <a:rPr sz="1100" b="1" i="0">
                          <a:solidFill>
                            <a:srgbClr val="14213D"/>
                          </a:solidFill>
                          <a:latin typeface="Calibri"/>
                        </a:rPr>
                        <a:t>Surrogates per pair</a:t>
                      </a:r>
                    </a:p>
                  </a:txBody>
                  <a:tcPr marL="64008" marR="64008" marT="32004" marB="32004" anchor="ctr">
                    <a:solidFill>
                      <a:srgbClr val="F4F7FA"/>
                    </a:solidFill>
                  </a:tcPr>
                </a:tc>
                <a:tc>
                  <a:txBody>
                    <a:bodyPr wrap="square"/>
                    <a:lstStyle/>
                    <a:p>
                      <a:pPr algn="l"/>
                      <a:r>
                        <a:rPr sz="1100" b="0" i="0">
                          <a:solidFill>
                            <a:srgbClr val="2A3345"/>
                          </a:solidFill>
                          <a:latin typeface="Calibri"/>
                        </a:rPr>
                        <a:t>100</a:t>
                      </a:r>
                    </a:p>
                  </a:txBody>
                  <a:tcPr marL="64008" marR="64008" marT="32004" marB="32004" anchor="ctr">
                    <a:solidFill>
                      <a:srgbClr val="F4F7FA"/>
                    </a:solidFill>
                  </a:tcPr>
                </a:tc>
                <a:tc>
                  <a:txBody>
                    <a:bodyPr wrap="square"/>
                    <a:lstStyle/>
                    <a:p>
                      <a:pPr algn="l"/>
                      <a:r>
                        <a:rPr sz="1100" b="1" i="0">
                          <a:solidFill>
                            <a:srgbClr val="14213D"/>
                          </a:solidFill>
                          <a:latin typeface="Calibri"/>
                        </a:rPr>
                        <a:t>1,000</a:t>
                      </a:r>
                    </a:p>
                  </a:txBody>
                  <a:tcPr marL="64008" marR="64008" marT="32004" marB="32004" anchor="ctr">
                    <a:solidFill>
                      <a:srgbClr val="F4F7FA"/>
                    </a:solidFill>
                  </a:tcPr>
                </a:tc>
              </a:tr>
              <a:tr h="299955">
                <a:tc>
                  <a:txBody>
                    <a:bodyPr wrap="square"/>
                    <a:lstStyle/>
                    <a:p>
                      <a:pPr algn="l"/>
                      <a:r>
                        <a:rPr sz="1100" b="1" i="0">
                          <a:solidFill>
                            <a:srgbClr val="14213D"/>
                          </a:solidFill>
                          <a:latin typeface="Calibri"/>
                        </a:rPr>
                        <a:t>α grid</a:t>
                      </a:r>
                    </a:p>
                  </a:txBody>
                  <a:tcPr marL="64008" marR="64008" marT="32004" marB="32004" anchor="ctr">
                    <a:solidFill>
                      <a:srgbClr val="FFFFFF"/>
                    </a:solidFill>
                  </a:tcPr>
                </a:tc>
                <a:tc>
                  <a:txBody>
                    <a:bodyPr wrap="square"/>
                    <a:lstStyle/>
                    <a:p>
                      <a:pPr algn="l"/>
                      <a:r>
                        <a:rPr sz="1100" b="0" i="0">
                          <a:solidFill>
                            <a:srgbClr val="2A3345"/>
                          </a:solidFill>
                          <a:latin typeface="Calibri"/>
                        </a:rPr>
                        <a:t>0.5, 1.0, 1.5</a:t>
                      </a:r>
                    </a:p>
                  </a:txBody>
                  <a:tcPr marL="64008" marR="64008" marT="32004" marB="32004" anchor="ctr">
                    <a:solidFill>
                      <a:srgbClr val="FFFFFF"/>
                    </a:solidFill>
                  </a:tcPr>
                </a:tc>
                <a:tc>
                  <a:txBody>
                    <a:bodyPr wrap="square"/>
                    <a:lstStyle/>
                    <a:p>
                      <a:pPr algn="l"/>
                      <a:r>
                        <a:rPr sz="1100" b="0" i="0">
                          <a:solidFill>
                            <a:srgbClr val="2A3345"/>
                          </a:solidFill>
                          <a:latin typeface="Calibri"/>
                        </a:rPr>
                        <a:t>0.3, 0.5, 0.7, 0.9, 1.0, 1.1, 1.5</a:t>
                      </a:r>
                    </a:p>
                  </a:txBody>
                  <a:tcPr marL="64008" marR="64008" marT="32004" marB="32004" anchor="ctr">
                    <a:solidFill>
                      <a:srgbClr val="FFFFFF"/>
                    </a:solidFill>
                  </a:tcPr>
                </a:tc>
              </a:tr>
              <a:tr h="299955">
                <a:tc>
                  <a:txBody>
                    <a:bodyPr wrap="square"/>
                    <a:lstStyle/>
                    <a:p>
                      <a:pPr algn="l"/>
                      <a:r>
                        <a:rPr sz="1100" b="1" i="0">
                          <a:solidFill>
                            <a:srgbClr val="14213D"/>
                          </a:solidFill>
                          <a:latin typeface="Calibri"/>
                        </a:rPr>
                        <a:t>Sample start</a:t>
                      </a:r>
                    </a:p>
                  </a:txBody>
                  <a:tcPr marL="64008" marR="64008" marT="32004" marB="32004" anchor="ctr">
                    <a:solidFill>
                      <a:srgbClr val="F4F7FA"/>
                    </a:solidFill>
                  </a:tcPr>
                </a:tc>
                <a:tc>
                  <a:txBody>
                    <a:bodyPr wrap="square"/>
                    <a:lstStyle/>
                    <a:p>
                      <a:pPr algn="l"/>
                      <a:r>
                        <a:rPr sz="1100" b="0" i="0">
                          <a:solidFill>
                            <a:srgbClr val="2A3345"/>
                          </a:solidFill>
                          <a:latin typeface="Calibri"/>
                        </a:rPr>
                        <a:t>2018</a:t>
                      </a:r>
                    </a:p>
                  </a:txBody>
                  <a:tcPr marL="64008" marR="64008" marT="32004" marB="32004" anchor="ctr">
                    <a:solidFill>
                      <a:srgbClr val="F4F7FA"/>
                    </a:solidFill>
                  </a:tcPr>
                </a:tc>
                <a:tc>
                  <a:txBody>
                    <a:bodyPr wrap="square"/>
                    <a:lstStyle/>
                    <a:p>
                      <a:pPr algn="l"/>
                      <a:r>
                        <a:rPr sz="1100" b="1" i="0">
                          <a:solidFill>
                            <a:srgbClr val="14213D"/>
                          </a:solidFill>
                          <a:latin typeface="Calibri"/>
                        </a:rPr>
                        <a:t>2003</a:t>
                      </a:r>
                    </a:p>
                  </a:txBody>
                  <a:tcPr marL="64008" marR="64008" marT="32004" marB="32004" anchor="ctr">
                    <a:solidFill>
                      <a:srgbClr val="F4F7FA"/>
                    </a:solidFill>
                  </a:tcPr>
                </a:tc>
              </a:tr>
              <a:tr h="299961">
                <a:tc>
                  <a:txBody>
                    <a:bodyPr wrap="square"/>
                    <a:lstStyle/>
                    <a:p>
                      <a:pPr algn="l"/>
                      <a:r>
                        <a:rPr sz="1100" b="1" i="0">
                          <a:solidFill>
                            <a:srgbClr val="14213D"/>
                          </a:solidFill>
                          <a:latin typeface="Calibri"/>
                        </a:rPr>
                        <a:t>Wall clock</a:t>
                      </a:r>
                    </a:p>
                  </a:txBody>
                  <a:tcPr marL="64008" marR="64008" marT="32004" marB="32004" anchor="ctr">
                    <a:solidFill>
                      <a:srgbClr val="FFFFFF"/>
                    </a:solidFill>
                  </a:tcPr>
                </a:tc>
                <a:tc>
                  <a:txBody>
                    <a:bodyPr wrap="square"/>
                    <a:lstStyle/>
                    <a:p>
                      <a:pPr algn="l"/>
                      <a:r>
                        <a:rPr sz="1100" b="0" i="0">
                          <a:solidFill>
                            <a:srgbClr val="2A3345"/>
                          </a:solidFill>
                          <a:latin typeface="Calibri"/>
                        </a:rPr>
                        <a:t>5 minutes</a:t>
                      </a:r>
                    </a:p>
                  </a:txBody>
                  <a:tcPr marL="64008" marR="64008" marT="32004" marB="32004" anchor="ctr">
                    <a:solidFill>
                      <a:srgbClr val="FFFFFF"/>
                    </a:solidFill>
                  </a:tcPr>
                </a:tc>
                <a:tc>
                  <a:txBody>
                    <a:bodyPr wrap="square"/>
                    <a:lstStyle/>
                    <a:p>
                      <a:pPr algn="l"/>
                      <a:r>
                        <a:rPr sz="1100" b="1" i="0">
                          <a:solidFill>
                            <a:srgbClr val="14213D"/>
                          </a:solidFill>
                          <a:latin typeface="Calibri"/>
                        </a:rPr>
                        <a:t>49–74 hours</a:t>
                      </a:r>
                    </a:p>
                  </a:txBody>
                  <a:tcPr marL="64008" marR="64008" marT="32004" marB="32004" anchor="ctr">
                    <a:solidFill>
                      <a:srgbClr val="FFFFFF"/>
                    </a:solidFill>
                  </a:tcPr>
                </a:tc>
              </a:tr>
            </a:tbl>
          </a:graphicData>
        </a:graphic>
      </p:graphicFrame>
      <p:sp>
        <p:nvSpPr>
          <p:cNvPr id="8" name="TextBox 7"/>
          <p:cNvSpPr txBox="1"/>
          <p:nvPr/>
        </p:nvSpPr>
        <p:spPr>
          <a:xfrm>
            <a:off x="658368" y="3873627"/>
            <a:ext cx="10874959" cy="370840"/>
          </a:xfrm>
          <a:prstGeom prst="rect">
            <a:avLst/>
          </a:prstGeom>
          <a:noFill/>
        </p:spPr>
        <p:txBody>
          <a:bodyPr wrap="square" lIns="0" rIns="0" tIns="0" bIns="0">
            <a:spAutoFit/>
          </a:bodyPr>
          <a:lstStyle/>
          <a:p>
            <a:pPr marL="237744" indent="-237744"/>
            <a:r>
              <a:rPr sz="1550">
                <a:solidFill>
                  <a:srgbClr val="1D5B8F"/>
                </a:solidFill>
                <a:latin typeface="Calibri"/>
              </a:rPr>
              <a:t>▪  </a:t>
            </a:r>
            <a:r>
              <a:rPr sz="1550" b="1" i="0">
                <a:solidFill>
                  <a:srgbClr val="14213D"/>
                </a:solidFill>
                <a:latin typeface="Calibri"/>
              </a:rPr>
              <a:t>Every arm hit the 200-epoch cap</a:t>
            </a:r>
            <a:r>
              <a:rPr sz="1550" b="0" i="0">
                <a:solidFill>
                  <a:srgbClr val="2A3345"/>
                </a:solidFill>
                <a:latin typeface="Calibri"/>
              </a:rPr>
              <a:t> — none of them finished training.</a:t>
            </a:r>
          </a:p>
        </p:txBody>
      </p:sp>
      <p:sp>
        <p:nvSpPr>
          <p:cNvPr id="9" name="TextBox 8"/>
          <p:cNvSpPr txBox="1"/>
          <p:nvPr/>
        </p:nvSpPr>
        <p:spPr>
          <a:xfrm>
            <a:off x="658368" y="4244467"/>
            <a:ext cx="10874959" cy="370840"/>
          </a:xfrm>
          <a:prstGeom prst="rect">
            <a:avLst/>
          </a:prstGeom>
          <a:noFill/>
        </p:spPr>
        <p:txBody>
          <a:bodyPr wrap="square" lIns="0" rIns="0" tIns="0" bIns="0">
            <a:spAutoFit/>
          </a:bodyPr>
          <a:lstStyle/>
          <a:p>
            <a:pPr marL="237744" indent="-237744"/>
            <a:r>
              <a:rPr sz="1550">
                <a:solidFill>
                  <a:srgbClr val="1D5B8F"/>
                </a:solidFill>
                <a:latin typeface="Calibri"/>
              </a:rPr>
              <a:t>▪  </a:t>
            </a:r>
            <a:r>
              <a:rPr sz="1550" b="0" i="0">
                <a:solidFill>
                  <a:srgbClr val="2A3345"/>
                </a:solidFill>
                <a:latin typeface="Calibri"/>
              </a:rPr>
              <a:t>Training work ratio: </a:t>
            </a:r>
            <a:r>
              <a:rPr sz="1550" b="1" i="0">
                <a:solidFill>
                  <a:srgbClr val="14213D"/>
                </a:solidFill>
                <a:latin typeface="Calibri"/>
              </a:rPr>
              <a:t>180×</a:t>
            </a:r>
            <a:r>
              <a:rPr sz="1550" b="0" i="0">
                <a:solidFill>
                  <a:srgbClr val="2A3345"/>
                </a:solidFill>
                <a:latin typeface="Calibri"/>
              </a:rPr>
              <a:t>. ER-TE work ratio: </a:t>
            </a:r>
            <a:r>
              <a:rPr sz="1550" b="1" i="0">
                <a:solidFill>
                  <a:srgbClr val="14213D"/>
                </a:solidFill>
                <a:latin typeface="Calibri"/>
              </a:rPr>
              <a:t>23×</a:t>
            </a:r>
            <a:r>
              <a:rPr sz="1550" b="0" i="0">
                <a:solidFill>
                  <a:srgbClr val="2A3345"/>
                </a:solidFill>
                <a:latin typeface="Calibri"/>
              </a:rPr>
              <a:t>.</a:t>
            </a:r>
          </a:p>
        </p:txBody>
      </p:sp>
      <p:sp>
        <p:nvSpPr>
          <p:cNvPr id="10" name="Rectangle 9"/>
          <p:cNvSpPr/>
          <p:nvPr/>
        </p:nvSpPr>
        <p:spPr>
          <a:xfrm>
            <a:off x="658368" y="4615307"/>
            <a:ext cx="10874959" cy="977391"/>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4615307"/>
            <a:ext cx="50292" cy="977391"/>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706747"/>
            <a:ext cx="10463479" cy="794511"/>
          </a:xfrm>
          <a:prstGeom prst="rect">
            <a:avLst/>
          </a:prstGeom>
          <a:noFill/>
        </p:spPr>
        <p:txBody>
          <a:bodyPr wrap="square" lIns="0" rIns="0" tIns="0" bIns="0">
            <a:spAutoFit/>
          </a:bodyPr>
          <a:lstStyle/>
          <a:p>
            <a:r>
              <a:rPr sz="1600" b="0" i="0">
                <a:solidFill>
                  <a:srgbClr val="14213D"/>
                </a:solidFill>
                <a:latin typeface="Calibri"/>
              </a:rPr>
              <a:t>The pilot's job was to prove the </a:t>
            </a:r>
            <a:r>
              <a:rPr sz="1600" b="1" i="0">
                <a:solidFill>
                  <a:srgbClr val="14213D"/>
                </a:solidFill>
                <a:latin typeface="Calibri"/>
              </a:rPr>
              <a:t>pipeline runs end to end and produces the right table shapes</a:t>
            </a:r>
            <a:r>
              <a:rPr sz="1600" b="0" i="0">
                <a:solidFill>
                  <a:srgbClr val="14213D"/>
                </a:solidFill>
                <a:latin typeface="Calibri"/>
              </a:rPr>
              <a:t> — not to produce the thesis's answer. It did that.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Research Question 2 — A Genuinely Different Question</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3 — Research Question 2</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26  ·  27/40</a:t>
            </a:r>
          </a:p>
        </p:txBody>
      </p:sp>
      <p:sp>
        <p:nvSpPr>
          <p:cNvPr id="7" name="Rectangle 6"/>
          <p:cNvSpPr/>
          <p:nvPr/>
        </p:nvSpPr>
        <p:spPr>
          <a:xfrm>
            <a:off x="658368" y="1979615"/>
            <a:ext cx="10874959" cy="123748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79615"/>
            <a:ext cx="50292" cy="123748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71055"/>
            <a:ext cx="10463479" cy="1054608"/>
          </a:xfrm>
          <a:prstGeom prst="rect">
            <a:avLst/>
          </a:prstGeom>
          <a:noFill/>
        </p:spPr>
        <p:txBody>
          <a:bodyPr wrap="square" lIns="0" rIns="0" tIns="0" bIns="0">
            <a:spAutoFit/>
          </a:bodyPr>
          <a:lstStyle/>
          <a:p>
            <a:r>
              <a:rPr sz="1600" b="1" i="0">
                <a:solidFill>
                  <a:srgbClr val="14213D"/>
                </a:solidFill>
                <a:latin typeface="Calibri"/>
              </a:rPr>
              <a:t>When the network is built from Rényi ETE versus Shannon ETE on the same crisis and non-crisis windows, does the resulting topology differ — do the top volatility-information transmitters change identity under tail-sensitive (α &lt; 1) measurement during crisis periods?</a:t>
            </a:r>
          </a:p>
        </p:txBody>
      </p:sp>
      <p:sp>
        <p:nvSpPr>
          <p:cNvPr id="10" name="TextBox 9"/>
          <p:cNvSpPr txBox="1"/>
          <p:nvPr/>
        </p:nvSpPr>
        <p:spPr>
          <a:xfrm>
            <a:off x="658368" y="3345119"/>
            <a:ext cx="10874959" cy="398272"/>
          </a:xfrm>
          <a:prstGeom prst="rect">
            <a:avLst/>
          </a:prstGeom>
          <a:noFill/>
        </p:spPr>
        <p:txBody>
          <a:bodyPr wrap="square" lIns="0" rIns="0" tIns="0" bIns="0">
            <a:spAutoFit/>
          </a:bodyPr>
          <a:lstStyle/>
          <a:p>
            <a:r>
              <a:rPr sz="1550" b="0" i="0">
                <a:solidFill>
                  <a:srgbClr val="2A3345"/>
                </a:solidFill>
                <a:latin typeface="Calibri"/>
              </a:rPr>
              <a:t>In plain English:</a:t>
            </a:r>
          </a:p>
        </p:txBody>
      </p:sp>
      <p:sp>
        <p:nvSpPr>
          <p:cNvPr id="11" name="Rectangle 10"/>
          <p:cNvSpPr/>
          <p:nvPr/>
        </p:nvSpPr>
        <p:spPr>
          <a:xfrm>
            <a:off x="658368" y="3743391"/>
            <a:ext cx="10874959" cy="717296"/>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743391"/>
            <a:ext cx="50292" cy="717296"/>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834831"/>
            <a:ext cx="10463479" cy="534416"/>
          </a:xfrm>
          <a:prstGeom prst="rect">
            <a:avLst/>
          </a:prstGeom>
          <a:noFill/>
        </p:spPr>
        <p:txBody>
          <a:bodyPr wrap="square" lIns="0" rIns="0" tIns="0" bIns="0">
            <a:spAutoFit/>
          </a:bodyPr>
          <a:lstStyle/>
          <a:p>
            <a:r>
              <a:rPr sz="1600" b="1" i="0">
                <a:solidFill>
                  <a:srgbClr val="14213D"/>
                </a:solidFill>
                <a:latin typeface="Calibri"/>
              </a:rPr>
              <a:t>Forget forecasting for a moment. Do the two measurement tools draw a </a:t>
            </a:r>
            <a:r>
              <a:rPr sz="1600" b="1" i="1">
                <a:solidFill>
                  <a:srgbClr val="14213D"/>
                </a:solidFill>
                <a:latin typeface="Calibri"/>
              </a:rPr>
              <a:t>different map of the world</a:t>
            </a:r>
            <a:r>
              <a:rPr sz="1600" b="1" i="0">
                <a:solidFill>
                  <a:srgbClr val="14213D"/>
                </a:solidFill>
                <a:latin typeface="Calibri"/>
              </a:rPr>
              <a:t>?</a:t>
            </a:r>
          </a:p>
        </p:txBody>
      </p:sp>
      <p:sp>
        <p:nvSpPr>
          <p:cNvPr id="14" name="Rectangle 13"/>
          <p:cNvSpPr/>
          <p:nvPr/>
        </p:nvSpPr>
        <p:spPr>
          <a:xfrm>
            <a:off x="658368" y="4588703"/>
            <a:ext cx="10874959" cy="123748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588703"/>
            <a:ext cx="50292" cy="123748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4680143"/>
            <a:ext cx="10463479" cy="1054608"/>
          </a:xfrm>
          <a:prstGeom prst="rect">
            <a:avLst/>
          </a:prstGeom>
          <a:noFill/>
        </p:spPr>
        <p:txBody>
          <a:bodyPr wrap="square" lIns="0" rIns="0" tIns="0" bIns="0">
            <a:spAutoFit/>
          </a:bodyPr>
          <a:lstStyle/>
          <a:p>
            <a:r>
              <a:rPr sz="1600" b="1" i="0">
                <a:solidFill>
                  <a:srgbClr val="14213D"/>
                </a:solidFill>
                <a:latin typeface="Calibri"/>
              </a:rPr>
              <a:t>Why this matters independently:</a:t>
            </a:r>
            <a:r>
              <a:rPr sz="1600" b="0" i="0">
                <a:solidFill>
                  <a:srgbClr val="14213D"/>
                </a:solidFill>
                <a:latin typeface="Calibri"/>
              </a:rPr>
              <a:t> if Shannon says Germany is the dominant crisis transmitter and Rényi says Brazil is, </a:t>
            </a:r>
            <a:r>
              <a:rPr sz="1600" b="1" i="0">
                <a:solidFill>
                  <a:srgbClr val="14213D"/>
                </a:solidFill>
                <a:latin typeface="Calibri"/>
              </a:rPr>
              <a:t>that is a finding about measurement itself</a:t>
            </a:r>
            <a:r>
              <a:rPr sz="1600" b="0" i="0">
                <a:solidFill>
                  <a:srgbClr val="14213D"/>
                </a:solidFill>
                <a:latin typeface="Calibri"/>
              </a:rPr>
              <a:t> — true regardless of which model forecasts better. RQ2 is a structural contribution, not a predictive 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H2a — Is This Arrow Even Real?</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3 — Research Question 2</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27  ·  28/40</a:t>
            </a:r>
          </a:p>
        </p:txBody>
      </p:sp>
      <p:graphicFrame>
        <p:nvGraphicFramePr>
          <p:cNvPr id="7" name="Table 6"/>
          <p:cNvGraphicFramePr>
            <a:graphicFrameLocks noGrp="1"/>
          </p:cNvGraphicFramePr>
          <p:nvPr/>
        </p:nvGraphicFramePr>
        <p:xfrm>
          <a:off x="658368" y="1645920"/>
          <a:ext cx="10874958" cy="854964"/>
        </p:xfrm>
        <a:graphic>
          <a:graphicData uri="http://schemas.openxmlformats.org/drawingml/2006/table">
            <a:tbl>
              <a:tblPr>
                <a:tableStyleId>{5C22544A-7EE6-4342-B048-85BDC9FD1C3A}</a:tableStyleId>
              </a:tblPr>
              <a:tblGrid>
                <a:gridCol w="356123"/>
                <a:gridCol w="10518835"/>
              </a:tblGrid>
              <a:tr h="427482">
                <a:tc>
                  <a:txBody>
                    <a:bodyPr wrap="square"/>
                    <a:lstStyle/>
                    <a:p>
                      <a:pPr algn="l"/>
                      <a:r>
                        <a:rPr sz="1100" b="1" i="0">
                          <a:solidFill>
                            <a:srgbClr val="14213D"/>
                          </a:solidFill>
                          <a:latin typeface="Calibri"/>
                        </a:rPr>
                        <a:t>H₀</a:t>
                      </a:r>
                    </a:p>
                  </a:txBody>
                  <a:tcPr marL="64008" marR="64008" marT="32004" marB="32004" anchor="ctr">
                    <a:solidFill>
                      <a:srgbClr val="F4F7FA"/>
                    </a:solidFill>
                  </a:tcPr>
                </a:tc>
                <a:tc>
                  <a:txBody>
                    <a:bodyPr wrap="square"/>
                    <a:lstStyle/>
                    <a:p>
                      <a:pPr algn="l"/>
                      <a:r>
                        <a:rPr sz="1100" b="0" i="0">
                          <a:solidFill>
                            <a:srgbClr val="2A3345"/>
                          </a:solidFill>
                          <a:latin typeface="Calibri"/>
                        </a:rPr>
                        <a:t>Country </a:t>
                      </a:r>
                      <a:r>
                        <a:rPr sz="1100" b="0" i="1">
                          <a:solidFill>
                            <a:srgbClr val="2A3345"/>
                          </a:solidFill>
                          <a:latin typeface="Calibri"/>
                        </a:rPr>
                        <a:t>i</a:t>
                      </a:r>
                      <a:r>
                        <a:rPr sz="1100" b="0" i="0">
                          <a:solidFill>
                            <a:srgbClr val="2A3345"/>
                          </a:solidFill>
                          <a:latin typeface="Calibri"/>
                        </a:rPr>
                        <a:t>'s past carries </a:t>
                      </a:r>
                      <a:r>
                        <a:rPr sz="1100" b="1" i="0">
                          <a:solidFill>
                            <a:srgbClr val="14213D"/>
                          </a:solidFill>
                          <a:latin typeface="Calibri"/>
                        </a:rPr>
                        <a:t>no</a:t>
                      </a:r>
                      <a:r>
                        <a:rPr sz="1100" b="0" i="0">
                          <a:solidFill>
                            <a:srgbClr val="2A3345"/>
                          </a:solidFill>
                          <a:latin typeface="Calibri"/>
                        </a:rPr>
                        <a:t> information about country </a:t>
                      </a:r>
                      <a:r>
                        <a:rPr sz="1100" b="0" i="1">
                          <a:solidFill>
                            <a:srgbClr val="2A3345"/>
                          </a:solidFill>
                          <a:latin typeface="Calibri"/>
                        </a:rPr>
                        <a:t>j</a:t>
                      </a:r>
                      <a:r>
                        <a:rPr sz="1100" b="0" i="0">
                          <a:solidFill>
                            <a:srgbClr val="2A3345"/>
                          </a:solidFill>
                          <a:latin typeface="Calibri"/>
                        </a:rPr>
                        <a:t>'s future beyond what </a:t>
                      </a:r>
                      <a:r>
                        <a:rPr sz="1100" b="0" i="1">
                          <a:solidFill>
                            <a:srgbClr val="2A3345"/>
                          </a:solidFill>
                          <a:latin typeface="Calibri"/>
                        </a:rPr>
                        <a:t>j</a:t>
                      </a:r>
                      <a:r>
                        <a:rPr sz="1100" b="0" i="0">
                          <a:solidFill>
                            <a:srgbClr val="2A3345"/>
                          </a:solidFill>
                          <a:latin typeface="Calibri"/>
                        </a:rPr>
                        <a:t>'s own past already provides. The measured flow is indistinguishable from noise.</a:t>
                      </a:r>
                    </a:p>
                  </a:txBody>
                  <a:tcPr marL="64008" marR="64008" marT="32004" marB="32004" anchor="ctr">
                    <a:solidFill>
                      <a:srgbClr val="F4F7FA"/>
                    </a:solidFill>
                  </a:tcPr>
                </a:tc>
              </a:tr>
              <a:tr h="427482">
                <a:tc>
                  <a:txBody>
                    <a:bodyPr wrap="square"/>
                    <a:lstStyle/>
                    <a:p>
                      <a:pPr algn="l"/>
                      <a:r>
                        <a:rPr sz="1100" b="1" i="0">
                          <a:solidFill>
                            <a:srgbClr val="14213D"/>
                          </a:solidFill>
                          <a:latin typeface="Calibri"/>
                        </a:rPr>
                        <a:t>H₁</a:t>
                      </a:r>
                    </a:p>
                  </a:txBody>
                  <a:tcPr marL="64008" marR="64008" marT="32004" marB="32004" anchor="ctr">
                    <a:solidFill>
                      <a:srgbClr val="FFFFFF"/>
                    </a:solidFill>
                  </a:tcPr>
                </a:tc>
                <a:tc>
                  <a:txBody>
                    <a:bodyPr wrap="square"/>
                    <a:lstStyle/>
                    <a:p>
                      <a:pPr algn="l"/>
                      <a:r>
                        <a:rPr sz="1100" b="0" i="0">
                          <a:solidFill>
                            <a:srgbClr val="2A3345"/>
                          </a:solidFill>
                          <a:latin typeface="Calibri"/>
                        </a:rPr>
                        <a:t>A genuine directional flow exists from </a:t>
                      </a:r>
                      <a:r>
                        <a:rPr sz="1100" b="0" i="1">
                          <a:solidFill>
                            <a:srgbClr val="2A3345"/>
                          </a:solidFill>
                          <a:latin typeface="Calibri"/>
                        </a:rPr>
                        <a:t>i</a:t>
                      </a:r>
                      <a:r>
                        <a:rPr sz="1100" b="0" i="0">
                          <a:solidFill>
                            <a:srgbClr val="2A3345"/>
                          </a:solidFill>
                          <a:latin typeface="Calibri"/>
                        </a:rPr>
                        <a:t> to </a:t>
                      </a:r>
                      <a:r>
                        <a:rPr sz="1100" b="0" i="1">
                          <a:solidFill>
                            <a:srgbClr val="2A3345"/>
                          </a:solidFill>
                          <a:latin typeface="Calibri"/>
                        </a:rPr>
                        <a:t>j</a:t>
                      </a:r>
                      <a:r>
                        <a:rPr sz="1100" b="0" i="0">
                          <a:solidFill>
                            <a:srgbClr val="2A3345"/>
                          </a:solidFill>
                          <a:latin typeface="Calibri"/>
                        </a:rPr>
                        <a:t>.</a:t>
                      </a:r>
                    </a:p>
                  </a:txBody>
                  <a:tcPr marL="64008" marR="64008" marT="32004" marB="32004" anchor="ctr">
                    <a:solidFill>
                      <a:srgbClr val="FFFFFF"/>
                    </a:solidFill>
                  </a:tcPr>
                </a:tc>
              </a:tr>
            </a:tbl>
          </a:graphicData>
        </a:graphic>
      </p:graphicFrame>
      <p:sp>
        <p:nvSpPr>
          <p:cNvPr id="8" name="TextBox 7"/>
          <p:cNvSpPr txBox="1"/>
          <p:nvPr/>
        </p:nvSpPr>
        <p:spPr>
          <a:xfrm>
            <a:off x="658368" y="2628900"/>
            <a:ext cx="10874959" cy="650240"/>
          </a:xfrm>
          <a:prstGeom prst="rect">
            <a:avLst/>
          </a:prstGeom>
          <a:noFill/>
        </p:spPr>
        <p:txBody>
          <a:bodyPr wrap="square" lIns="0" rIns="0" tIns="0" bIns="0">
            <a:spAutoFit/>
          </a:bodyPr>
          <a:lstStyle/>
          <a:p>
            <a:r>
              <a:rPr sz="1550" b="1" i="0">
                <a:solidFill>
                  <a:srgbClr val="14213D"/>
                </a:solidFill>
                <a:latin typeface="Calibri"/>
              </a:rPr>
              <a:t>The problem this solves:</a:t>
            </a:r>
            <a:r>
              <a:rPr sz="1550" b="0" i="0">
                <a:solidFill>
                  <a:srgbClr val="2A3345"/>
                </a:solidFill>
                <a:latin typeface="Calibri"/>
              </a:rPr>
              <a:t> transfer entropy is always ≥ 0 by construction, and a finite-sample estimate is </a:t>
            </a:r>
            <a:r>
              <a:rPr sz="1550" b="1" i="0">
                <a:solidFill>
                  <a:srgbClr val="14213D"/>
                </a:solidFill>
                <a:latin typeface="Calibri"/>
              </a:rPr>
              <a:t>essentially never exactly zero</a:t>
            </a:r>
            <a:r>
              <a:rPr sz="1550" b="0" i="0">
                <a:solidFill>
                  <a:srgbClr val="2A3345"/>
                </a:solidFill>
                <a:latin typeface="Calibri"/>
              </a:rPr>
              <a:t>. A raw ER-TE number tells you nothing on its own.</a:t>
            </a:r>
          </a:p>
        </p:txBody>
      </p:sp>
      <p:sp>
        <p:nvSpPr>
          <p:cNvPr id="9" name="TextBox 8"/>
          <p:cNvSpPr txBox="1"/>
          <p:nvPr/>
        </p:nvSpPr>
        <p:spPr>
          <a:xfrm>
            <a:off x="658368" y="3279140"/>
            <a:ext cx="10874959" cy="398272"/>
          </a:xfrm>
          <a:prstGeom prst="rect">
            <a:avLst/>
          </a:prstGeom>
          <a:noFill/>
        </p:spPr>
        <p:txBody>
          <a:bodyPr wrap="square" lIns="0" rIns="0" tIns="0" bIns="0">
            <a:spAutoFit/>
          </a:bodyPr>
          <a:lstStyle/>
          <a:p>
            <a:r>
              <a:rPr sz="1550" b="1" i="0">
                <a:solidFill>
                  <a:srgbClr val="14213D"/>
                </a:solidFill>
                <a:latin typeface="Calibri"/>
              </a:rPr>
              <a:t>The solution — circular-shift surrogates:</a:t>
            </a:r>
          </a:p>
        </p:txBody>
      </p:sp>
      <p:sp>
        <p:nvSpPr>
          <p:cNvPr id="10" name="TextBox 9"/>
          <p:cNvSpPr txBox="1"/>
          <p:nvPr/>
        </p:nvSpPr>
        <p:spPr>
          <a:xfrm>
            <a:off x="658368" y="3677412"/>
            <a:ext cx="10874959" cy="622808"/>
          </a:xfrm>
          <a:prstGeom prst="rect">
            <a:avLst/>
          </a:prstGeom>
          <a:noFill/>
        </p:spPr>
        <p:txBody>
          <a:bodyPr wrap="square" lIns="0" rIns="0" tIns="0" bIns="0">
            <a:spAutoFit/>
          </a:bodyPr>
          <a:lstStyle/>
          <a:p>
            <a:pPr marL="274320" indent="-274320"/>
            <a:r>
              <a:rPr sz="1550" b="0" i="0">
                <a:solidFill>
                  <a:srgbClr val="2A3345"/>
                </a:solidFill>
                <a:latin typeface="Calibri"/>
              </a:rPr>
              <a:t>1.  Take Germany's series and </a:t>
            </a:r>
            <a:r>
              <a:rPr sz="1550" b="1" i="0">
                <a:solidFill>
                  <a:srgbClr val="14213D"/>
                </a:solidFill>
                <a:latin typeface="Calibri"/>
              </a:rPr>
              <a:t>rotate it in time</a:t>
            </a:r>
            <a:r>
              <a:rPr sz="1550" b="0" i="0">
                <a:solidFill>
                  <a:srgbClr val="2A3345"/>
                </a:solidFill>
                <a:latin typeface="Calibri"/>
              </a:rPr>
              <a:t> — the rotation destroys the timing relationship with Brazil while preserving Germany's own internal rhythm.</a:t>
            </a:r>
          </a:p>
        </p:txBody>
      </p:sp>
      <p:sp>
        <p:nvSpPr>
          <p:cNvPr id="11" name="TextBox 10"/>
          <p:cNvSpPr txBox="1"/>
          <p:nvPr/>
        </p:nvSpPr>
        <p:spPr>
          <a:xfrm>
            <a:off x="658368" y="4300220"/>
            <a:ext cx="10874959" cy="370840"/>
          </a:xfrm>
          <a:prstGeom prst="rect">
            <a:avLst/>
          </a:prstGeom>
          <a:noFill/>
        </p:spPr>
        <p:txBody>
          <a:bodyPr wrap="square" lIns="0" rIns="0" tIns="0" bIns="0">
            <a:spAutoFit/>
          </a:bodyPr>
          <a:lstStyle/>
          <a:p>
            <a:pPr marL="274320" indent="-274320"/>
            <a:r>
              <a:rPr sz="1550" b="0" i="0">
                <a:solidFill>
                  <a:srgbClr val="2A3345"/>
                </a:solidFill>
                <a:latin typeface="Calibri"/>
              </a:rPr>
              <a:t>2.  Recompute the flow. Repeat 100× (pilot) / 1,000× (final).</a:t>
            </a:r>
          </a:p>
        </p:txBody>
      </p:sp>
      <p:sp>
        <p:nvSpPr>
          <p:cNvPr id="12" name="TextBox 11"/>
          <p:cNvSpPr txBox="1"/>
          <p:nvPr/>
        </p:nvSpPr>
        <p:spPr>
          <a:xfrm>
            <a:off x="658368" y="4671060"/>
            <a:ext cx="10874959" cy="370840"/>
          </a:xfrm>
          <a:prstGeom prst="rect">
            <a:avLst/>
          </a:prstGeom>
          <a:noFill/>
        </p:spPr>
        <p:txBody>
          <a:bodyPr wrap="square" lIns="0" rIns="0" tIns="0" bIns="0">
            <a:spAutoFit/>
          </a:bodyPr>
          <a:lstStyle/>
          <a:p>
            <a:pPr marL="274320" indent="-274320"/>
            <a:r>
              <a:rPr sz="1550" b="0" i="0">
                <a:solidFill>
                  <a:srgbClr val="2A3345"/>
                </a:solidFill>
                <a:latin typeface="Calibri"/>
              </a:rPr>
              <a:t>3.  That gives a null distribution: </a:t>
            </a:r>
            <a:r>
              <a:rPr sz="1550" b="0" i="1">
                <a:solidFill>
                  <a:srgbClr val="2A3345"/>
                </a:solidFill>
                <a:latin typeface="Calibri"/>
              </a:rPr>
              <a:t>"what does this number look like when there's genuinely no flow?"</a:t>
            </a:r>
          </a:p>
        </p:txBody>
      </p:sp>
      <p:sp>
        <p:nvSpPr>
          <p:cNvPr id="13" name="TextBox 12"/>
          <p:cNvSpPr txBox="1"/>
          <p:nvPr/>
        </p:nvSpPr>
        <p:spPr>
          <a:xfrm>
            <a:off x="658368" y="5041900"/>
            <a:ext cx="10874959" cy="370840"/>
          </a:xfrm>
          <a:prstGeom prst="rect">
            <a:avLst/>
          </a:prstGeom>
          <a:noFill/>
        </p:spPr>
        <p:txBody>
          <a:bodyPr wrap="square" lIns="0" rIns="0" tIns="0" bIns="0">
            <a:spAutoFit/>
          </a:bodyPr>
          <a:lstStyle/>
          <a:p>
            <a:pPr marL="274320" indent="-274320"/>
            <a:r>
              <a:rPr sz="1550" b="0" i="0">
                <a:solidFill>
                  <a:srgbClr val="2A3345"/>
                </a:solidFill>
                <a:latin typeface="Calibri"/>
              </a:rPr>
              <a:t>4.  </a:t>
            </a:r>
            <a:r>
              <a:rPr sz="1550" b="1" i="0">
                <a:solidFill>
                  <a:srgbClr val="14213D"/>
                </a:solidFill>
                <a:latin typeface="Calibri"/>
              </a:rPr>
              <a:t>p-value = the fraction of surrogates that beat the real value.</a:t>
            </a:r>
          </a:p>
        </p:txBody>
      </p:sp>
      <p:sp>
        <p:nvSpPr>
          <p:cNvPr id="14" name="TextBox 13"/>
          <p:cNvSpPr txBox="1"/>
          <p:nvPr/>
        </p:nvSpPr>
        <p:spPr>
          <a:xfrm>
            <a:off x="658368" y="5412740"/>
            <a:ext cx="10874959" cy="650240"/>
          </a:xfrm>
          <a:prstGeom prst="rect">
            <a:avLst/>
          </a:prstGeom>
          <a:noFill/>
        </p:spPr>
        <p:txBody>
          <a:bodyPr wrap="square" lIns="0" rIns="0" tIns="0" bIns="0">
            <a:spAutoFit/>
          </a:bodyPr>
          <a:lstStyle/>
          <a:p>
            <a:r>
              <a:rPr sz="1550" b="1" i="0">
                <a:solidFill>
                  <a:srgbClr val="14213D"/>
                </a:solidFill>
                <a:latin typeface="Calibri"/>
              </a:rPr>
              <a:t>Multiple testing:</a:t>
            </a:r>
            <a:r>
              <a:rPr sz="1550" b="0" i="0">
                <a:solidFill>
                  <a:srgbClr val="2A3345"/>
                </a:solidFill>
                <a:latin typeface="Calibri"/>
              </a:rPr>
              <a:t> 90 ordered pairs tested at once → Benjamini–Hochberg FDR control at q = 0.10. Run separately for each α and for crisis vs. non-crisis windows.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H2a — Preliminary Result: </a:t>
            </a:r>
            <a:r>
              <a:rPr sz="3000" b="1" i="0">
                <a:solidFill>
                  <a:srgbClr val="14213D"/>
                </a:solidFill>
                <a:latin typeface="Georgia"/>
              </a:rPr>
              <a:t>The Two Measures See Different Amounts</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67644" y="566928"/>
            <a:ext cx="665683" cy="274320"/>
          </a:xfrm>
          <a:prstGeom prst="rect">
            <a:avLst/>
          </a:prstGeom>
          <a:solidFill>
            <a:srgbClr val="A83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7644" y="608076"/>
            <a:ext cx="665683" cy="237744"/>
          </a:xfrm>
          <a:prstGeom prst="rect">
            <a:avLst/>
          </a:prstGeom>
          <a:noFill/>
        </p:spPr>
        <p:txBody>
          <a:bodyPr wrap="square" lIns="0" rIns="0" tIns="0" bIns="0">
            <a:spAutoFit/>
          </a:bodyPr>
          <a:lstStyle/>
          <a:p>
            <a:pPr algn="ctr"/>
            <a:r>
              <a:rPr sz="1050" b="1" i="0">
                <a:solidFill>
                  <a:srgbClr val="FFFFFF"/>
                </a:solidFill>
                <a:latin typeface="Calibri"/>
              </a:rPr>
              <a:t>RESULT</a:t>
            </a:r>
          </a:p>
        </p:txBody>
      </p:sp>
      <p:sp>
        <p:nvSpPr>
          <p:cNvPr id="7" name="TextBox 6"/>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3 — Research Question 2</a:t>
            </a:r>
          </a:p>
        </p:txBody>
      </p:sp>
      <p:sp>
        <p:nvSpPr>
          <p:cNvPr id="8" name="TextBox 7"/>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28  ·  29/40</a:t>
            </a:r>
          </a:p>
        </p:txBody>
      </p:sp>
      <p:graphicFrame>
        <p:nvGraphicFramePr>
          <p:cNvPr id="9" name="Table 8"/>
          <p:cNvGraphicFramePr>
            <a:graphicFrameLocks noGrp="1"/>
          </p:cNvGraphicFramePr>
          <p:nvPr/>
        </p:nvGraphicFramePr>
        <p:xfrm>
          <a:off x="658368" y="1645920"/>
          <a:ext cx="10874957" cy="960805"/>
        </p:xfrm>
        <a:graphic>
          <a:graphicData uri="http://schemas.openxmlformats.org/drawingml/2006/table">
            <a:tbl>
              <a:tblPr firstRow="1">
                <a:tableStyleId>{5C22544A-7EE6-4342-B048-85BDC9FD1C3A}</a:tableStyleId>
              </a:tblPr>
              <a:tblGrid>
                <a:gridCol w="764346"/>
                <a:gridCol w="3320663"/>
                <a:gridCol w="3643387"/>
                <a:gridCol w="1159259"/>
                <a:gridCol w="1987302"/>
              </a:tblGrid>
              <a:tr h="240201">
                <a:tc>
                  <a:txBody>
                    <a:bodyPr wrap="square"/>
                    <a:lstStyle/>
                    <a:p>
                      <a:pPr algn="l"/>
                      <a:r>
                        <a:rPr sz="710" b="1" i="0">
                          <a:solidFill>
                            <a:srgbClr val="FFFFFF"/>
                          </a:solidFill>
                          <a:latin typeface="Calibri"/>
                        </a:rPr>
                        <a:t>α</a:t>
                      </a:r>
                    </a:p>
                  </a:txBody>
                  <a:tcPr marL="64008" marR="64008" marT="32004" marB="32004" anchor="ctr">
                    <a:solidFill>
                      <a:srgbClr val="1D5B8F"/>
                    </a:solidFill>
                  </a:tcPr>
                </a:tc>
                <a:tc>
                  <a:txBody>
                    <a:bodyPr wrap="square"/>
                    <a:lstStyle/>
                    <a:p>
                      <a:pPr algn="l"/>
                      <a:r>
                        <a:rPr sz="710" b="1" i="0">
                          <a:solidFill>
                            <a:srgbClr val="FFFFFF"/>
                          </a:solidFill>
                          <a:latin typeface="Calibri"/>
                        </a:rPr>
                        <a:t>Interpretation</a:t>
                      </a:r>
                    </a:p>
                  </a:txBody>
                  <a:tcPr marL="64008" marR="64008" marT="32004" marB="32004" anchor="ctr">
                    <a:solidFill>
                      <a:srgbClr val="1D5B8F"/>
                    </a:solidFill>
                  </a:tcPr>
                </a:tc>
                <a:tc>
                  <a:txBody>
                    <a:bodyPr wrap="square"/>
                    <a:lstStyle/>
                    <a:p>
                      <a:pPr algn="l"/>
                      <a:r>
                        <a:rPr sz="710" b="1" i="0">
                          <a:solidFill>
                            <a:srgbClr val="FFFFFF"/>
                          </a:solidFill>
                          <a:latin typeface="Calibri"/>
                        </a:rPr>
                        <a:t>Edges surviving BH-FDR</a:t>
                      </a:r>
                    </a:p>
                  </a:txBody>
                  <a:tcPr marL="64008" marR="64008" marT="32004" marB="32004" anchor="ctr">
                    <a:solidFill>
                      <a:srgbClr val="1D5B8F"/>
                    </a:solidFill>
                  </a:tcPr>
                </a:tc>
                <a:tc>
                  <a:txBody>
                    <a:bodyPr wrap="square"/>
                    <a:lstStyle/>
                    <a:p>
                      <a:pPr algn="l"/>
                      <a:r>
                        <a:rPr sz="710" b="1" i="0">
                          <a:solidFill>
                            <a:srgbClr val="FFFFFF"/>
                          </a:solidFill>
                          <a:latin typeface="Calibri"/>
                        </a:rPr>
                        <a:t>Density</a:t>
                      </a:r>
                    </a:p>
                  </a:txBody>
                  <a:tcPr marL="64008" marR="64008" marT="32004" marB="32004" anchor="ctr">
                    <a:solidFill>
                      <a:srgbClr val="1D5B8F"/>
                    </a:solidFill>
                  </a:tcPr>
                </a:tc>
                <a:tc>
                  <a:txBody>
                    <a:bodyPr wrap="square"/>
                    <a:lstStyle/>
                    <a:p>
                      <a:pPr algn="l"/>
                      <a:r>
                        <a:rPr sz="710" b="1" i="0">
                          <a:solidFill>
                            <a:srgbClr val="FFFFFF"/>
                          </a:solidFill>
                          <a:latin typeface="Calibri"/>
                        </a:rPr>
                        <a:t>Mean |ER-TE|</a:t>
                      </a:r>
                    </a:p>
                  </a:txBody>
                  <a:tcPr marL="64008" marR="64008" marT="32004" marB="32004" anchor="ctr">
                    <a:solidFill>
                      <a:srgbClr val="1D5B8F"/>
                    </a:solidFill>
                  </a:tcPr>
                </a:tc>
              </a:tr>
              <a:tr h="240201">
                <a:tc>
                  <a:txBody>
                    <a:bodyPr wrap="square"/>
                    <a:lstStyle/>
                    <a:p>
                      <a:pPr algn="l"/>
                      <a:r>
                        <a:rPr sz="660" b="1" i="0">
                          <a:solidFill>
                            <a:srgbClr val="14213D"/>
                          </a:solidFill>
                          <a:latin typeface="Calibri"/>
                        </a:rPr>
                        <a:t>0.5</a:t>
                      </a:r>
                    </a:p>
                  </a:txBody>
                  <a:tcPr marL="64008" marR="64008" marT="32004" marB="32004" anchor="ctr">
                    <a:solidFill>
                      <a:srgbClr val="F4F7FA"/>
                    </a:solidFill>
                  </a:tcPr>
                </a:tc>
                <a:tc>
                  <a:txBody>
                    <a:bodyPr wrap="square"/>
                    <a:lstStyle/>
                    <a:p>
                      <a:pPr algn="l"/>
                      <a:r>
                        <a:rPr sz="660" b="1" i="0">
                          <a:solidFill>
                            <a:srgbClr val="14213D"/>
                          </a:solidFill>
                          <a:latin typeface="Calibri"/>
                        </a:rPr>
                        <a:t>Rényi, tail-emphasizing</a:t>
                      </a:r>
                    </a:p>
                  </a:txBody>
                  <a:tcPr marL="64008" marR="64008" marT="32004" marB="32004" anchor="ctr">
                    <a:solidFill>
                      <a:srgbClr val="F4F7FA"/>
                    </a:solidFill>
                  </a:tcPr>
                </a:tc>
                <a:tc>
                  <a:txBody>
                    <a:bodyPr wrap="square"/>
                    <a:lstStyle/>
                    <a:p>
                      <a:pPr algn="l"/>
                      <a:r>
                        <a:rPr sz="660" b="1" i="0">
                          <a:solidFill>
                            <a:srgbClr val="14213D"/>
                          </a:solidFill>
                          <a:latin typeface="Calibri"/>
                        </a:rPr>
                        <a:t>36</a:t>
                      </a:r>
                    </a:p>
                  </a:txBody>
                  <a:tcPr marL="64008" marR="64008" marT="32004" marB="32004" anchor="ctr">
                    <a:solidFill>
                      <a:srgbClr val="F4F7FA"/>
                    </a:solidFill>
                  </a:tcPr>
                </a:tc>
                <a:tc>
                  <a:txBody>
                    <a:bodyPr wrap="square"/>
                    <a:lstStyle/>
                    <a:p>
                      <a:pPr algn="l"/>
                      <a:r>
                        <a:rPr sz="660" b="1" i="0">
                          <a:solidFill>
                            <a:srgbClr val="14213D"/>
                          </a:solidFill>
                          <a:latin typeface="Calibri"/>
                        </a:rPr>
                        <a:t>40.0%</a:t>
                      </a:r>
                    </a:p>
                  </a:txBody>
                  <a:tcPr marL="64008" marR="64008" marT="32004" marB="32004" anchor="ctr">
                    <a:solidFill>
                      <a:srgbClr val="F4F7FA"/>
                    </a:solidFill>
                  </a:tcPr>
                </a:tc>
                <a:tc>
                  <a:txBody>
                    <a:bodyPr wrap="square"/>
                    <a:lstStyle/>
                    <a:p>
                      <a:pPr algn="l"/>
                      <a:r>
                        <a:rPr sz="660" b="0" i="0">
                          <a:solidFill>
                            <a:srgbClr val="2A3345"/>
                          </a:solidFill>
                          <a:latin typeface="Calibri"/>
                        </a:rPr>
                        <a:t>0.0377</a:t>
                      </a:r>
                    </a:p>
                  </a:txBody>
                  <a:tcPr marL="64008" marR="64008" marT="32004" marB="32004" anchor="ctr">
                    <a:solidFill>
                      <a:srgbClr val="F4F7FA"/>
                    </a:solidFill>
                  </a:tcPr>
                </a:tc>
              </a:tr>
              <a:tr h="240201">
                <a:tc>
                  <a:txBody>
                    <a:bodyPr wrap="square"/>
                    <a:lstStyle/>
                    <a:p>
                      <a:pPr algn="l"/>
                      <a:r>
                        <a:rPr sz="660" b="1" i="0">
                          <a:solidFill>
                            <a:srgbClr val="14213D"/>
                          </a:solidFill>
                          <a:latin typeface="Calibri"/>
                        </a:rPr>
                        <a:t>1.0</a:t>
                      </a:r>
                    </a:p>
                  </a:txBody>
                  <a:tcPr marL="64008" marR="64008" marT="32004" marB="32004" anchor="ctr">
                    <a:solidFill>
                      <a:srgbClr val="FFFFFF"/>
                    </a:solidFill>
                  </a:tcPr>
                </a:tc>
                <a:tc>
                  <a:txBody>
                    <a:bodyPr wrap="square"/>
                    <a:lstStyle/>
                    <a:p>
                      <a:pPr algn="l"/>
                      <a:r>
                        <a:rPr sz="660" b="1" i="0">
                          <a:solidFill>
                            <a:srgbClr val="14213D"/>
                          </a:solidFill>
                          <a:latin typeface="Calibri"/>
                        </a:rPr>
                        <a:t>Shannon — the baseline</a:t>
                      </a:r>
                    </a:p>
                  </a:txBody>
                  <a:tcPr marL="64008" marR="64008" marT="32004" marB="32004" anchor="ctr">
                    <a:solidFill>
                      <a:srgbClr val="FFFFFF"/>
                    </a:solidFill>
                  </a:tcPr>
                </a:tc>
                <a:tc>
                  <a:txBody>
                    <a:bodyPr wrap="square"/>
                    <a:lstStyle/>
                    <a:p>
                      <a:pPr algn="l"/>
                      <a:r>
                        <a:rPr sz="660" b="1" i="0">
                          <a:solidFill>
                            <a:srgbClr val="14213D"/>
                          </a:solidFill>
                          <a:latin typeface="Calibri"/>
                        </a:rPr>
                        <a:t>0</a:t>
                      </a:r>
                    </a:p>
                  </a:txBody>
                  <a:tcPr marL="64008" marR="64008" marT="32004" marB="32004" anchor="ctr">
                    <a:solidFill>
                      <a:srgbClr val="FFFFFF"/>
                    </a:solidFill>
                  </a:tcPr>
                </a:tc>
                <a:tc>
                  <a:txBody>
                    <a:bodyPr wrap="square"/>
                    <a:lstStyle/>
                    <a:p>
                      <a:pPr algn="l"/>
                      <a:r>
                        <a:rPr sz="660" b="0" i="0">
                          <a:solidFill>
                            <a:srgbClr val="2A3345"/>
                          </a:solidFill>
                          <a:latin typeface="Calibri"/>
                        </a:rPr>
                        <a:t>0.0%</a:t>
                      </a:r>
                    </a:p>
                  </a:txBody>
                  <a:tcPr marL="64008" marR="64008" marT="32004" marB="32004" anchor="ctr">
                    <a:solidFill>
                      <a:srgbClr val="FFFFFF"/>
                    </a:solidFill>
                  </a:tcPr>
                </a:tc>
                <a:tc>
                  <a:txBody>
                    <a:bodyPr wrap="square"/>
                    <a:lstStyle/>
                    <a:p>
                      <a:pPr algn="l"/>
                      <a:r>
                        <a:rPr sz="660" b="0" i="0">
                          <a:solidFill>
                            <a:srgbClr val="2A3345"/>
                          </a:solidFill>
                          <a:latin typeface="Calibri"/>
                        </a:rPr>
                        <a:t>0.0267</a:t>
                      </a:r>
                    </a:p>
                  </a:txBody>
                  <a:tcPr marL="64008" marR="64008" marT="32004" marB="32004" anchor="ctr">
                    <a:solidFill>
                      <a:srgbClr val="FFFFFF"/>
                    </a:solidFill>
                  </a:tcPr>
                </a:tc>
              </a:tr>
              <a:tr h="240202">
                <a:tc>
                  <a:txBody>
                    <a:bodyPr wrap="square"/>
                    <a:lstStyle/>
                    <a:p>
                      <a:pPr algn="l"/>
                      <a:r>
                        <a:rPr sz="660" b="1" i="0">
                          <a:solidFill>
                            <a:srgbClr val="14213D"/>
                          </a:solidFill>
                          <a:latin typeface="Calibri"/>
                        </a:rPr>
                        <a:t>1.5</a:t>
                      </a:r>
                    </a:p>
                  </a:txBody>
                  <a:tcPr marL="64008" marR="64008" marT="32004" marB="32004" anchor="ctr">
                    <a:solidFill>
                      <a:srgbClr val="F4F7FA"/>
                    </a:solidFill>
                  </a:tcPr>
                </a:tc>
                <a:tc>
                  <a:txBody>
                    <a:bodyPr wrap="square"/>
                    <a:lstStyle/>
                    <a:p>
                      <a:pPr algn="l"/>
                      <a:r>
                        <a:rPr sz="660" b="0" i="0">
                          <a:solidFill>
                            <a:srgbClr val="2A3345"/>
                          </a:solidFill>
                          <a:latin typeface="Calibri"/>
                        </a:rPr>
                        <a:t>Rényi, bulk-emphasizing</a:t>
                      </a:r>
                    </a:p>
                  </a:txBody>
                  <a:tcPr marL="64008" marR="64008" marT="32004" marB="32004" anchor="ctr">
                    <a:solidFill>
                      <a:srgbClr val="F4F7FA"/>
                    </a:solidFill>
                  </a:tcPr>
                </a:tc>
                <a:tc>
                  <a:txBody>
                    <a:bodyPr wrap="square"/>
                    <a:lstStyle/>
                    <a:p>
                      <a:pPr algn="l"/>
                      <a:r>
                        <a:rPr sz="660" b="0" i="0">
                          <a:solidFill>
                            <a:srgbClr val="2A3345"/>
                          </a:solidFill>
                          <a:latin typeface="Calibri"/>
                        </a:rPr>
                        <a:t>10</a:t>
                      </a:r>
                    </a:p>
                  </a:txBody>
                  <a:tcPr marL="64008" marR="64008" marT="32004" marB="32004" anchor="ctr">
                    <a:solidFill>
                      <a:srgbClr val="F4F7FA"/>
                    </a:solidFill>
                  </a:tcPr>
                </a:tc>
                <a:tc>
                  <a:txBody>
                    <a:bodyPr wrap="square"/>
                    <a:lstStyle/>
                    <a:p>
                      <a:pPr algn="l"/>
                      <a:r>
                        <a:rPr sz="660" b="0" i="0">
                          <a:solidFill>
                            <a:srgbClr val="2A3345"/>
                          </a:solidFill>
                          <a:latin typeface="Calibri"/>
                        </a:rPr>
                        <a:t>11.1%</a:t>
                      </a:r>
                    </a:p>
                  </a:txBody>
                  <a:tcPr marL="64008" marR="64008" marT="32004" marB="32004" anchor="ctr">
                    <a:solidFill>
                      <a:srgbClr val="F4F7FA"/>
                    </a:solidFill>
                  </a:tcPr>
                </a:tc>
                <a:tc>
                  <a:txBody>
                    <a:bodyPr wrap="square"/>
                    <a:lstStyle/>
                    <a:p>
                      <a:pPr algn="l"/>
                      <a:r>
                        <a:rPr sz="660" b="0" i="0">
                          <a:solidFill>
                            <a:srgbClr val="2A3345"/>
                          </a:solidFill>
                          <a:latin typeface="Calibri"/>
                        </a:rPr>
                        <a:t>0.0481</a:t>
                      </a:r>
                    </a:p>
                  </a:txBody>
                  <a:tcPr marL="64008" marR="64008" marT="32004" marB="32004" anchor="ctr">
                    <a:solidFill>
                      <a:srgbClr val="F4F7FA"/>
                    </a:solidFill>
                  </a:tcPr>
                </a:tc>
              </a:tr>
            </a:tbl>
          </a:graphicData>
        </a:graphic>
      </p:graphicFrame>
      <p:sp>
        <p:nvSpPr>
          <p:cNvPr id="10" name="Rectangle 9"/>
          <p:cNvSpPr/>
          <p:nvPr/>
        </p:nvSpPr>
        <p:spPr>
          <a:xfrm>
            <a:off x="658368" y="2734741"/>
            <a:ext cx="10874959" cy="61650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734741"/>
            <a:ext cx="50292" cy="61650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826181"/>
            <a:ext cx="10463479" cy="433628"/>
          </a:xfrm>
          <a:prstGeom prst="rect">
            <a:avLst/>
          </a:prstGeom>
          <a:noFill/>
        </p:spPr>
        <p:txBody>
          <a:bodyPr wrap="square" lIns="0" rIns="0" tIns="0" bIns="0">
            <a:spAutoFit/>
          </a:bodyPr>
          <a:lstStyle/>
          <a:p>
            <a:r>
              <a:rPr sz="979" b="1" i="0">
                <a:solidFill>
                  <a:srgbClr val="14213D"/>
                </a:solidFill>
                <a:latin typeface="Calibri"/>
              </a:rPr>
              <a:t>On the same data, same windows, same test:</a:t>
            </a:r>
            <a:r>
              <a:rPr sz="979" b="0" i="0">
                <a:solidFill>
                  <a:srgbClr val="14213D"/>
                </a:solidFill>
                <a:latin typeface="Calibri"/>
              </a:rPr>
              <a:t> the tail-sensitive setting finds </a:t>
            </a:r>
            <a:r>
              <a:rPr sz="979" b="1" i="0">
                <a:solidFill>
                  <a:srgbClr val="14213D"/>
                </a:solidFill>
                <a:latin typeface="Calibri"/>
              </a:rPr>
              <a:t>36 significant directed links</a:t>
            </a:r>
            <a:r>
              <a:rPr sz="979" b="0" i="0">
                <a:solidFill>
                  <a:srgbClr val="14213D"/>
                </a:solidFill>
                <a:latin typeface="Calibri"/>
              </a:rPr>
              <a:t>. The Shannon baseline finds </a:t>
            </a:r>
            <a:r>
              <a:rPr sz="979" b="1" i="0">
                <a:solidFill>
                  <a:srgbClr val="14213D"/>
                </a:solidFill>
                <a:latin typeface="Calibri"/>
              </a:rPr>
              <a:t>zero</a:t>
            </a:r>
            <a:r>
              <a:rPr sz="979" b="0" i="0">
                <a:solidFill>
                  <a:srgbClr val="14213D"/>
                </a:solidFill>
                <a:latin typeface="Calibri"/>
              </a:rPr>
              <a:t>.</a:t>
            </a:r>
          </a:p>
        </p:txBody>
      </p:sp>
      <p:pic>
        <p:nvPicPr>
          <p:cNvPr id="13" name="Picture 12" descr="S28_topology_alpha_contrast.png"/>
          <p:cNvPicPr>
            <a:picLocks noChangeAspect="1"/>
          </p:cNvPicPr>
          <p:nvPr/>
        </p:nvPicPr>
        <p:blipFill>
          <a:blip r:embed="rId3"/>
          <a:stretch>
            <a:fillRect/>
          </a:stretch>
        </p:blipFill>
        <p:spPr>
          <a:xfrm>
            <a:off x="2646633" y="3570706"/>
            <a:ext cx="6898427" cy="2775229"/>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H2b — Does the </a:t>
            </a:r>
            <a:r>
              <a:rPr sz="3000" b="1" i="1">
                <a:solidFill>
                  <a:srgbClr val="14213D"/>
                </a:solidFill>
                <a:latin typeface="Georgia"/>
              </a:rPr>
              <a:t>Cast of Characters</a:t>
            </a:r>
            <a:r>
              <a:rPr sz="3000" b="1" i="0">
                <a:solidFill>
                  <a:srgbClr val="14213D"/>
                </a:solidFill>
                <a:latin typeface="Georgia"/>
              </a:rPr>
              <a:t> Change?</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3 — Research Question 2</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29  ·  30/40</a:t>
            </a:r>
          </a:p>
        </p:txBody>
      </p:sp>
      <p:graphicFrame>
        <p:nvGraphicFramePr>
          <p:cNvPr id="7" name="Table 6"/>
          <p:cNvGraphicFramePr>
            <a:graphicFrameLocks noGrp="1"/>
          </p:cNvGraphicFramePr>
          <p:nvPr/>
        </p:nvGraphicFramePr>
        <p:xfrm>
          <a:off x="658368" y="2148840"/>
          <a:ext cx="10874958" cy="854964"/>
        </p:xfrm>
        <a:graphic>
          <a:graphicData uri="http://schemas.openxmlformats.org/drawingml/2006/table">
            <a:tbl>
              <a:tblPr>
                <a:tableStyleId>{5C22544A-7EE6-4342-B048-85BDC9FD1C3A}</a:tableStyleId>
              </a:tblPr>
              <a:tblGrid>
                <a:gridCol w="356123"/>
                <a:gridCol w="10518835"/>
              </a:tblGrid>
              <a:tr h="427482">
                <a:tc>
                  <a:txBody>
                    <a:bodyPr wrap="square"/>
                    <a:lstStyle/>
                    <a:p>
                      <a:pPr algn="l"/>
                      <a:r>
                        <a:rPr sz="1100" b="1" i="0">
                          <a:solidFill>
                            <a:srgbClr val="14213D"/>
                          </a:solidFill>
                          <a:latin typeface="Calibri"/>
                        </a:rPr>
                        <a:t>H₀</a:t>
                      </a:r>
                    </a:p>
                  </a:txBody>
                  <a:tcPr marL="64008" marR="64008" marT="32004" marB="32004" anchor="ctr">
                    <a:solidFill>
                      <a:srgbClr val="F4F7FA"/>
                    </a:solidFill>
                  </a:tcPr>
                </a:tc>
                <a:tc>
                  <a:txBody>
                    <a:bodyPr wrap="square"/>
                    <a:lstStyle/>
                    <a:p>
                      <a:pPr algn="l"/>
                      <a:r>
                        <a:rPr sz="1100" b="0" i="0">
                          <a:solidFill>
                            <a:srgbClr val="2A3345"/>
                          </a:solidFill>
                          <a:latin typeface="Calibri"/>
                        </a:rPr>
                        <a:t>During crisis windows, the set of dominant transmitters — the top-ranked source countries by significant out-degree — is </a:t>
                      </a:r>
                      <a:r>
                        <a:rPr sz="1100" b="1" i="0">
                          <a:solidFill>
                            <a:srgbClr val="14213D"/>
                          </a:solidFill>
                          <a:latin typeface="Calibri"/>
                        </a:rPr>
                        <a:t>the same</a:t>
                      </a:r>
                      <a:r>
                        <a:rPr sz="1100" b="0" i="0">
                          <a:solidFill>
                            <a:srgbClr val="2A3345"/>
                          </a:solidFill>
                          <a:latin typeface="Calibri"/>
                        </a:rPr>
                        <a:t> under Shannon and under tail-sensitive Rényi.</a:t>
                      </a:r>
                    </a:p>
                  </a:txBody>
                  <a:tcPr marL="64008" marR="64008" marT="32004" marB="32004" anchor="ctr">
                    <a:solidFill>
                      <a:srgbClr val="F4F7FA"/>
                    </a:solidFill>
                  </a:tcPr>
                </a:tc>
              </a:tr>
              <a:tr h="427482">
                <a:tc>
                  <a:txBody>
                    <a:bodyPr wrap="square"/>
                    <a:lstStyle/>
                    <a:p>
                      <a:pPr algn="l"/>
                      <a:r>
                        <a:rPr sz="1100" b="1" i="0">
                          <a:solidFill>
                            <a:srgbClr val="14213D"/>
                          </a:solidFill>
                          <a:latin typeface="Calibri"/>
                        </a:rPr>
                        <a:t>H₁</a:t>
                      </a:r>
                    </a:p>
                  </a:txBody>
                  <a:tcPr marL="64008" marR="64008" marT="32004" marB="32004" anchor="ctr">
                    <a:solidFill>
                      <a:srgbClr val="FFFFFF"/>
                    </a:solidFill>
                  </a:tcPr>
                </a:tc>
                <a:tc>
                  <a:txBody>
                    <a:bodyPr wrap="square"/>
                    <a:lstStyle/>
                    <a:p>
                      <a:pPr algn="l"/>
                      <a:r>
                        <a:rPr sz="1100" b="1" i="0">
                          <a:solidFill>
                            <a:srgbClr val="14213D"/>
                          </a:solidFill>
                          <a:latin typeface="Calibri"/>
                        </a:rPr>
                        <a:t>At least one country's status as a dominant transmitter changes</a:t>
                      </a:r>
                      <a:r>
                        <a:rPr sz="1100" b="0" i="0">
                          <a:solidFill>
                            <a:srgbClr val="14213D"/>
                          </a:solidFill>
                          <a:latin typeface="Calibri"/>
                        </a:rPr>
                        <a:t> between the two networks. The edge sets and out-degree rankings diverge.</a:t>
                      </a:r>
                    </a:p>
                  </a:txBody>
                  <a:tcPr marL="64008" marR="64008" marT="32004" marB="32004" anchor="ctr">
                    <a:solidFill>
                      <a:srgbClr val="FFFFFF"/>
                    </a:solidFill>
                  </a:tcPr>
                </a:tc>
              </a:tr>
            </a:tbl>
          </a:graphicData>
        </a:graphic>
      </p:graphicFrame>
      <p:sp>
        <p:nvSpPr>
          <p:cNvPr id="8" name="TextBox 7"/>
          <p:cNvSpPr txBox="1"/>
          <p:nvPr/>
        </p:nvSpPr>
        <p:spPr>
          <a:xfrm>
            <a:off x="658368" y="3131820"/>
            <a:ext cx="10874959" cy="650240"/>
          </a:xfrm>
          <a:prstGeom prst="rect">
            <a:avLst/>
          </a:prstGeom>
          <a:noFill/>
        </p:spPr>
        <p:txBody>
          <a:bodyPr wrap="square" lIns="0" rIns="0" tIns="0" bIns="0">
            <a:spAutoFit/>
          </a:bodyPr>
          <a:lstStyle/>
          <a:p>
            <a:r>
              <a:rPr sz="1550" b="1" i="0">
                <a:solidFill>
                  <a:srgbClr val="14213D"/>
                </a:solidFill>
                <a:latin typeface="Calibri"/>
              </a:rPr>
              <a:t>"Out-degree" in one line:</a:t>
            </a:r>
            <a:r>
              <a:rPr sz="1550" b="0" i="0">
                <a:solidFill>
                  <a:srgbClr val="2A3345"/>
                </a:solidFill>
                <a:latin typeface="Calibri"/>
              </a:rPr>
              <a:t> how many arrows point </a:t>
            </a:r>
            <a:r>
              <a:rPr sz="1550" b="0" i="1">
                <a:solidFill>
                  <a:srgbClr val="2A3345"/>
                </a:solidFill>
                <a:latin typeface="Calibri"/>
              </a:rPr>
              <a:t>out</a:t>
            </a:r>
            <a:r>
              <a:rPr sz="1550" b="0" i="0">
                <a:solidFill>
                  <a:srgbClr val="2A3345"/>
                </a:solidFill>
                <a:latin typeface="Calibri"/>
              </a:rPr>
              <a:t> of a country — i.e. how many other markets it demonstrably leads. High out-degree = a </a:t>
            </a:r>
            <a:r>
              <a:rPr sz="1550" b="1" i="0">
                <a:solidFill>
                  <a:srgbClr val="14213D"/>
                </a:solidFill>
                <a:latin typeface="Calibri"/>
              </a:rPr>
              <a:t>transmitter</a:t>
            </a:r>
            <a:r>
              <a:rPr sz="1550" b="0" i="0">
                <a:solidFill>
                  <a:srgbClr val="2A3345"/>
                </a:solidFill>
                <a:latin typeface="Calibri"/>
              </a:rPr>
              <a:t> of nervousness. Low out-degree, high in-degree = a </a:t>
            </a:r>
            <a:r>
              <a:rPr sz="1550" b="1" i="0">
                <a:solidFill>
                  <a:srgbClr val="14213D"/>
                </a:solidFill>
                <a:latin typeface="Calibri"/>
              </a:rPr>
              <a:t>receiver</a:t>
            </a:r>
            <a:r>
              <a:rPr sz="1550" b="0" i="0">
                <a:solidFill>
                  <a:srgbClr val="2A3345"/>
                </a:solidFill>
                <a:latin typeface="Calibri"/>
              </a:rPr>
              <a:t>.</a:t>
            </a:r>
          </a:p>
        </p:txBody>
      </p:sp>
      <p:sp>
        <p:nvSpPr>
          <p:cNvPr id="9" name="TextBox 8"/>
          <p:cNvSpPr txBox="1"/>
          <p:nvPr/>
        </p:nvSpPr>
        <p:spPr>
          <a:xfrm>
            <a:off x="658368" y="3782060"/>
            <a:ext cx="10874959" cy="398272"/>
          </a:xfrm>
          <a:prstGeom prst="rect">
            <a:avLst/>
          </a:prstGeom>
          <a:noFill/>
        </p:spPr>
        <p:txBody>
          <a:bodyPr wrap="square" lIns="0" rIns="0" tIns="0" bIns="0">
            <a:spAutoFit/>
          </a:bodyPr>
          <a:lstStyle/>
          <a:p>
            <a:r>
              <a:rPr sz="1550" b="1" i="0">
                <a:solidFill>
                  <a:srgbClr val="14213D"/>
                </a:solidFill>
                <a:latin typeface="Calibri"/>
              </a:rPr>
              <a:t>How it's tested formally</a:t>
            </a:r>
            <a:r>
              <a:rPr sz="1550" b="0" i="0">
                <a:solidFill>
                  <a:srgbClr val="2A3345"/>
                </a:solidFill>
                <a:latin typeface="Calibri"/>
              </a:rPr>
              <a:t> (upgraded from descriptive, at panel-anticipation):</a:t>
            </a:r>
          </a:p>
        </p:txBody>
      </p:sp>
      <p:sp>
        <p:nvSpPr>
          <p:cNvPr id="10" name="TextBox 9"/>
          <p:cNvSpPr txBox="1"/>
          <p:nvPr/>
        </p:nvSpPr>
        <p:spPr>
          <a:xfrm>
            <a:off x="658368" y="4180331"/>
            <a:ext cx="10874959" cy="622808"/>
          </a:xfrm>
          <a:prstGeom prst="rect">
            <a:avLst/>
          </a:prstGeom>
          <a:noFill/>
        </p:spPr>
        <p:txBody>
          <a:bodyPr wrap="square" lIns="0" rIns="0" tIns="0" bIns="0">
            <a:spAutoFit/>
          </a:bodyPr>
          <a:lstStyle/>
          <a:p>
            <a:pPr marL="274320" indent="-274320"/>
            <a:r>
              <a:rPr sz="1550" b="0" i="0">
                <a:solidFill>
                  <a:srgbClr val="2A3345"/>
                </a:solidFill>
                <a:latin typeface="Calibri"/>
              </a:rPr>
              <a:t>1.  </a:t>
            </a:r>
            <a:r>
              <a:rPr sz="1550" b="1" i="0">
                <a:solidFill>
                  <a:srgbClr val="14213D"/>
                </a:solidFill>
                <a:latin typeface="Calibri"/>
              </a:rPr>
              <a:t>Hypergeometric test</a:t>
            </a:r>
            <a:r>
              <a:rPr sz="1550" b="0" i="0">
                <a:solidFill>
                  <a:srgbClr val="2A3345"/>
                </a:solidFill>
                <a:latin typeface="Calibri"/>
              </a:rPr>
              <a:t> on the top-K edge overlap — is the agreement between the two networks more or less than chance?</a:t>
            </a:r>
          </a:p>
        </p:txBody>
      </p:sp>
      <p:sp>
        <p:nvSpPr>
          <p:cNvPr id="11" name="TextBox 10"/>
          <p:cNvSpPr txBox="1"/>
          <p:nvPr/>
        </p:nvSpPr>
        <p:spPr>
          <a:xfrm>
            <a:off x="658368" y="4803140"/>
            <a:ext cx="10874959" cy="370840"/>
          </a:xfrm>
          <a:prstGeom prst="rect">
            <a:avLst/>
          </a:prstGeom>
          <a:noFill/>
        </p:spPr>
        <p:txBody>
          <a:bodyPr wrap="square" lIns="0" rIns="0" tIns="0" bIns="0">
            <a:spAutoFit/>
          </a:bodyPr>
          <a:lstStyle/>
          <a:p>
            <a:pPr marL="274320" indent="-274320"/>
            <a:r>
              <a:rPr sz="1550" b="0" i="0">
                <a:solidFill>
                  <a:srgbClr val="2A3345"/>
                </a:solidFill>
                <a:latin typeface="Calibri"/>
              </a:rPr>
              <a:t>2.  </a:t>
            </a:r>
            <a:r>
              <a:rPr sz="1550" b="1" i="0">
                <a:solidFill>
                  <a:srgbClr val="14213D"/>
                </a:solidFill>
                <a:latin typeface="Calibri"/>
              </a:rPr>
              <a:t>Kendall's τ</a:t>
            </a:r>
            <a:r>
              <a:rPr sz="1550" b="0" i="0">
                <a:solidFill>
                  <a:srgbClr val="2A3345"/>
                </a:solidFill>
                <a:latin typeface="Calibri"/>
              </a:rPr>
              <a:t> rank concordance between the two out-degree rankings, with a stationary-bootstrap 95% CI.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H2b — Preliminary Result: </a:t>
            </a:r>
            <a:r>
              <a:rPr sz="3000" b="1" i="0">
                <a:solidFill>
                  <a:srgbClr val="14213D"/>
                </a:solidFill>
                <a:latin typeface="Georgia"/>
              </a:rPr>
              <a:t>Mixed, and Interesting</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67644" y="566928"/>
            <a:ext cx="665683" cy="274320"/>
          </a:xfrm>
          <a:prstGeom prst="rect">
            <a:avLst/>
          </a:prstGeom>
          <a:solidFill>
            <a:srgbClr val="A83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7644" y="608076"/>
            <a:ext cx="665683" cy="237744"/>
          </a:xfrm>
          <a:prstGeom prst="rect">
            <a:avLst/>
          </a:prstGeom>
          <a:noFill/>
        </p:spPr>
        <p:txBody>
          <a:bodyPr wrap="square" lIns="0" rIns="0" tIns="0" bIns="0">
            <a:spAutoFit/>
          </a:bodyPr>
          <a:lstStyle/>
          <a:p>
            <a:pPr algn="ctr"/>
            <a:r>
              <a:rPr sz="1050" b="1" i="0">
                <a:solidFill>
                  <a:srgbClr val="FFFFFF"/>
                </a:solidFill>
                <a:latin typeface="Calibri"/>
              </a:rPr>
              <a:t>RESULT</a:t>
            </a:r>
          </a:p>
        </p:txBody>
      </p:sp>
      <p:sp>
        <p:nvSpPr>
          <p:cNvPr id="7" name="TextBox 6"/>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3 — Research Question 2</a:t>
            </a:r>
          </a:p>
        </p:txBody>
      </p:sp>
      <p:sp>
        <p:nvSpPr>
          <p:cNvPr id="8" name="TextBox 7"/>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30  ·  31/40</a:t>
            </a:r>
          </a:p>
        </p:txBody>
      </p:sp>
      <p:sp>
        <p:nvSpPr>
          <p:cNvPr id="9" name="TextBox 8"/>
          <p:cNvSpPr txBox="1"/>
          <p:nvPr/>
        </p:nvSpPr>
        <p:spPr>
          <a:xfrm>
            <a:off x="658368" y="1645920"/>
            <a:ext cx="5236311" cy="398272"/>
          </a:xfrm>
          <a:prstGeom prst="rect">
            <a:avLst/>
          </a:prstGeom>
          <a:noFill/>
        </p:spPr>
        <p:txBody>
          <a:bodyPr wrap="square" lIns="0" rIns="0" tIns="0" bIns="0">
            <a:spAutoFit/>
          </a:bodyPr>
          <a:lstStyle/>
          <a:p>
            <a:r>
              <a:rPr sz="1550" b="1" i="0">
                <a:solidFill>
                  <a:srgbClr val="14213D"/>
                </a:solidFill>
                <a:latin typeface="Calibri"/>
              </a:rPr>
              <a:t>Out-degree by country, per α:</a:t>
            </a:r>
          </a:p>
        </p:txBody>
      </p:sp>
      <p:graphicFrame>
        <p:nvGraphicFramePr>
          <p:cNvPr id="10" name="Table 9"/>
          <p:cNvGraphicFramePr>
            <a:graphicFrameLocks noGrp="1"/>
          </p:cNvGraphicFramePr>
          <p:nvPr/>
        </p:nvGraphicFramePr>
        <p:xfrm>
          <a:off x="658368" y="2044192"/>
          <a:ext cx="5236309" cy="3602736"/>
        </p:xfrm>
        <a:graphic>
          <a:graphicData uri="http://schemas.openxmlformats.org/drawingml/2006/table">
            <a:tbl>
              <a:tblPr firstRow="1">
                <a:tableStyleId>{5C22544A-7EE6-4342-B048-85BDC9FD1C3A}</a:tableStyleId>
              </a:tblPr>
              <a:tblGrid>
                <a:gridCol w="898466"/>
                <a:gridCol w="809354"/>
                <a:gridCol w="949565"/>
                <a:gridCol w="1010009"/>
                <a:gridCol w="869798"/>
                <a:gridCol w="699117"/>
              </a:tblGrid>
              <a:tr h="327521">
                <a:tc>
                  <a:txBody>
                    <a:bodyPr wrap="square"/>
                    <a:lstStyle/>
                    <a:p>
                      <a:pPr algn="l"/>
                      <a:r>
                        <a:rPr sz="1150" b="1" i="0">
                          <a:solidFill>
                            <a:srgbClr val="FFFFFF"/>
                          </a:solidFill>
                          <a:latin typeface="Calibri"/>
                        </a:rPr>
                        <a:t>Country</a:t>
                      </a:r>
                    </a:p>
                  </a:txBody>
                  <a:tcPr marL="64008" marR="64008" marT="32004" marB="32004" anchor="ctr">
                    <a:solidFill>
                      <a:srgbClr val="1D5B8F"/>
                    </a:solidFill>
                  </a:tcPr>
                </a:tc>
                <a:tc>
                  <a:txBody>
                    <a:bodyPr wrap="square"/>
                    <a:lstStyle/>
                    <a:p>
                      <a:pPr algn="l"/>
                      <a:r>
                        <a:rPr sz="1150" b="1" i="0">
                          <a:solidFill>
                            <a:srgbClr val="FFFFFF"/>
                          </a:solidFill>
                          <a:latin typeface="Calibri"/>
                        </a:rPr>
                        <a:t>α=0.5 (Rényi)</a:t>
                      </a:r>
                    </a:p>
                  </a:txBody>
                  <a:tcPr marL="64008" marR="64008" marT="32004" marB="32004" anchor="ctr">
                    <a:solidFill>
                      <a:srgbClr val="1D5B8F"/>
                    </a:solidFill>
                  </a:tcPr>
                </a:tc>
                <a:tc>
                  <a:txBody>
                    <a:bodyPr wrap="square"/>
                    <a:lstStyle/>
                    <a:p>
                      <a:pPr algn="l"/>
                      <a:r>
                        <a:rPr sz="1150" b="1" i="0">
                          <a:solidFill>
                            <a:srgbClr val="FFFFFF"/>
                          </a:solidFill>
                          <a:latin typeface="Calibri"/>
                        </a:rPr>
                        <a:t>α=1.0 (Shannon)</a:t>
                      </a:r>
                    </a:p>
                  </a:txBody>
                  <a:tcPr marL="64008" marR="64008" marT="32004" marB="32004" anchor="ctr">
                    <a:solidFill>
                      <a:srgbClr val="1D5B8F"/>
                    </a:solidFill>
                  </a:tcPr>
                </a:tc>
                <a:tc>
                  <a:txBody>
                    <a:bodyPr wrap="square"/>
                    <a:lstStyle/>
                    <a:p>
                      <a:pPr algn="l"/>
                      <a:r>
                        <a:rPr sz="1150" b="1" i="0">
                          <a:solidFill>
                            <a:srgbClr val="FFFFFF"/>
                          </a:solidFill>
                          <a:latin typeface="Calibri"/>
                        </a:rPr>
                        <a:t>Rank under Shannon</a:t>
                      </a:r>
                    </a:p>
                  </a:txBody>
                  <a:tcPr marL="64008" marR="64008" marT="32004" marB="32004" anchor="ctr">
                    <a:solidFill>
                      <a:srgbClr val="1D5B8F"/>
                    </a:solidFill>
                  </a:tcPr>
                </a:tc>
                <a:tc>
                  <a:txBody>
                    <a:bodyPr wrap="square"/>
                    <a:lstStyle/>
                    <a:p>
                      <a:pPr algn="l"/>
                      <a:r>
                        <a:rPr sz="1150" b="1" i="0">
                          <a:solidFill>
                            <a:srgbClr val="FFFFFF"/>
                          </a:solidFill>
                          <a:latin typeface="Calibri"/>
                        </a:rPr>
                        <a:t>Rank under Rényi</a:t>
                      </a:r>
                    </a:p>
                  </a:txBody>
                  <a:tcPr marL="64008" marR="64008" marT="32004" marB="32004" anchor="ctr">
                    <a:solidFill>
                      <a:srgbClr val="1D5B8F"/>
                    </a:solidFill>
                  </a:tcPr>
                </a:tc>
                <a:tc>
                  <a:txBody>
                    <a:bodyPr wrap="square"/>
                    <a:lstStyle/>
                    <a:p>
                      <a:pPr algn="l"/>
                      <a:r>
                        <a:rPr sz="1150" b="1" i="0">
                          <a:solidFill>
                            <a:srgbClr val="FFFFFF"/>
                          </a:solidFill>
                          <a:latin typeface="Calibri"/>
                        </a:rPr>
                        <a:t>Rank change</a:t>
                      </a:r>
                    </a:p>
                  </a:txBody>
                  <a:tcPr marL="64008" marR="64008" marT="32004" marB="32004" anchor="ctr">
                    <a:solidFill>
                      <a:srgbClr val="1D5B8F"/>
                    </a:solidFill>
                  </a:tcPr>
                </a:tc>
              </a:tr>
              <a:tr h="327521">
                <a:tc>
                  <a:txBody>
                    <a:bodyPr wrap="square"/>
                    <a:lstStyle/>
                    <a:p>
                      <a:pPr algn="l"/>
                      <a:r>
                        <a:rPr sz="1100" b="1" i="0">
                          <a:solidFill>
                            <a:srgbClr val="14213D"/>
                          </a:solidFill>
                          <a:latin typeface="Calibri"/>
                        </a:rPr>
                        <a:t>Germany</a:t>
                      </a:r>
                    </a:p>
                  </a:txBody>
                  <a:tcPr marL="64008" marR="64008" marT="32004" marB="32004" anchor="ctr">
                    <a:solidFill>
                      <a:srgbClr val="F4F7FA"/>
                    </a:solidFill>
                  </a:tcPr>
                </a:tc>
                <a:tc>
                  <a:txBody>
                    <a:bodyPr wrap="square"/>
                    <a:lstStyle/>
                    <a:p>
                      <a:pPr algn="l"/>
                      <a:r>
                        <a:rPr sz="1100" b="0" i="0">
                          <a:solidFill>
                            <a:srgbClr val="2A3345"/>
                          </a:solidFill>
                          <a:latin typeface="Calibri"/>
                        </a:rPr>
                        <a:t>5</a:t>
                      </a:r>
                    </a:p>
                  </a:txBody>
                  <a:tcPr marL="64008" marR="64008" marT="32004" marB="32004" anchor="ctr">
                    <a:solidFill>
                      <a:srgbClr val="F4F7FA"/>
                    </a:solidFill>
                  </a:tcPr>
                </a:tc>
                <a:tc>
                  <a:txBody>
                    <a:bodyPr wrap="square"/>
                    <a:lstStyle/>
                    <a:p>
                      <a:pPr algn="l"/>
                      <a:r>
                        <a:rPr sz="1100" b="0" i="0">
                          <a:solidFill>
                            <a:srgbClr val="2A3345"/>
                          </a:solidFill>
                          <a:latin typeface="Calibri"/>
                        </a:rPr>
                        <a:t>6</a:t>
                      </a:r>
                    </a:p>
                  </a:txBody>
                  <a:tcPr marL="64008" marR="64008" marT="32004" marB="32004" anchor="ctr">
                    <a:solidFill>
                      <a:srgbClr val="F4F7FA"/>
                    </a:solidFill>
                  </a:tcPr>
                </a:tc>
                <a:tc>
                  <a:txBody>
                    <a:bodyPr wrap="square"/>
                    <a:lstStyle/>
                    <a:p>
                      <a:pPr algn="l"/>
                      <a:r>
                        <a:rPr sz="1100" b="0" i="0">
                          <a:solidFill>
                            <a:srgbClr val="2A3345"/>
                          </a:solidFill>
                          <a:latin typeface="Calibri"/>
                        </a:rPr>
                        <a:t>1</a:t>
                      </a:r>
                    </a:p>
                  </a:txBody>
                  <a:tcPr marL="64008" marR="64008" marT="32004" marB="32004" anchor="ctr">
                    <a:solidFill>
                      <a:srgbClr val="F4F7FA"/>
                    </a:solidFill>
                  </a:tcPr>
                </a:tc>
                <a:tc>
                  <a:txBody>
                    <a:bodyPr wrap="square"/>
                    <a:lstStyle/>
                    <a:p>
                      <a:pPr algn="l"/>
                      <a:r>
                        <a:rPr sz="1100" b="0" i="0">
                          <a:solidFill>
                            <a:srgbClr val="2A3345"/>
                          </a:solidFill>
                          <a:latin typeface="Calibri"/>
                        </a:rPr>
                        <a:t>1</a:t>
                      </a:r>
                    </a:p>
                  </a:txBody>
                  <a:tcPr marL="64008" marR="64008" marT="32004" marB="32004" anchor="ctr">
                    <a:solidFill>
                      <a:srgbClr val="F4F7FA"/>
                    </a:solidFill>
                  </a:tcPr>
                </a:tc>
                <a:tc>
                  <a:txBody>
                    <a:bodyPr wrap="square"/>
                    <a:lstStyle/>
                    <a:p>
                      <a:pPr algn="l"/>
                      <a:r>
                        <a:rPr sz="1100" b="0" i="0">
                          <a:solidFill>
                            <a:srgbClr val="2A3345"/>
                          </a:solidFill>
                          <a:latin typeface="Calibri"/>
                        </a:rPr>
                        <a:t>0</a:t>
                      </a:r>
                    </a:p>
                  </a:txBody>
                  <a:tcPr marL="64008" marR="64008" marT="32004" marB="32004" anchor="ctr">
                    <a:solidFill>
                      <a:srgbClr val="F4F7FA"/>
                    </a:solidFill>
                  </a:tcPr>
                </a:tc>
              </a:tr>
              <a:tr h="327521">
                <a:tc>
                  <a:txBody>
                    <a:bodyPr wrap="square"/>
                    <a:lstStyle/>
                    <a:p>
                      <a:pPr algn="l"/>
                      <a:r>
                        <a:rPr sz="1100" b="1" i="0">
                          <a:solidFill>
                            <a:srgbClr val="14213D"/>
                          </a:solidFill>
                          <a:latin typeface="Calibri"/>
                        </a:rPr>
                        <a:t>Australia</a:t>
                      </a:r>
                    </a:p>
                  </a:txBody>
                  <a:tcPr marL="64008" marR="64008" marT="32004" marB="32004" anchor="ctr">
                    <a:solidFill>
                      <a:srgbClr val="FFFFFF"/>
                    </a:solidFill>
                  </a:tcPr>
                </a:tc>
                <a:tc>
                  <a:txBody>
                    <a:bodyPr wrap="square"/>
                    <a:lstStyle/>
                    <a:p>
                      <a:pPr algn="l"/>
                      <a:r>
                        <a:rPr sz="1100" b="0" i="0">
                          <a:solidFill>
                            <a:srgbClr val="2A3345"/>
                          </a:solidFill>
                          <a:latin typeface="Calibri"/>
                        </a:rPr>
                        <a:t>2</a:t>
                      </a:r>
                    </a:p>
                  </a:txBody>
                  <a:tcPr marL="64008" marR="64008" marT="32004" marB="32004" anchor="ctr">
                    <a:solidFill>
                      <a:srgbClr val="FFFFFF"/>
                    </a:solidFill>
                  </a:tcPr>
                </a:tc>
                <a:tc>
                  <a:txBody>
                    <a:bodyPr wrap="square"/>
                    <a:lstStyle/>
                    <a:p>
                      <a:pPr algn="l"/>
                      <a:r>
                        <a:rPr sz="1100" b="0" i="0">
                          <a:solidFill>
                            <a:srgbClr val="2A3345"/>
                          </a:solidFill>
                          <a:latin typeface="Calibri"/>
                        </a:rPr>
                        <a:t>0</a:t>
                      </a:r>
                    </a:p>
                  </a:txBody>
                  <a:tcPr marL="64008" marR="64008" marT="32004" marB="32004" anchor="ctr">
                    <a:solidFill>
                      <a:srgbClr val="FFFFFF"/>
                    </a:solidFill>
                  </a:tcPr>
                </a:tc>
                <a:tc>
                  <a:txBody>
                    <a:bodyPr wrap="square"/>
                    <a:lstStyle/>
                    <a:p>
                      <a:pPr algn="l"/>
                      <a:r>
                        <a:rPr sz="1100" b="0" i="0">
                          <a:solidFill>
                            <a:srgbClr val="2A3345"/>
                          </a:solidFill>
                          <a:latin typeface="Calibri"/>
                        </a:rPr>
                        <a:t>9</a:t>
                      </a:r>
                    </a:p>
                  </a:txBody>
                  <a:tcPr marL="64008" marR="64008" marT="32004" marB="32004" anchor="ctr">
                    <a:solidFill>
                      <a:srgbClr val="FFFFFF"/>
                    </a:solidFill>
                  </a:tcPr>
                </a:tc>
                <a:tc>
                  <a:txBody>
                    <a:bodyPr wrap="square"/>
                    <a:lstStyle/>
                    <a:p>
                      <a:pPr algn="l"/>
                      <a:r>
                        <a:rPr sz="1100" b="0" i="0">
                          <a:solidFill>
                            <a:srgbClr val="2A3345"/>
                          </a:solidFill>
                          <a:latin typeface="Calibri"/>
                        </a:rPr>
                        <a:t>4</a:t>
                      </a:r>
                    </a:p>
                  </a:txBody>
                  <a:tcPr marL="64008" marR="64008" marT="32004" marB="32004" anchor="ctr">
                    <a:solidFill>
                      <a:srgbClr val="FFFFFF"/>
                    </a:solidFill>
                  </a:tcPr>
                </a:tc>
                <a:tc>
                  <a:txBody>
                    <a:bodyPr wrap="square"/>
                    <a:lstStyle/>
                    <a:p>
                      <a:pPr algn="l"/>
                      <a:r>
                        <a:rPr sz="1100" b="1" i="0">
                          <a:solidFill>
                            <a:srgbClr val="14213D"/>
                          </a:solidFill>
                          <a:latin typeface="Calibri"/>
                        </a:rPr>
                        <a:t>+5</a:t>
                      </a:r>
                    </a:p>
                  </a:txBody>
                  <a:tcPr marL="64008" marR="64008" marT="32004" marB="32004" anchor="ctr">
                    <a:solidFill>
                      <a:srgbClr val="FFFFFF"/>
                    </a:solidFill>
                  </a:tcPr>
                </a:tc>
              </a:tr>
              <a:tr h="327521">
                <a:tc>
                  <a:txBody>
                    <a:bodyPr wrap="square"/>
                    <a:lstStyle/>
                    <a:p>
                      <a:pPr algn="l"/>
                      <a:r>
                        <a:rPr sz="1100" b="1" i="0">
                          <a:solidFill>
                            <a:srgbClr val="14213D"/>
                          </a:solidFill>
                          <a:latin typeface="Calibri"/>
                        </a:rPr>
                        <a:t>Canada</a:t>
                      </a:r>
                    </a:p>
                  </a:txBody>
                  <a:tcPr marL="64008" marR="64008" marT="32004" marB="32004" anchor="ctr">
                    <a:solidFill>
                      <a:srgbClr val="F4F7FA"/>
                    </a:solidFill>
                  </a:tcPr>
                </a:tc>
                <a:tc>
                  <a:txBody>
                    <a:bodyPr wrap="square"/>
                    <a:lstStyle/>
                    <a:p>
                      <a:pPr algn="l"/>
                      <a:r>
                        <a:rPr sz="1100" b="0" i="0">
                          <a:solidFill>
                            <a:srgbClr val="2A3345"/>
                          </a:solidFill>
                          <a:latin typeface="Calibri"/>
                        </a:rPr>
                        <a:t>3</a:t>
                      </a:r>
                    </a:p>
                  </a:txBody>
                  <a:tcPr marL="64008" marR="64008" marT="32004" marB="32004" anchor="ctr">
                    <a:solidFill>
                      <a:srgbClr val="F4F7FA"/>
                    </a:solidFill>
                  </a:tcPr>
                </a:tc>
                <a:tc>
                  <a:txBody>
                    <a:bodyPr wrap="square"/>
                    <a:lstStyle/>
                    <a:p>
                      <a:pPr algn="l"/>
                      <a:r>
                        <a:rPr sz="1100" b="0" i="0">
                          <a:solidFill>
                            <a:srgbClr val="2A3345"/>
                          </a:solidFill>
                          <a:latin typeface="Calibri"/>
                        </a:rPr>
                        <a:t>1</a:t>
                      </a:r>
                    </a:p>
                  </a:txBody>
                  <a:tcPr marL="64008" marR="64008" marT="32004" marB="32004" anchor="ctr">
                    <a:solidFill>
                      <a:srgbClr val="F4F7FA"/>
                    </a:solidFill>
                  </a:tcPr>
                </a:tc>
                <a:tc>
                  <a:txBody>
                    <a:bodyPr wrap="square"/>
                    <a:lstStyle/>
                    <a:p>
                      <a:pPr algn="l"/>
                      <a:r>
                        <a:rPr sz="1100" b="0" i="0">
                          <a:solidFill>
                            <a:srgbClr val="2A3345"/>
                          </a:solidFill>
                          <a:latin typeface="Calibri"/>
                        </a:rPr>
                        <a:t>5</a:t>
                      </a:r>
                    </a:p>
                  </a:txBody>
                  <a:tcPr marL="64008" marR="64008" marT="32004" marB="32004" anchor="ctr">
                    <a:solidFill>
                      <a:srgbClr val="F4F7FA"/>
                    </a:solidFill>
                  </a:tcPr>
                </a:tc>
                <a:tc>
                  <a:txBody>
                    <a:bodyPr wrap="square"/>
                    <a:lstStyle/>
                    <a:p>
                      <a:pPr algn="l"/>
                      <a:r>
                        <a:rPr sz="1100" b="0" i="0">
                          <a:solidFill>
                            <a:srgbClr val="2A3345"/>
                          </a:solidFill>
                          <a:latin typeface="Calibri"/>
                        </a:rPr>
                        <a:t>2</a:t>
                      </a:r>
                    </a:p>
                  </a:txBody>
                  <a:tcPr marL="64008" marR="64008" marT="32004" marB="32004" anchor="ctr">
                    <a:solidFill>
                      <a:srgbClr val="F4F7FA"/>
                    </a:solidFill>
                  </a:tcPr>
                </a:tc>
                <a:tc>
                  <a:txBody>
                    <a:bodyPr wrap="square"/>
                    <a:lstStyle/>
                    <a:p>
                      <a:pPr algn="l"/>
                      <a:r>
                        <a:rPr sz="1100" b="1" i="0">
                          <a:solidFill>
                            <a:srgbClr val="14213D"/>
                          </a:solidFill>
                          <a:latin typeface="Calibri"/>
                        </a:rPr>
                        <a:t>+3</a:t>
                      </a:r>
                    </a:p>
                  </a:txBody>
                  <a:tcPr marL="64008" marR="64008" marT="32004" marB="32004" anchor="ctr">
                    <a:solidFill>
                      <a:srgbClr val="F4F7FA"/>
                    </a:solidFill>
                  </a:tcPr>
                </a:tc>
              </a:tr>
              <a:tr h="327521">
                <a:tc>
                  <a:txBody>
                    <a:bodyPr wrap="square"/>
                    <a:lstStyle/>
                    <a:p>
                      <a:pPr algn="l"/>
                      <a:r>
                        <a:rPr sz="1100" b="1" i="0">
                          <a:solidFill>
                            <a:srgbClr val="14213D"/>
                          </a:solidFill>
                          <a:latin typeface="Calibri"/>
                        </a:rPr>
                        <a:t>UK</a:t>
                      </a:r>
                    </a:p>
                  </a:txBody>
                  <a:tcPr marL="64008" marR="64008" marT="32004" marB="32004" anchor="ctr">
                    <a:solidFill>
                      <a:srgbClr val="FFFFFF"/>
                    </a:solidFill>
                  </a:tcPr>
                </a:tc>
                <a:tc>
                  <a:txBody>
                    <a:bodyPr wrap="square"/>
                    <a:lstStyle/>
                    <a:p>
                      <a:pPr algn="l"/>
                      <a:r>
                        <a:rPr sz="1100" b="0" i="0">
                          <a:solidFill>
                            <a:srgbClr val="2A3345"/>
                          </a:solidFill>
                          <a:latin typeface="Calibri"/>
                        </a:rPr>
                        <a:t>3</a:t>
                      </a:r>
                    </a:p>
                  </a:txBody>
                  <a:tcPr marL="64008" marR="64008" marT="32004" marB="32004" anchor="ctr">
                    <a:solidFill>
                      <a:srgbClr val="FFFFFF"/>
                    </a:solidFill>
                  </a:tcPr>
                </a:tc>
                <a:tc>
                  <a:txBody>
                    <a:bodyPr wrap="square"/>
                    <a:lstStyle/>
                    <a:p>
                      <a:pPr algn="l"/>
                      <a:r>
                        <a:rPr sz="1100" b="0" i="0">
                          <a:solidFill>
                            <a:srgbClr val="2A3345"/>
                          </a:solidFill>
                          <a:latin typeface="Calibri"/>
                        </a:rPr>
                        <a:t>3</a:t>
                      </a:r>
                    </a:p>
                  </a:txBody>
                  <a:tcPr marL="64008" marR="64008" marT="32004" marB="32004" anchor="ctr">
                    <a:solidFill>
                      <a:srgbClr val="FFFFFF"/>
                    </a:solidFill>
                  </a:tcPr>
                </a:tc>
                <a:tc>
                  <a:txBody>
                    <a:bodyPr wrap="square"/>
                    <a:lstStyle/>
                    <a:p>
                      <a:pPr algn="l"/>
                      <a:r>
                        <a:rPr sz="1100" b="0" i="0">
                          <a:solidFill>
                            <a:srgbClr val="2A3345"/>
                          </a:solidFill>
                          <a:latin typeface="Calibri"/>
                        </a:rPr>
                        <a:t>3</a:t>
                      </a:r>
                    </a:p>
                  </a:txBody>
                  <a:tcPr marL="64008" marR="64008" marT="32004" marB="32004" anchor="ctr">
                    <a:solidFill>
                      <a:srgbClr val="FFFFFF"/>
                    </a:solidFill>
                  </a:tcPr>
                </a:tc>
                <a:tc>
                  <a:txBody>
                    <a:bodyPr wrap="square"/>
                    <a:lstStyle/>
                    <a:p>
                      <a:pPr algn="l"/>
                      <a:r>
                        <a:rPr sz="1100" b="0" i="0">
                          <a:solidFill>
                            <a:srgbClr val="2A3345"/>
                          </a:solidFill>
                          <a:latin typeface="Calibri"/>
                        </a:rPr>
                        <a:t>2</a:t>
                      </a:r>
                    </a:p>
                  </a:txBody>
                  <a:tcPr marL="64008" marR="64008" marT="32004" marB="32004" anchor="ctr">
                    <a:solidFill>
                      <a:srgbClr val="FFFFFF"/>
                    </a:solidFill>
                  </a:tcPr>
                </a:tc>
                <a:tc>
                  <a:txBody>
                    <a:bodyPr wrap="square"/>
                    <a:lstStyle/>
                    <a:p>
                      <a:pPr algn="l"/>
                      <a:r>
                        <a:rPr sz="1100" b="0" i="0">
                          <a:solidFill>
                            <a:srgbClr val="2A3345"/>
                          </a:solidFill>
                          <a:latin typeface="Calibri"/>
                        </a:rPr>
                        <a:t>+1</a:t>
                      </a:r>
                    </a:p>
                  </a:txBody>
                  <a:tcPr marL="64008" marR="64008" marT="32004" marB="32004" anchor="ctr">
                    <a:solidFill>
                      <a:srgbClr val="FFFFFF"/>
                    </a:solidFill>
                  </a:tcPr>
                </a:tc>
              </a:tr>
              <a:tr h="327521">
                <a:tc>
                  <a:txBody>
                    <a:bodyPr wrap="square"/>
                    <a:lstStyle/>
                    <a:p>
                      <a:pPr algn="l"/>
                      <a:r>
                        <a:rPr sz="1100" b="1" i="0">
                          <a:solidFill>
                            <a:srgbClr val="14213D"/>
                          </a:solidFill>
                          <a:latin typeface="Calibri"/>
                        </a:rPr>
                        <a:t>South Korea</a:t>
                      </a:r>
                    </a:p>
                  </a:txBody>
                  <a:tcPr marL="64008" marR="64008" marT="32004" marB="32004" anchor="ctr">
                    <a:solidFill>
                      <a:srgbClr val="F4F7FA"/>
                    </a:solidFill>
                  </a:tcPr>
                </a:tc>
                <a:tc>
                  <a:txBody>
                    <a:bodyPr wrap="square"/>
                    <a:lstStyle/>
                    <a:p>
                      <a:pPr algn="l"/>
                      <a:r>
                        <a:rPr sz="1100" b="0" i="0">
                          <a:solidFill>
                            <a:srgbClr val="2A3345"/>
                          </a:solidFill>
                          <a:latin typeface="Calibri"/>
                        </a:rPr>
                        <a:t>2</a:t>
                      </a:r>
                    </a:p>
                  </a:txBody>
                  <a:tcPr marL="64008" marR="64008" marT="32004" marB="32004" anchor="ctr">
                    <a:solidFill>
                      <a:srgbClr val="F4F7FA"/>
                    </a:solidFill>
                  </a:tcPr>
                </a:tc>
                <a:tc>
                  <a:txBody>
                    <a:bodyPr wrap="square"/>
                    <a:lstStyle/>
                    <a:p>
                      <a:pPr algn="l"/>
                      <a:r>
                        <a:rPr sz="1100" b="0" i="0">
                          <a:solidFill>
                            <a:srgbClr val="2A3345"/>
                          </a:solidFill>
                          <a:latin typeface="Calibri"/>
                        </a:rPr>
                        <a:t>1</a:t>
                      </a:r>
                    </a:p>
                  </a:txBody>
                  <a:tcPr marL="64008" marR="64008" marT="32004" marB="32004" anchor="ctr">
                    <a:solidFill>
                      <a:srgbClr val="F4F7FA"/>
                    </a:solidFill>
                  </a:tcPr>
                </a:tc>
                <a:tc>
                  <a:txBody>
                    <a:bodyPr wrap="square"/>
                    <a:lstStyle/>
                    <a:p>
                      <a:pPr algn="l"/>
                      <a:r>
                        <a:rPr sz="1100" b="0" i="0">
                          <a:solidFill>
                            <a:srgbClr val="2A3345"/>
                          </a:solidFill>
                          <a:latin typeface="Calibri"/>
                        </a:rPr>
                        <a:t>5</a:t>
                      </a:r>
                    </a:p>
                  </a:txBody>
                  <a:tcPr marL="64008" marR="64008" marT="32004" marB="32004" anchor="ctr">
                    <a:solidFill>
                      <a:srgbClr val="F4F7FA"/>
                    </a:solidFill>
                  </a:tcPr>
                </a:tc>
                <a:tc>
                  <a:txBody>
                    <a:bodyPr wrap="square"/>
                    <a:lstStyle/>
                    <a:p>
                      <a:pPr algn="l"/>
                      <a:r>
                        <a:rPr sz="1100" b="0" i="0">
                          <a:solidFill>
                            <a:srgbClr val="2A3345"/>
                          </a:solidFill>
                          <a:latin typeface="Calibri"/>
                        </a:rPr>
                        <a:t>4</a:t>
                      </a:r>
                    </a:p>
                  </a:txBody>
                  <a:tcPr marL="64008" marR="64008" marT="32004" marB="32004" anchor="ctr">
                    <a:solidFill>
                      <a:srgbClr val="F4F7FA"/>
                    </a:solidFill>
                  </a:tcPr>
                </a:tc>
                <a:tc>
                  <a:txBody>
                    <a:bodyPr wrap="square"/>
                    <a:lstStyle/>
                    <a:p>
                      <a:pPr algn="l"/>
                      <a:r>
                        <a:rPr sz="1100" b="0" i="0">
                          <a:solidFill>
                            <a:srgbClr val="2A3345"/>
                          </a:solidFill>
                          <a:latin typeface="Calibri"/>
                        </a:rPr>
                        <a:t>+1</a:t>
                      </a:r>
                    </a:p>
                  </a:txBody>
                  <a:tcPr marL="64008" marR="64008" marT="32004" marB="32004" anchor="ctr">
                    <a:solidFill>
                      <a:srgbClr val="F4F7FA"/>
                    </a:solidFill>
                  </a:tcPr>
                </a:tc>
              </a:tr>
              <a:tr h="327521">
                <a:tc>
                  <a:txBody>
                    <a:bodyPr wrap="square"/>
                    <a:lstStyle/>
                    <a:p>
                      <a:pPr algn="l"/>
                      <a:r>
                        <a:rPr sz="1100" b="1" i="0">
                          <a:solidFill>
                            <a:srgbClr val="14213D"/>
                          </a:solidFill>
                          <a:latin typeface="Calibri"/>
                        </a:rPr>
                        <a:t>Brazil</a:t>
                      </a:r>
                    </a:p>
                  </a:txBody>
                  <a:tcPr marL="64008" marR="64008" marT="32004" marB="32004" anchor="ctr">
                    <a:solidFill>
                      <a:srgbClr val="FFFFFF"/>
                    </a:solidFill>
                  </a:tcPr>
                </a:tc>
                <a:tc>
                  <a:txBody>
                    <a:bodyPr wrap="square"/>
                    <a:lstStyle/>
                    <a:p>
                      <a:pPr algn="l"/>
                      <a:r>
                        <a:rPr sz="1100" b="0" i="0">
                          <a:solidFill>
                            <a:srgbClr val="2A3345"/>
                          </a:solidFill>
                          <a:latin typeface="Calibri"/>
                        </a:rPr>
                        <a:t>0</a:t>
                      </a:r>
                    </a:p>
                  </a:txBody>
                  <a:tcPr marL="64008" marR="64008" marT="32004" marB="32004" anchor="ctr">
                    <a:solidFill>
                      <a:srgbClr val="FFFFFF"/>
                    </a:solidFill>
                  </a:tcPr>
                </a:tc>
                <a:tc>
                  <a:txBody>
                    <a:bodyPr wrap="square"/>
                    <a:lstStyle/>
                    <a:p>
                      <a:pPr algn="l"/>
                      <a:r>
                        <a:rPr sz="1100" b="0" i="0">
                          <a:solidFill>
                            <a:srgbClr val="2A3345"/>
                          </a:solidFill>
                          <a:latin typeface="Calibri"/>
                        </a:rPr>
                        <a:t>0</a:t>
                      </a:r>
                    </a:p>
                  </a:txBody>
                  <a:tcPr marL="64008" marR="64008" marT="32004" marB="32004" anchor="ctr">
                    <a:solidFill>
                      <a:srgbClr val="FFFFFF"/>
                    </a:solidFill>
                  </a:tcPr>
                </a:tc>
                <a:tc>
                  <a:txBody>
                    <a:bodyPr wrap="square"/>
                    <a:lstStyle/>
                    <a:p>
                      <a:pPr algn="l"/>
                      <a:r>
                        <a:rPr sz="1100" b="0" i="0">
                          <a:solidFill>
                            <a:srgbClr val="2A3345"/>
                          </a:solidFill>
                          <a:latin typeface="Calibri"/>
                        </a:rPr>
                        <a:t>9</a:t>
                      </a:r>
                    </a:p>
                  </a:txBody>
                  <a:tcPr marL="64008" marR="64008" marT="32004" marB="32004" anchor="ctr">
                    <a:solidFill>
                      <a:srgbClr val="FFFFFF"/>
                    </a:solidFill>
                  </a:tcPr>
                </a:tc>
                <a:tc>
                  <a:txBody>
                    <a:bodyPr wrap="square"/>
                    <a:lstStyle/>
                    <a:p>
                      <a:pPr algn="l"/>
                      <a:r>
                        <a:rPr sz="1100" b="0" i="0">
                          <a:solidFill>
                            <a:srgbClr val="2A3345"/>
                          </a:solidFill>
                          <a:latin typeface="Calibri"/>
                        </a:rPr>
                        <a:t>10</a:t>
                      </a:r>
                    </a:p>
                  </a:txBody>
                  <a:tcPr marL="64008" marR="64008" marT="32004" marB="32004" anchor="ctr">
                    <a:solidFill>
                      <a:srgbClr val="FFFFFF"/>
                    </a:solidFill>
                  </a:tcPr>
                </a:tc>
                <a:tc>
                  <a:txBody>
                    <a:bodyPr wrap="square"/>
                    <a:lstStyle/>
                    <a:p>
                      <a:pPr algn="l"/>
                      <a:r>
                        <a:rPr sz="1100" b="0" i="0">
                          <a:solidFill>
                            <a:srgbClr val="2A3345"/>
                          </a:solidFill>
                          <a:latin typeface="Calibri"/>
                        </a:rPr>
                        <a:t>−1</a:t>
                      </a:r>
                    </a:p>
                  </a:txBody>
                  <a:tcPr marL="64008" marR="64008" marT="32004" marB="32004" anchor="ctr">
                    <a:solidFill>
                      <a:srgbClr val="FFFFFF"/>
                    </a:solidFill>
                  </a:tcPr>
                </a:tc>
              </a:tr>
              <a:tr h="327521">
                <a:tc>
                  <a:txBody>
                    <a:bodyPr wrap="square"/>
                    <a:lstStyle/>
                    <a:p>
                      <a:pPr algn="l"/>
                      <a:r>
                        <a:rPr sz="1100" b="1" i="0">
                          <a:solidFill>
                            <a:srgbClr val="14213D"/>
                          </a:solidFill>
                          <a:latin typeface="Calibri"/>
                        </a:rPr>
                        <a:t>Japan</a:t>
                      </a:r>
                    </a:p>
                  </a:txBody>
                  <a:tcPr marL="64008" marR="64008" marT="32004" marB="32004" anchor="ctr">
                    <a:solidFill>
                      <a:srgbClr val="F4F7FA"/>
                    </a:solidFill>
                  </a:tcPr>
                </a:tc>
                <a:tc>
                  <a:txBody>
                    <a:bodyPr wrap="square"/>
                    <a:lstStyle/>
                    <a:p>
                      <a:pPr algn="l"/>
                      <a:r>
                        <a:rPr sz="1100" b="0" i="0">
                          <a:solidFill>
                            <a:srgbClr val="2A3345"/>
                          </a:solidFill>
                          <a:latin typeface="Calibri"/>
                        </a:rPr>
                        <a:t>1</a:t>
                      </a:r>
                    </a:p>
                  </a:txBody>
                  <a:tcPr marL="64008" marR="64008" marT="32004" marB="32004" anchor="ctr">
                    <a:solidFill>
                      <a:srgbClr val="F4F7FA"/>
                    </a:solidFill>
                  </a:tcPr>
                </a:tc>
                <a:tc>
                  <a:txBody>
                    <a:bodyPr wrap="square"/>
                    <a:lstStyle/>
                    <a:p>
                      <a:pPr algn="l"/>
                      <a:r>
                        <a:rPr sz="1100" b="0" i="0">
                          <a:solidFill>
                            <a:srgbClr val="2A3345"/>
                          </a:solidFill>
                          <a:latin typeface="Calibri"/>
                        </a:rPr>
                        <a:t>1</a:t>
                      </a:r>
                    </a:p>
                  </a:txBody>
                  <a:tcPr marL="64008" marR="64008" marT="32004" marB="32004" anchor="ctr">
                    <a:solidFill>
                      <a:srgbClr val="F4F7FA"/>
                    </a:solidFill>
                  </a:tcPr>
                </a:tc>
                <a:tc>
                  <a:txBody>
                    <a:bodyPr wrap="square"/>
                    <a:lstStyle/>
                    <a:p>
                      <a:pPr algn="l"/>
                      <a:r>
                        <a:rPr sz="1100" b="0" i="0">
                          <a:solidFill>
                            <a:srgbClr val="2A3345"/>
                          </a:solidFill>
                          <a:latin typeface="Calibri"/>
                        </a:rPr>
                        <a:t>5</a:t>
                      </a:r>
                    </a:p>
                  </a:txBody>
                  <a:tcPr marL="64008" marR="64008" marT="32004" marB="32004" anchor="ctr">
                    <a:solidFill>
                      <a:srgbClr val="F4F7FA"/>
                    </a:solidFill>
                  </a:tcPr>
                </a:tc>
                <a:tc>
                  <a:txBody>
                    <a:bodyPr wrap="square"/>
                    <a:lstStyle/>
                    <a:p>
                      <a:pPr algn="l"/>
                      <a:r>
                        <a:rPr sz="1100" b="0" i="0">
                          <a:solidFill>
                            <a:srgbClr val="2A3345"/>
                          </a:solidFill>
                          <a:latin typeface="Calibri"/>
                        </a:rPr>
                        <a:t>7</a:t>
                      </a:r>
                    </a:p>
                  </a:txBody>
                  <a:tcPr marL="64008" marR="64008" marT="32004" marB="32004" anchor="ctr">
                    <a:solidFill>
                      <a:srgbClr val="F4F7FA"/>
                    </a:solidFill>
                  </a:tcPr>
                </a:tc>
                <a:tc>
                  <a:txBody>
                    <a:bodyPr wrap="square"/>
                    <a:lstStyle/>
                    <a:p>
                      <a:pPr algn="l"/>
                      <a:r>
                        <a:rPr sz="1100" b="0" i="0">
                          <a:solidFill>
                            <a:srgbClr val="2A3345"/>
                          </a:solidFill>
                          <a:latin typeface="Calibri"/>
                        </a:rPr>
                        <a:t>−2</a:t>
                      </a:r>
                    </a:p>
                  </a:txBody>
                  <a:tcPr marL="64008" marR="64008" marT="32004" marB="32004" anchor="ctr">
                    <a:solidFill>
                      <a:srgbClr val="F4F7FA"/>
                    </a:solidFill>
                  </a:tcPr>
                </a:tc>
              </a:tr>
              <a:tr h="327521">
                <a:tc>
                  <a:txBody>
                    <a:bodyPr wrap="square"/>
                    <a:lstStyle/>
                    <a:p>
                      <a:pPr algn="l"/>
                      <a:r>
                        <a:rPr sz="1100" b="1" i="0">
                          <a:solidFill>
                            <a:srgbClr val="14213D"/>
                          </a:solidFill>
                          <a:latin typeface="Calibri"/>
                        </a:rPr>
                        <a:t>Taiwan</a:t>
                      </a:r>
                    </a:p>
                  </a:txBody>
                  <a:tcPr marL="64008" marR="64008" marT="32004" marB="32004" anchor="ctr">
                    <a:solidFill>
                      <a:srgbClr val="FFFFFF"/>
                    </a:solidFill>
                  </a:tcPr>
                </a:tc>
                <a:tc>
                  <a:txBody>
                    <a:bodyPr wrap="square"/>
                    <a:lstStyle/>
                    <a:p>
                      <a:pPr algn="l"/>
                      <a:r>
                        <a:rPr sz="1100" b="0" i="0">
                          <a:solidFill>
                            <a:srgbClr val="2A3345"/>
                          </a:solidFill>
                          <a:latin typeface="Calibri"/>
                        </a:rPr>
                        <a:t>2</a:t>
                      </a:r>
                    </a:p>
                  </a:txBody>
                  <a:tcPr marL="64008" marR="64008" marT="32004" marB="32004" anchor="ctr">
                    <a:solidFill>
                      <a:srgbClr val="FFFFFF"/>
                    </a:solidFill>
                  </a:tcPr>
                </a:tc>
                <a:tc>
                  <a:txBody>
                    <a:bodyPr wrap="square"/>
                    <a:lstStyle/>
                    <a:p>
                      <a:pPr algn="l"/>
                      <a:r>
                        <a:rPr sz="1100" b="0" i="0">
                          <a:solidFill>
                            <a:srgbClr val="2A3345"/>
                          </a:solidFill>
                          <a:latin typeface="Calibri"/>
                        </a:rPr>
                        <a:t>4</a:t>
                      </a:r>
                    </a:p>
                  </a:txBody>
                  <a:tcPr marL="64008" marR="64008" marT="32004" marB="32004" anchor="ctr">
                    <a:solidFill>
                      <a:srgbClr val="FFFFFF"/>
                    </a:solidFill>
                  </a:tcPr>
                </a:tc>
                <a:tc>
                  <a:txBody>
                    <a:bodyPr wrap="square"/>
                    <a:lstStyle/>
                    <a:p>
                      <a:pPr algn="l"/>
                      <a:r>
                        <a:rPr sz="1100" b="0" i="0">
                          <a:solidFill>
                            <a:srgbClr val="2A3345"/>
                          </a:solidFill>
                          <a:latin typeface="Calibri"/>
                        </a:rPr>
                        <a:t>2</a:t>
                      </a:r>
                    </a:p>
                  </a:txBody>
                  <a:tcPr marL="64008" marR="64008" marT="32004" marB="32004" anchor="ctr">
                    <a:solidFill>
                      <a:srgbClr val="FFFFFF"/>
                    </a:solidFill>
                  </a:tcPr>
                </a:tc>
                <a:tc>
                  <a:txBody>
                    <a:bodyPr wrap="square"/>
                    <a:lstStyle/>
                    <a:p>
                      <a:pPr algn="l"/>
                      <a:r>
                        <a:rPr sz="1100" b="0" i="0">
                          <a:solidFill>
                            <a:srgbClr val="2A3345"/>
                          </a:solidFill>
                          <a:latin typeface="Calibri"/>
                        </a:rPr>
                        <a:t>4</a:t>
                      </a:r>
                    </a:p>
                  </a:txBody>
                  <a:tcPr marL="64008" marR="64008" marT="32004" marB="32004" anchor="ctr">
                    <a:solidFill>
                      <a:srgbClr val="FFFFFF"/>
                    </a:solidFill>
                  </a:tcPr>
                </a:tc>
                <a:tc>
                  <a:txBody>
                    <a:bodyPr wrap="square"/>
                    <a:lstStyle/>
                    <a:p>
                      <a:pPr algn="l"/>
                      <a:r>
                        <a:rPr sz="1100" b="0" i="0">
                          <a:solidFill>
                            <a:srgbClr val="2A3345"/>
                          </a:solidFill>
                          <a:latin typeface="Calibri"/>
                        </a:rPr>
                        <a:t>−2</a:t>
                      </a:r>
                    </a:p>
                  </a:txBody>
                  <a:tcPr marL="64008" marR="64008" marT="32004" marB="32004" anchor="ctr">
                    <a:solidFill>
                      <a:srgbClr val="FFFFFF"/>
                    </a:solidFill>
                  </a:tcPr>
                </a:tc>
              </a:tr>
              <a:tr h="327521">
                <a:tc>
                  <a:txBody>
                    <a:bodyPr wrap="square"/>
                    <a:lstStyle/>
                    <a:p>
                      <a:pPr algn="l"/>
                      <a:r>
                        <a:rPr sz="1100" b="1" i="0">
                          <a:solidFill>
                            <a:srgbClr val="14213D"/>
                          </a:solidFill>
                          <a:latin typeface="Calibri"/>
                        </a:rPr>
                        <a:t>Mexico</a:t>
                      </a:r>
                    </a:p>
                  </a:txBody>
                  <a:tcPr marL="64008" marR="64008" marT="32004" marB="32004" anchor="ctr">
                    <a:solidFill>
                      <a:srgbClr val="F4F7FA"/>
                    </a:solidFill>
                  </a:tcPr>
                </a:tc>
                <a:tc>
                  <a:txBody>
                    <a:bodyPr wrap="square"/>
                    <a:lstStyle/>
                    <a:p>
                      <a:pPr algn="l"/>
                      <a:r>
                        <a:rPr sz="1100" b="0" i="0">
                          <a:solidFill>
                            <a:srgbClr val="2A3345"/>
                          </a:solidFill>
                          <a:latin typeface="Calibri"/>
                        </a:rPr>
                        <a:t>1</a:t>
                      </a:r>
                    </a:p>
                  </a:txBody>
                  <a:tcPr marL="64008" marR="64008" marT="32004" marB="32004" anchor="ctr">
                    <a:solidFill>
                      <a:srgbClr val="F4F7FA"/>
                    </a:solidFill>
                  </a:tcPr>
                </a:tc>
                <a:tc>
                  <a:txBody>
                    <a:bodyPr wrap="square"/>
                    <a:lstStyle/>
                    <a:p>
                      <a:pPr algn="l"/>
                      <a:r>
                        <a:rPr sz="1100" b="0" i="0">
                          <a:solidFill>
                            <a:srgbClr val="2A3345"/>
                          </a:solidFill>
                          <a:latin typeface="Calibri"/>
                        </a:rPr>
                        <a:t>1</a:t>
                      </a:r>
                    </a:p>
                  </a:txBody>
                  <a:tcPr marL="64008" marR="64008" marT="32004" marB="32004" anchor="ctr">
                    <a:solidFill>
                      <a:srgbClr val="F4F7FA"/>
                    </a:solidFill>
                  </a:tcPr>
                </a:tc>
                <a:tc>
                  <a:txBody>
                    <a:bodyPr wrap="square"/>
                    <a:lstStyle/>
                    <a:p>
                      <a:pPr algn="l"/>
                      <a:r>
                        <a:rPr sz="1100" b="0" i="0">
                          <a:solidFill>
                            <a:srgbClr val="2A3345"/>
                          </a:solidFill>
                          <a:latin typeface="Calibri"/>
                        </a:rPr>
                        <a:t>5</a:t>
                      </a:r>
                    </a:p>
                  </a:txBody>
                  <a:tcPr marL="64008" marR="64008" marT="32004" marB="32004" anchor="ctr">
                    <a:solidFill>
                      <a:srgbClr val="F4F7FA"/>
                    </a:solidFill>
                  </a:tcPr>
                </a:tc>
                <a:tc>
                  <a:txBody>
                    <a:bodyPr wrap="square"/>
                    <a:lstStyle/>
                    <a:p>
                      <a:pPr algn="l"/>
                      <a:r>
                        <a:rPr sz="1100" b="0" i="0">
                          <a:solidFill>
                            <a:srgbClr val="2A3345"/>
                          </a:solidFill>
                          <a:latin typeface="Calibri"/>
                        </a:rPr>
                        <a:t>7</a:t>
                      </a:r>
                    </a:p>
                  </a:txBody>
                  <a:tcPr marL="64008" marR="64008" marT="32004" marB="32004" anchor="ctr">
                    <a:solidFill>
                      <a:srgbClr val="F4F7FA"/>
                    </a:solidFill>
                  </a:tcPr>
                </a:tc>
                <a:tc>
                  <a:txBody>
                    <a:bodyPr wrap="square"/>
                    <a:lstStyle/>
                    <a:p>
                      <a:pPr algn="l"/>
                      <a:r>
                        <a:rPr sz="1100" b="0" i="0">
                          <a:solidFill>
                            <a:srgbClr val="2A3345"/>
                          </a:solidFill>
                          <a:latin typeface="Calibri"/>
                        </a:rPr>
                        <a:t>−2</a:t>
                      </a:r>
                    </a:p>
                  </a:txBody>
                  <a:tcPr marL="64008" marR="64008" marT="32004" marB="32004" anchor="ctr">
                    <a:solidFill>
                      <a:srgbClr val="F4F7FA"/>
                    </a:solidFill>
                  </a:tcPr>
                </a:tc>
              </a:tr>
              <a:tr h="327526">
                <a:tc>
                  <a:txBody>
                    <a:bodyPr wrap="square"/>
                    <a:lstStyle/>
                    <a:p>
                      <a:pPr algn="l"/>
                      <a:r>
                        <a:rPr sz="1100" b="1" i="0">
                          <a:solidFill>
                            <a:srgbClr val="14213D"/>
                          </a:solidFill>
                          <a:latin typeface="Calibri"/>
                        </a:rPr>
                        <a:t>South Africa</a:t>
                      </a:r>
                    </a:p>
                  </a:txBody>
                  <a:tcPr marL="64008" marR="64008" marT="32004" marB="32004" anchor="ctr">
                    <a:solidFill>
                      <a:srgbClr val="FFFFFF"/>
                    </a:solidFill>
                  </a:tcPr>
                </a:tc>
                <a:tc>
                  <a:txBody>
                    <a:bodyPr wrap="square"/>
                    <a:lstStyle/>
                    <a:p>
                      <a:pPr algn="l"/>
                      <a:r>
                        <a:rPr sz="1100" b="0" i="0">
                          <a:solidFill>
                            <a:srgbClr val="2A3345"/>
                          </a:solidFill>
                          <a:latin typeface="Calibri"/>
                        </a:rPr>
                        <a:t>1</a:t>
                      </a:r>
                    </a:p>
                  </a:txBody>
                  <a:tcPr marL="64008" marR="64008" marT="32004" marB="32004" anchor="ctr">
                    <a:solidFill>
                      <a:srgbClr val="FFFFFF"/>
                    </a:solidFill>
                  </a:tcPr>
                </a:tc>
                <a:tc>
                  <a:txBody>
                    <a:bodyPr wrap="square"/>
                    <a:lstStyle/>
                    <a:p>
                      <a:pPr algn="l"/>
                      <a:r>
                        <a:rPr sz="1100" b="0" i="0">
                          <a:solidFill>
                            <a:srgbClr val="2A3345"/>
                          </a:solidFill>
                          <a:latin typeface="Calibri"/>
                        </a:rPr>
                        <a:t>3</a:t>
                      </a:r>
                    </a:p>
                  </a:txBody>
                  <a:tcPr marL="64008" marR="64008" marT="32004" marB="32004" anchor="ctr">
                    <a:solidFill>
                      <a:srgbClr val="FFFFFF"/>
                    </a:solidFill>
                  </a:tcPr>
                </a:tc>
                <a:tc>
                  <a:txBody>
                    <a:bodyPr wrap="square"/>
                    <a:lstStyle/>
                    <a:p>
                      <a:pPr algn="l"/>
                      <a:r>
                        <a:rPr sz="1100" b="0" i="0">
                          <a:solidFill>
                            <a:srgbClr val="2A3345"/>
                          </a:solidFill>
                          <a:latin typeface="Calibri"/>
                        </a:rPr>
                        <a:t>3</a:t>
                      </a:r>
                    </a:p>
                  </a:txBody>
                  <a:tcPr marL="64008" marR="64008" marT="32004" marB="32004" anchor="ctr">
                    <a:solidFill>
                      <a:srgbClr val="FFFFFF"/>
                    </a:solidFill>
                  </a:tcPr>
                </a:tc>
                <a:tc>
                  <a:txBody>
                    <a:bodyPr wrap="square"/>
                    <a:lstStyle/>
                    <a:p>
                      <a:pPr algn="l"/>
                      <a:r>
                        <a:rPr sz="1100" b="0" i="0">
                          <a:solidFill>
                            <a:srgbClr val="2A3345"/>
                          </a:solidFill>
                          <a:latin typeface="Calibri"/>
                        </a:rPr>
                        <a:t>7</a:t>
                      </a:r>
                    </a:p>
                  </a:txBody>
                  <a:tcPr marL="64008" marR="64008" marT="32004" marB="32004" anchor="ctr">
                    <a:solidFill>
                      <a:srgbClr val="FFFFFF"/>
                    </a:solidFill>
                  </a:tcPr>
                </a:tc>
                <a:tc>
                  <a:txBody>
                    <a:bodyPr wrap="square"/>
                    <a:lstStyle/>
                    <a:p>
                      <a:pPr algn="l"/>
                      <a:r>
                        <a:rPr sz="1100" b="1" i="0">
                          <a:solidFill>
                            <a:srgbClr val="14213D"/>
                          </a:solidFill>
                          <a:latin typeface="Calibri"/>
                        </a:rPr>
                        <a:t>−4</a:t>
                      </a:r>
                    </a:p>
                  </a:txBody>
                  <a:tcPr marL="64008" marR="64008" marT="32004" marB="32004" anchor="ctr">
                    <a:solidFill>
                      <a:srgbClr val="FFFFFF"/>
                    </a:solidFill>
                  </a:tcPr>
                </a:tc>
              </a:tr>
            </a:tbl>
          </a:graphicData>
        </a:graphic>
      </p:graphicFrame>
      <p:sp>
        <p:nvSpPr>
          <p:cNvPr id="11" name="TextBox 10"/>
          <p:cNvSpPr txBox="1"/>
          <p:nvPr/>
        </p:nvSpPr>
        <p:spPr>
          <a:xfrm>
            <a:off x="6297015" y="1645920"/>
            <a:ext cx="5236311" cy="398272"/>
          </a:xfrm>
          <a:prstGeom prst="rect">
            <a:avLst/>
          </a:prstGeom>
          <a:noFill/>
        </p:spPr>
        <p:txBody>
          <a:bodyPr wrap="square" lIns="0" rIns="0" tIns="0" bIns="0">
            <a:spAutoFit/>
          </a:bodyPr>
          <a:lstStyle/>
          <a:p>
            <a:r>
              <a:rPr sz="1550" b="1" i="0">
                <a:solidFill>
                  <a:srgbClr val="14213D"/>
                </a:solidFill>
                <a:latin typeface="Calibri"/>
              </a:rPr>
              <a:t>The formal tests:</a:t>
            </a:r>
          </a:p>
        </p:txBody>
      </p:sp>
      <p:graphicFrame>
        <p:nvGraphicFramePr>
          <p:cNvPr id="12" name="Table 11"/>
          <p:cNvGraphicFramePr>
            <a:graphicFrameLocks noGrp="1"/>
          </p:cNvGraphicFramePr>
          <p:nvPr/>
        </p:nvGraphicFramePr>
        <p:xfrm>
          <a:off x="6297015" y="2044192"/>
          <a:ext cx="5236310" cy="2165985"/>
        </p:xfrm>
        <a:graphic>
          <a:graphicData uri="http://schemas.openxmlformats.org/drawingml/2006/table">
            <a:tbl>
              <a:tblPr firstRow="1">
                <a:tableStyleId>{5C22544A-7EE6-4342-B048-85BDC9FD1C3A}</a:tableStyleId>
              </a:tblPr>
              <a:tblGrid>
                <a:gridCol w="2329714"/>
                <a:gridCol w="865322"/>
                <a:gridCol w="2041274"/>
              </a:tblGrid>
              <a:tr h="360997">
                <a:tc>
                  <a:txBody>
                    <a:bodyPr wrap="square"/>
                    <a:lstStyle/>
                    <a:p>
                      <a:pPr algn="l"/>
                      <a:r>
                        <a:rPr sz="1150" b="1" i="0">
                          <a:solidFill>
                            <a:srgbClr val="FFFFFF"/>
                          </a:solidFill>
                          <a:latin typeface="Calibri"/>
                        </a:rPr>
                        <a:t>Quantity</a:t>
                      </a:r>
                    </a:p>
                  </a:txBody>
                  <a:tcPr marL="64008" marR="64008" marT="32004" marB="32004" anchor="ctr">
                    <a:solidFill>
                      <a:srgbClr val="1D5B8F"/>
                    </a:solidFill>
                  </a:tcPr>
                </a:tc>
                <a:tc>
                  <a:txBody>
                    <a:bodyPr wrap="square"/>
                    <a:lstStyle/>
                    <a:p>
                      <a:pPr algn="l"/>
                      <a:r>
                        <a:rPr sz="1150" b="1" i="0">
                          <a:solidFill>
                            <a:srgbClr val="FFFFFF"/>
                          </a:solidFill>
                          <a:latin typeface="Calibri"/>
                        </a:rPr>
                        <a:t>Value</a:t>
                      </a:r>
                    </a:p>
                  </a:txBody>
                  <a:tcPr marL="64008" marR="64008" marT="32004" marB="32004" anchor="ctr">
                    <a:solidFill>
                      <a:srgbClr val="1D5B8F"/>
                    </a:solidFill>
                  </a:tcPr>
                </a:tc>
                <a:tc>
                  <a:txBody>
                    <a:bodyPr wrap="square"/>
                    <a:lstStyle/>
                    <a:p>
                      <a:pPr algn="l"/>
                      <a:r>
                        <a:rPr sz="1150" b="1" i="0">
                          <a:solidFill>
                            <a:srgbClr val="FFFFFF"/>
                          </a:solidFill>
                          <a:latin typeface="Calibri"/>
                        </a:rPr>
                        <a:t>Reading</a:t>
                      </a:r>
                    </a:p>
                  </a:txBody>
                  <a:tcPr marL="64008" marR="64008" marT="32004" marB="32004" anchor="ctr">
                    <a:solidFill>
                      <a:srgbClr val="1D5B8F"/>
                    </a:solidFill>
                  </a:tcPr>
                </a:tc>
              </a:tr>
              <a:tr h="360997">
                <a:tc>
                  <a:txBody>
                    <a:bodyPr wrap="square"/>
                    <a:lstStyle/>
                    <a:p>
                      <a:pPr algn="l"/>
                      <a:r>
                        <a:rPr sz="1100" b="1" i="0">
                          <a:solidFill>
                            <a:srgbClr val="14213D"/>
                          </a:solidFill>
                          <a:latin typeface="Calibri"/>
                        </a:rPr>
                        <a:t>Top-K overlap (K=20)</a:t>
                      </a:r>
                    </a:p>
                  </a:txBody>
                  <a:tcPr marL="64008" marR="64008" marT="32004" marB="32004" anchor="ctr">
                    <a:solidFill>
                      <a:srgbClr val="F4F7FA"/>
                    </a:solidFill>
                  </a:tcPr>
                </a:tc>
                <a:tc>
                  <a:txBody>
                    <a:bodyPr wrap="square"/>
                    <a:lstStyle/>
                    <a:p>
                      <a:pPr algn="l"/>
                      <a:r>
                        <a:rPr sz="1100" b="1" i="0">
                          <a:solidFill>
                            <a:srgbClr val="14213D"/>
                          </a:solidFill>
                          <a:latin typeface="Calibri"/>
                        </a:rPr>
                        <a:t>12 of 20</a:t>
                      </a:r>
                    </a:p>
                  </a:txBody>
                  <a:tcPr marL="64008" marR="64008" marT="32004" marB="32004" anchor="ctr">
                    <a:solidFill>
                      <a:srgbClr val="F4F7FA"/>
                    </a:solidFill>
                  </a:tcPr>
                </a:tc>
                <a:tc>
                  <a:txBody>
                    <a:bodyPr wrap="square"/>
                    <a:lstStyle/>
                    <a:p>
                      <a:pPr algn="l"/>
                      <a:r>
                        <a:rPr sz="1100" b="0" i="0">
                          <a:solidFill>
                            <a:srgbClr val="2A3345"/>
                          </a:solidFill>
                          <a:latin typeface="Calibri"/>
                        </a:rPr>
                        <a:t>Edges both α agree on</a:t>
                      </a:r>
                    </a:p>
                  </a:txBody>
                  <a:tcPr marL="64008" marR="64008" marT="32004" marB="32004" anchor="ctr">
                    <a:solidFill>
                      <a:srgbClr val="F4F7FA"/>
                    </a:solidFill>
                  </a:tcPr>
                </a:tc>
              </a:tr>
              <a:tr h="360997">
                <a:tc>
                  <a:txBody>
                    <a:bodyPr wrap="square"/>
                    <a:lstStyle/>
                    <a:p>
                      <a:pPr algn="l"/>
                      <a:r>
                        <a:rPr sz="1100" b="1" i="0">
                          <a:solidFill>
                            <a:srgbClr val="14213D"/>
                          </a:solidFill>
                          <a:latin typeface="Calibri"/>
                        </a:rPr>
                        <a:t>Expected if independent</a:t>
                      </a:r>
                    </a:p>
                  </a:txBody>
                  <a:tcPr marL="64008" marR="64008" marT="32004" marB="32004" anchor="ctr">
                    <a:solidFill>
                      <a:srgbClr val="FFFFFF"/>
                    </a:solidFill>
                  </a:tcPr>
                </a:tc>
                <a:tc>
                  <a:txBody>
                    <a:bodyPr wrap="square"/>
                    <a:lstStyle/>
                    <a:p>
                      <a:pPr algn="l"/>
                      <a:r>
                        <a:rPr sz="1100" b="0" i="0">
                          <a:solidFill>
                            <a:srgbClr val="2A3345"/>
                          </a:solidFill>
                          <a:latin typeface="Calibri"/>
                        </a:rPr>
                        <a:t>4.44</a:t>
                      </a:r>
                    </a:p>
                  </a:txBody>
                  <a:tcPr marL="64008" marR="64008" marT="32004" marB="32004" anchor="ctr">
                    <a:solidFill>
                      <a:srgbClr val="FFFFFF"/>
                    </a:solidFill>
                  </a:tcPr>
                </a:tc>
                <a:tc>
                  <a:txBody>
                    <a:bodyPr wrap="square"/>
                    <a:lstStyle/>
                    <a:p>
                      <a:pPr algn="l"/>
                    </a:p>
                  </a:txBody>
                  <a:tcPr marL="64008" marR="64008" marT="32004" marB="32004" anchor="ctr">
                    <a:solidFill>
                      <a:srgbClr val="FFFFFF"/>
                    </a:solidFill>
                  </a:tcPr>
                </a:tc>
              </a:tr>
              <a:tr h="360997">
                <a:tc>
                  <a:txBody>
                    <a:bodyPr wrap="square"/>
                    <a:lstStyle/>
                    <a:p>
                      <a:pPr algn="l"/>
                      <a:r>
                        <a:rPr sz="1100" b="1" i="0">
                          <a:solidFill>
                            <a:srgbClr val="14213D"/>
                          </a:solidFill>
                          <a:latin typeface="Calibri"/>
                        </a:rPr>
                        <a:t>Hypergeometric p</a:t>
                      </a:r>
                    </a:p>
                  </a:txBody>
                  <a:tcPr marL="64008" marR="64008" marT="32004" marB="32004" anchor="ctr">
                    <a:solidFill>
                      <a:srgbClr val="F4F7FA"/>
                    </a:solidFill>
                  </a:tcPr>
                </a:tc>
                <a:tc>
                  <a:txBody>
                    <a:bodyPr wrap="square"/>
                    <a:lstStyle/>
                    <a:p>
                      <a:pPr algn="l"/>
                      <a:r>
                        <a:rPr sz="1100" b="1" i="0">
                          <a:solidFill>
                            <a:srgbClr val="14213D"/>
                          </a:solidFill>
                          <a:latin typeface="Calibri"/>
                        </a:rPr>
                        <a:t>&lt; 0.0001</a:t>
                      </a:r>
                    </a:p>
                  </a:txBody>
                  <a:tcPr marL="64008" marR="64008" marT="32004" marB="32004" anchor="ctr">
                    <a:solidFill>
                      <a:srgbClr val="F4F7FA"/>
                    </a:solidFill>
                  </a:tcPr>
                </a:tc>
                <a:tc>
                  <a:txBody>
                    <a:bodyPr wrap="square"/>
                    <a:lstStyle/>
                    <a:p>
                      <a:pPr algn="l"/>
                      <a:r>
                        <a:rPr sz="1100" b="0" i="0">
                          <a:solidFill>
                            <a:srgbClr val="2A3345"/>
                          </a:solidFill>
                          <a:latin typeface="Calibri"/>
                        </a:rPr>
                        <a:t>The two α agree </a:t>
                      </a:r>
                      <a:r>
                        <a:rPr sz="1100" b="1" i="0">
                          <a:solidFill>
                            <a:srgbClr val="14213D"/>
                          </a:solidFill>
                          <a:latin typeface="Calibri"/>
                        </a:rPr>
                        <a:t>more</a:t>
                      </a:r>
                      <a:r>
                        <a:rPr sz="1100" b="0" i="0">
                          <a:solidFill>
                            <a:srgbClr val="2A3345"/>
                          </a:solidFill>
                          <a:latin typeface="Calibri"/>
                        </a:rPr>
                        <a:t> than chance</a:t>
                      </a:r>
                    </a:p>
                  </a:txBody>
                  <a:tcPr marL="64008" marR="64008" marT="32004" marB="32004" anchor="ctr">
                    <a:solidFill>
                      <a:srgbClr val="F4F7FA"/>
                    </a:solidFill>
                  </a:tcPr>
                </a:tc>
              </a:tr>
              <a:tr h="360997">
                <a:tc>
                  <a:txBody>
                    <a:bodyPr wrap="square"/>
                    <a:lstStyle/>
                    <a:p>
                      <a:pPr algn="l"/>
                      <a:r>
                        <a:rPr sz="1100" b="1" i="0">
                          <a:solidFill>
                            <a:srgbClr val="14213D"/>
                          </a:solidFill>
                          <a:latin typeface="Calibri"/>
                        </a:rPr>
                        <a:t>Kendall τ (out-degree ranks)</a:t>
                      </a:r>
                    </a:p>
                  </a:txBody>
                  <a:tcPr marL="64008" marR="64008" marT="32004" marB="32004" anchor="ctr">
                    <a:solidFill>
                      <a:srgbClr val="FFFFFF"/>
                    </a:solidFill>
                  </a:tcPr>
                </a:tc>
                <a:tc>
                  <a:txBody>
                    <a:bodyPr wrap="square"/>
                    <a:lstStyle/>
                    <a:p>
                      <a:pPr algn="l"/>
                      <a:r>
                        <a:rPr sz="1100" b="1" i="0">
                          <a:solidFill>
                            <a:srgbClr val="14213D"/>
                          </a:solidFill>
                          <a:latin typeface="Calibri"/>
                        </a:rPr>
                        <a:t>0.453</a:t>
                      </a:r>
                    </a:p>
                  </a:txBody>
                  <a:tcPr marL="64008" marR="64008" marT="32004" marB="32004" anchor="ctr">
                    <a:solidFill>
                      <a:srgbClr val="FFFFFF"/>
                    </a:solidFill>
                  </a:tcPr>
                </a:tc>
                <a:tc>
                  <a:txBody>
                    <a:bodyPr wrap="square"/>
                    <a:lstStyle/>
                    <a:p>
                      <a:pPr algn="l"/>
                      <a:r>
                        <a:rPr sz="1100" b="0" i="0">
                          <a:solidFill>
                            <a:srgbClr val="2A3345"/>
                          </a:solidFill>
                          <a:latin typeface="Calibri"/>
                        </a:rPr>
                        <a:t>1 = identical ranking</a:t>
                      </a:r>
                    </a:p>
                  </a:txBody>
                  <a:tcPr marL="64008" marR="64008" marT="32004" marB="32004" anchor="ctr">
                    <a:solidFill>
                      <a:srgbClr val="FFFFFF"/>
                    </a:solidFill>
                  </a:tcPr>
                </a:tc>
              </a:tr>
              <a:tr h="361000">
                <a:tc>
                  <a:txBody>
                    <a:bodyPr wrap="square"/>
                    <a:lstStyle/>
                    <a:p>
                      <a:pPr algn="l"/>
                      <a:r>
                        <a:rPr sz="1100" b="1" i="0">
                          <a:solidFill>
                            <a:srgbClr val="14213D"/>
                          </a:solidFill>
                          <a:latin typeface="Calibri"/>
                        </a:rPr>
                        <a:t>τ bootstrap 95% CI</a:t>
                      </a:r>
                    </a:p>
                  </a:txBody>
                  <a:tcPr marL="64008" marR="64008" marT="32004" marB="32004" anchor="ctr">
                    <a:solidFill>
                      <a:srgbClr val="F4F7FA"/>
                    </a:solidFill>
                  </a:tcPr>
                </a:tc>
                <a:tc>
                  <a:txBody>
                    <a:bodyPr wrap="square"/>
                    <a:lstStyle/>
                    <a:p>
                      <a:pPr algn="l"/>
                      <a:r>
                        <a:rPr sz="1100" b="1" i="0">
                          <a:solidFill>
                            <a:srgbClr val="14213D"/>
                          </a:solidFill>
                          <a:latin typeface="Calibri"/>
                        </a:rPr>
                        <a:t>[0.270, 0.919]</a:t>
                      </a:r>
                    </a:p>
                  </a:txBody>
                  <a:tcPr marL="64008" marR="64008" marT="32004" marB="32004" anchor="ctr">
                    <a:solidFill>
                      <a:srgbClr val="F4F7FA"/>
                    </a:solidFill>
                  </a:tcPr>
                </a:tc>
                <a:tc>
                  <a:txBody>
                    <a:bodyPr wrap="square"/>
                    <a:lstStyle/>
                    <a:p>
                      <a:pPr algn="l"/>
                      <a:r>
                        <a:rPr sz="1100" b="0" i="0">
                          <a:solidFill>
                            <a:srgbClr val="2A3345"/>
                          </a:solidFill>
                          <a:latin typeface="Calibri"/>
                        </a:rPr>
                        <a:t>Does not contain 0</a:t>
                      </a:r>
                    </a:p>
                  </a:txBody>
                  <a:tcPr marL="64008" marR="64008" marT="32004" marB="32004" anchor="ctr">
                    <a:solidFill>
                      <a:srgbClr val="F4F7FA"/>
                    </a:solidFill>
                  </a:tcPr>
                </a:tc>
              </a:tr>
            </a:tbl>
          </a:graphicData>
        </a:graphic>
      </p:graphicFrame>
      <p:pic>
        <p:nvPicPr>
          <p:cNvPr id="13" name="Picture 12" descr="F2_adjacency_heatmaps.png"/>
          <p:cNvPicPr>
            <a:picLocks noChangeAspect="1"/>
          </p:cNvPicPr>
          <p:nvPr/>
        </p:nvPicPr>
        <p:blipFill>
          <a:blip r:embed="rId3"/>
          <a:stretch>
            <a:fillRect/>
          </a:stretch>
        </p:blipFill>
        <p:spPr>
          <a:xfrm>
            <a:off x="6472456" y="4447921"/>
            <a:ext cx="2184977" cy="892622"/>
          </a:xfrm>
          <a:prstGeom prst="rect">
            <a:avLst/>
          </a:prstGeom>
        </p:spPr>
      </p:pic>
      <p:pic>
        <p:nvPicPr>
          <p:cNvPr id="14" name="Picture 13" descr="F3_transmitters.png"/>
          <p:cNvPicPr>
            <a:picLocks noChangeAspect="1"/>
          </p:cNvPicPr>
          <p:nvPr/>
        </p:nvPicPr>
        <p:blipFill>
          <a:blip r:embed="rId4"/>
          <a:stretch>
            <a:fillRect/>
          </a:stretch>
        </p:blipFill>
        <p:spPr>
          <a:xfrm>
            <a:off x="8822026" y="4447921"/>
            <a:ext cx="2535859" cy="89262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Honest Scorecard</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4 — Closing</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31  ·  32/40</a:t>
            </a:r>
          </a:p>
        </p:txBody>
      </p:sp>
      <p:graphicFrame>
        <p:nvGraphicFramePr>
          <p:cNvPr id="7" name="Table 6"/>
          <p:cNvGraphicFramePr>
            <a:graphicFrameLocks noGrp="1"/>
          </p:cNvGraphicFramePr>
          <p:nvPr/>
        </p:nvGraphicFramePr>
        <p:xfrm>
          <a:off x="658368" y="2148840"/>
          <a:ext cx="10874957" cy="1528191"/>
        </p:xfrm>
        <a:graphic>
          <a:graphicData uri="http://schemas.openxmlformats.org/drawingml/2006/table">
            <a:tbl>
              <a:tblPr firstRow="1">
                <a:tableStyleId>{5C22544A-7EE6-4342-B048-85BDC9FD1C3A}</a:tableStyleId>
              </a:tblPr>
              <a:tblGrid>
                <a:gridCol w="1216516"/>
                <a:gridCol w="4277694"/>
                <a:gridCol w="5380747"/>
              </a:tblGrid>
              <a:tr h="305638">
                <a:tc>
                  <a:txBody>
                    <a:bodyPr wrap="square"/>
                    <a:lstStyle/>
                    <a:p>
                      <a:pPr algn="l"/>
                      <a:r>
                        <a:rPr sz="1150" b="1" i="0">
                          <a:solidFill>
                            <a:srgbClr val="FFFFFF"/>
                          </a:solidFill>
                          <a:latin typeface="Calibri"/>
                        </a:rPr>
                        <a:t>Hypothesis</a:t>
                      </a:r>
                    </a:p>
                  </a:txBody>
                  <a:tcPr marL="64008" marR="64008" marT="32004" marB="32004" anchor="ctr">
                    <a:solidFill>
                      <a:srgbClr val="1D5B8F"/>
                    </a:solidFill>
                  </a:tcPr>
                </a:tc>
                <a:tc>
                  <a:txBody>
                    <a:bodyPr wrap="square"/>
                    <a:lstStyle/>
                    <a:p>
                      <a:pPr algn="l"/>
                      <a:r>
                        <a:rPr sz="1150" b="1" i="0">
                          <a:solidFill>
                            <a:srgbClr val="FFFFFF"/>
                          </a:solidFill>
                          <a:latin typeface="Calibri"/>
                        </a:rPr>
                        <a:t>Plain-English claim</a:t>
                      </a:r>
                    </a:p>
                  </a:txBody>
                  <a:tcPr marL="64008" marR="64008" marT="32004" marB="32004" anchor="ctr">
                    <a:solidFill>
                      <a:srgbClr val="1D5B8F"/>
                    </a:solidFill>
                  </a:tcPr>
                </a:tc>
                <a:tc>
                  <a:txBody>
                    <a:bodyPr wrap="square"/>
                    <a:lstStyle/>
                    <a:p>
                      <a:pPr algn="l"/>
                      <a:r>
                        <a:rPr sz="1150" b="1" i="0">
                          <a:solidFill>
                            <a:srgbClr val="FFFFFF"/>
                          </a:solidFill>
                          <a:latin typeface="Calibri"/>
                        </a:rPr>
                        <a:t>Preliminary verdict</a:t>
                      </a:r>
                    </a:p>
                  </a:txBody>
                  <a:tcPr marL="64008" marR="64008" marT="32004" marB="32004" anchor="ctr">
                    <a:solidFill>
                      <a:srgbClr val="1D5B8F"/>
                    </a:solidFill>
                  </a:tcPr>
                </a:tc>
              </a:tr>
              <a:tr h="305638">
                <a:tc>
                  <a:txBody>
                    <a:bodyPr wrap="square"/>
                    <a:lstStyle/>
                    <a:p>
                      <a:pPr algn="l"/>
                      <a:r>
                        <a:rPr sz="1100" b="1" i="0">
                          <a:solidFill>
                            <a:srgbClr val="14213D"/>
                          </a:solidFill>
                          <a:latin typeface="Calibri"/>
                        </a:rPr>
                        <a:t>H1a</a:t>
                      </a:r>
                    </a:p>
                  </a:txBody>
                  <a:tcPr marL="64008" marR="64008" marT="32004" marB="32004" anchor="ctr">
                    <a:solidFill>
                      <a:srgbClr val="F4F7FA"/>
                    </a:solidFill>
                  </a:tcPr>
                </a:tc>
                <a:tc>
                  <a:txBody>
                    <a:bodyPr wrap="square"/>
                    <a:lstStyle/>
                    <a:p>
                      <a:pPr algn="l"/>
                      <a:r>
                        <a:rPr sz="1100" b="0" i="0">
                          <a:solidFill>
                            <a:srgbClr val="2A3345"/>
                          </a:solidFill>
                          <a:latin typeface="Calibri"/>
                        </a:rPr>
                        <a:t>The Rényi graph forecasts better on average</a:t>
                      </a:r>
                    </a:p>
                  </a:txBody>
                  <a:tcPr marL="64008" marR="64008" marT="32004" marB="32004" anchor="ctr">
                    <a:solidFill>
                      <a:srgbClr val="F4F7FA"/>
                    </a:solidFill>
                  </a:tcPr>
                </a:tc>
                <a:tc>
                  <a:txBody>
                    <a:bodyPr wrap="square"/>
                    <a:lstStyle/>
                    <a:p>
                      <a:pPr algn="l"/>
                      <a:r>
                        <a:rPr sz="1100" b="0" i="0">
                          <a:solidFill>
                            <a:srgbClr val="2A3345"/>
                          </a:solidFill>
                          <a:latin typeface="Calibri"/>
                        </a:rPr>
                        <a:t>❌ </a:t>
                      </a:r>
                      <a:r>
                        <a:rPr sz="1100" b="1" i="0">
                          <a:solidFill>
                            <a:srgbClr val="14213D"/>
                          </a:solidFill>
                          <a:latin typeface="Calibri"/>
                        </a:rPr>
                        <a:t>Not supported</a:t>
                      </a:r>
                      <a:r>
                        <a:rPr sz="1100" b="0" i="0">
                          <a:solidFill>
                            <a:srgbClr val="2A3345"/>
                          </a:solidFill>
                          <a:latin typeface="Calibri"/>
                        </a:rPr>
                        <a:t> — −5.1%, t = −1.93</a:t>
                      </a:r>
                    </a:p>
                  </a:txBody>
                  <a:tcPr marL="64008" marR="64008" marT="32004" marB="32004" anchor="ctr">
                    <a:solidFill>
                      <a:srgbClr val="F4F7FA"/>
                    </a:solidFill>
                  </a:tcPr>
                </a:tc>
              </a:tr>
              <a:tr h="305638">
                <a:tc>
                  <a:txBody>
                    <a:bodyPr wrap="square"/>
                    <a:lstStyle/>
                    <a:p>
                      <a:pPr algn="l"/>
                      <a:r>
                        <a:rPr sz="1100" b="1" i="0">
                          <a:solidFill>
                            <a:srgbClr val="14213D"/>
                          </a:solidFill>
                          <a:latin typeface="Calibri"/>
                        </a:rPr>
                        <a:t>H1b</a:t>
                      </a:r>
                    </a:p>
                  </a:txBody>
                  <a:tcPr marL="64008" marR="64008" marT="32004" marB="32004" anchor="ctr">
                    <a:solidFill>
                      <a:srgbClr val="FFFFFF"/>
                    </a:solidFill>
                  </a:tcPr>
                </a:tc>
                <a:tc>
                  <a:txBody>
                    <a:bodyPr wrap="square"/>
                    <a:lstStyle/>
                    <a:p>
                      <a:pPr algn="l"/>
                      <a:r>
                        <a:rPr sz="1100" b="0" i="0">
                          <a:solidFill>
                            <a:srgbClr val="2A3345"/>
                          </a:solidFill>
                          <a:latin typeface="Calibri"/>
                        </a:rPr>
                        <a:t>The gain concentrates in turbulent markets</a:t>
                      </a:r>
                    </a:p>
                  </a:txBody>
                  <a:tcPr marL="64008" marR="64008" marT="32004" marB="32004" anchor="ctr">
                    <a:solidFill>
                      <a:srgbClr val="FFFFFF"/>
                    </a:solidFill>
                  </a:tcPr>
                </a:tc>
                <a:tc>
                  <a:txBody>
                    <a:bodyPr wrap="square"/>
                    <a:lstStyle/>
                    <a:p>
                      <a:pPr algn="l"/>
                      <a:r>
                        <a:rPr sz="1100" b="0" i="0">
                          <a:solidFill>
                            <a:srgbClr val="2A3345"/>
                          </a:solidFill>
                          <a:latin typeface="Calibri"/>
                        </a:rPr>
                        <a:t>⚠️ </a:t>
                      </a:r>
                      <a:r>
                        <a:rPr sz="1100" b="1" i="0">
                          <a:solidFill>
                            <a:srgbClr val="14213D"/>
                          </a:solidFill>
                          <a:latin typeface="Calibri"/>
                        </a:rPr>
                        <a:t>Not evaluable</a:t>
                      </a:r>
                      <a:r>
                        <a:rPr sz="1100" b="0" i="0">
                          <a:solidFill>
                            <a:srgbClr val="2A3345"/>
                          </a:solidFill>
                          <a:latin typeface="Calibri"/>
                        </a:rPr>
                        <a:t> — only 4 turbulent days in the test block</a:t>
                      </a:r>
                    </a:p>
                  </a:txBody>
                  <a:tcPr marL="64008" marR="64008" marT="32004" marB="32004" anchor="ctr">
                    <a:solidFill>
                      <a:srgbClr val="FFFFFF"/>
                    </a:solidFill>
                  </a:tcPr>
                </a:tc>
              </a:tr>
              <a:tr h="305638">
                <a:tc>
                  <a:txBody>
                    <a:bodyPr wrap="square"/>
                    <a:lstStyle/>
                    <a:p>
                      <a:pPr algn="l"/>
                      <a:r>
                        <a:rPr sz="1100" b="1" i="0">
                          <a:solidFill>
                            <a:srgbClr val="14213D"/>
                          </a:solidFill>
                          <a:latin typeface="Calibri"/>
                        </a:rPr>
                        <a:t>H2a</a:t>
                      </a:r>
                    </a:p>
                  </a:txBody>
                  <a:tcPr marL="64008" marR="64008" marT="32004" marB="32004" anchor="ctr">
                    <a:solidFill>
                      <a:srgbClr val="F4F7FA"/>
                    </a:solidFill>
                  </a:tcPr>
                </a:tc>
                <a:tc>
                  <a:txBody>
                    <a:bodyPr wrap="square"/>
                    <a:lstStyle/>
                    <a:p>
                      <a:pPr algn="l"/>
                      <a:r>
                        <a:rPr sz="1100" b="0" i="0">
                          <a:solidFill>
                            <a:srgbClr val="2A3345"/>
                          </a:solidFill>
                          <a:latin typeface="Calibri"/>
                        </a:rPr>
                        <a:t>The measured links are real, not noise</a:t>
                      </a:r>
                    </a:p>
                  </a:txBody>
                  <a:tcPr marL="64008" marR="64008" marT="32004" marB="32004" anchor="ctr">
                    <a:solidFill>
                      <a:srgbClr val="F4F7FA"/>
                    </a:solidFill>
                  </a:tcPr>
                </a:tc>
                <a:tc>
                  <a:txBody>
                    <a:bodyPr wrap="square"/>
                    <a:lstStyle/>
                    <a:p>
                      <a:pPr algn="l"/>
                      <a:r>
                        <a:rPr sz="1100" b="0" i="0">
                          <a:solidFill>
                            <a:srgbClr val="2A3345"/>
                          </a:solidFill>
                          <a:latin typeface="Calibri"/>
                        </a:rPr>
                        <a:t>✅ </a:t>
                      </a:r>
                      <a:r>
                        <a:rPr sz="1100" b="1" i="0">
                          <a:solidFill>
                            <a:srgbClr val="14213D"/>
                          </a:solidFill>
                          <a:latin typeface="Calibri"/>
                        </a:rPr>
                        <a:t>Supported</a:t>
                      </a:r>
                      <a:r>
                        <a:rPr sz="1100" b="0" i="0">
                          <a:solidFill>
                            <a:srgbClr val="2A3345"/>
                          </a:solidFill>
                          <a:latin typeface="Calibri"/>
                        </a:rPr>
                        <a:t> — 36 edges at α=0.5 vs </a:t>
                      </a:r>
                      <a:r>
                        <a:rPr sz="1100" b="1" i="0">
                          <a:solidFill>
                            <a:srgbClr val="14213D"/>
                          </a:solidFill>
                          <a:latin typeface="Calibri"/>
                        </a:rPr>
                        <a:t>0</a:t>
                      </a:r>
                      <a:r>
                        <a:rPr sz="1100" b="0" i="0">
                          <a:solidFill>
                            <a:srgbClr val="2A3345"/>
                          </a:solidFill>
                          <a:latin typeface="Calibri"/>
                        </a:rPr>
                        <a:t> at α=1.0</a:t>
                      </a:r>
                    </a:p>
                  </a:txBody>
                  <a:tcPr marL="64008" marR="64008" marT="32004" marB="32004" anchor="ctr">
                    <a:solidFill>
                      <a:srgbClr val="F4F7FA"/>
                    </a:solidFill>
                  </a:tcPr>
                </a:tc>
              </a:tr>
              <a:tr h="305639">
                <a:tc>
                  <a:txBody>
                    <a:bodyPr wrap="square"/>
                    <a:lstStyle/>
                    <a:p>
                      <a:pPr algn="l"/>
                      <a:r>
                        <a:rPr sz="1100" b="1" i="0">
                          <a:solidFill>
                            <a:srgbClr val="14213D"/>
                          </a:solidFill>
                          <a:latin typeface="Calibri"/>
                        </a:rPr>
                        <a:t>H2b</a:t>
                      </a:r>
                    </a:p>
                  </a:txBody>
                  <a:tcPr marL="64008" marR="64008" marT="32004" marB="32004" anchor="ctr">
                    <a:solidFill>
                      <a:srgbClr val="FFFFFF"/>
                    </a:solidFill>
                  </a:tcPr>
                </a:tc>
                <a:tc>
                  <a:txBody>
                    <a:bodyPr wrap="square"/>
                    <a:lstStyle/>
                    <a:p>
                      <a:pPr algn="l"/>
                      <a:r>
                        <a:rPr sz="1100" b="0" i="0">
                          <a:solidFill>
                            <a:srgbClr val="2A3345"/>
                          </a:solidFill>
                          <a:latin typeface="Calibri"/>
                        </a:rPr>
                        <a:t>The cast of top transmitters changes</a:t>
                      </a:r>
                    </a:p>
                  </a:txBody>
                  <a:tcPr marL="64008" marR="64008" marT="32004" marB="32004" anchor="ctr">
                    <a:solidFill>
                      <a:srgbClr val="FFFFFF"/>
                    </a:solidFill>
                  </a:tcPr>
                </a:tc>
                <a:tc>
                  <a:txBody>
                    <a:bodyPr wrap="square"/>
                    <a:lstStyle/>
                    <a:p>
                      <a:pPr algn="l"/>
                      <a:r>
                        <a:rPr sz="1100" b="0" i="0">
                          <a:solidFill>
                            <a:srgbClr val="2A3345"/>
                          </a:solidFill>
                          <a:latin typeface="Calibri"/>
                        </a:rPr>
                        <a:t>⚠️ </a:t>
                      </a:r>
                      <a:r>
                        <a:rPr sz="1100" b="1" i="0">
                          <a:solidFill>
                            <a:srgbClr val="14213D"/>
                          </a:solidFill>
                          <a:latin typeface="Calibri"/>
                        </a:rPr>
                        <a:t>Mixed</a:t>
                      </a:r>
                      <a:r>
                        <a:rPr sz="1100" b="0" i="0">
                          <a:solidFill>
                            <a:srgbClr val="2A3345"/>
                          </a:solidFill>
                          <a:latin typeface="Calibri"/>
                        </a:rPr>
                        <a:t> — τ = 0.45; big individual moves; overlap beats chance</a:t>
                      </a:r>
                    </a:p>
                  </a:txBody>
                  <a:tcPr marL="64008" marR="64008" marT="32004" marB="32004" anchor="ctr">
                    <a:solidFill>
                      <a:srgbClr val="FFFFFF"/>
                    </a:solidFill>
                  </a:tcPr>
                </a:tc>
              </a:tr>
            </a:tbl>
          </a:graphicData>
        </a:graphic>
      </p:graphicFrame>
      <p:sp>
        <p:nvSpPr>
          <p:cNvPr id="8" name="Rectangle 7"/>
          <p:cNvSpPr/>
          <p:nvPr/>
        </p:nvSpPr>
        <p:spPr>
          <a:xfrm>
            <a:off x="658368" y="3805047"/>
            <a:ext cx="10874959" cy="1237488"/>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3805047"/>
            <a:ext cx="50292" cy="123748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896487"/>
            <a:ext cx="10463479" cy="1054608"/>
          </a:xfrm>
          <a:prstGeom prst="rect">
            <a:avLst/>
          </a:prstGeom>
          <a:noFill/>
        </p:spPr>
        <p:txBody>
          <a:bodyPr wrap="square" lIns="0" rIns="0" tIns="0" bIns="0">
            <a:spAutoFit/>
          </a:bodyPr>
          <a:lstStyle/>
          <a:p>
            <a:r>
              <a:rPr sz="1600" b="1" i="0">
                <a:solidFill>
                  <a:srgbClr val="14213D"/>
                </a:solidFill>
                <a:latin typeface="Calibri"/>
              </a:rPr>
              <a:t>Overall:</a:t>
            </a:r>
            <a:r>
              <a:rPr sz="1600" b="0" i="0">
                <a:solidFill>
                  <a:srgbClr val="14213D"/>
                </a:solidFill>
                <a:latin typeface="Calibri"/>
              </a:rPr>
              <a:t> the pipeline runs end to end and produces every table the thesis needs. The </a:t>
            </a:r>
            <a:r>
              <a:rPr sz="1600" b="1" i="0">
                <a:solidFill>
                  <a:srgbClr val="14213D"/>
                </a:solidFill>
                <a:latin typeface="Calibri"/>
              </a:rPr>
              <a:t>structural</a:t>
            </a:r>
            <a:r>
              <a:rPr sz="1600" b="0" i="0">
                <a:solidFill>
                  <a:srgbClr val="14213D"/>
                </a:solidFill>
                <a:latin typeface="Calibri"/>
              </a:rPr>
              <a:t> result (RQ2) is the strongest signal so far. The </a:t>
            </a:r>
            <a:r>
              <a:rPr sz="1600" b="1" i="0">
                <a:solidFill>
                  <a:srgbClr val="14213D"/>
                </a:solidFill>
                <a:latin typeface="Calibri"/>
              </a:rPr>
              <a:t>forecasting</a:t>
            </a:r>
            <a:r>
              <a:rPr sz="1600" b="0" i="0">
                <a:solidFill>
                  <a:srgbClr val="14213D"/>
                </a:solidFill>
                <a:latin typeface="Calibri"/>
              </a:rPr>
              <a:t> result (RQ1) cannot be judged from a 5-minute, 3-seed, 200-epoch pilot on a calm test period.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The Fix List</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4 — Closing</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32  ·  33/40</a:t>
            </a:r>
          </a:p>
        </p:txBody>
      </p:sp>
      <p:sp>
        <p:nvSpPr>
          <p:cNvPr id="7" name="TextBox 6"/>
          <p:cNvSpPr txBox="1"/>
          <p:nvPr/>
        </p:nvSpPr>
        <p:spPr>
          <a:xfrm>
            <a:off x="658368" y="1645920"/>
            <a:ext cx="10874959" cy="383153"/>
          </a:xfrm>
          <a:prstGeom prst="rect">
            <a:avLst/>
          </a:prstGeom>
          <a:noFill/>
        </p:spPr>
        <p:txBody>
          <a:bodyPr wrap="square" lIns="0" rIns="0" tIns="0" bIns="0">
            <a:spAutoFit/>
          </a:bodyPr>
          <a:lstStyle/>
          <a:p>
            <a:r>
              <a:rPr sz="1456" b="1" i="0">
                <a:solidFill>
                  <a:srgbClr val="14213D"/>
                </a:solidFill>
                <a:latin typeface="Calibri"/>
              </a:rPr>
              <a:t>Scale:</a:t>
            </a:r>
          </a:p>
        </p:txBody>
      </p:sp>
      <p:sp>
        <p:nvSpPr>
          <p:cNvPr id="8" name="TextBox 7"/>
          <p:cNvSpPr txBox="1"/>
          <p:nvPr/>
        </p:nvSpPr>
        <p:spPr>
          <a:xfrm>
            <a:off x="658368" y="2029073"/>
            <a:ext cx="10874959" cy="355721"/>
          </a:xfrm>
          <a:prstGeom prst="rect">
            <a:avLst/>
          </a:prstGeom>
          <a:noFill/>
        </p:spPr>
        <p:txBody>
          <a:bodyPr wrap="square" lIns="0" rIns="0" tIns="0" bIns="0">
            <a:spAutoFit/>
          </a:bodyPr>
          <a:lstStyle/>
          <a:p>
            <a:pPr marL="274320" indent="-274320"/>
            <a:r>
              <a:rPr sz="1456" b="0" i="0">
                <a:solidFill>
                  <a:srgbClr val="2A3345"/>
                </a:solidFill>
                <a:latin typeface="Calibri"/>
              </a:rPr>
              <a:t>1.  Sample from </a:t>
            </a:r>
            <a:r>
              <a:rPr sz="1456" b="1" i="0">
                <a:solidFill>
                  <a:srgbClr val="14213D"/>
                </a:solidFill>
                <a:latin typeface="Calibri"/>
              </a:rPr>
              <a:t>2003</a:t>
            </a:r>
            <a:r>
              <a:rPr sz="1456" b="0" i="0">
                <a:solidFill>
                  <a:srgbClr val="2A3345"/>
                </a:solidFill>
                <a:latin typeface="Calibri"/>
              </a:rPr>
              <a:t> → captures 2008, 2020, 2022 crises (the pilot's 2018–2024 test block had 4 turbulent days)</a:t>
            </a:r>
          </a:p>
        </p:txBody>
      </p:sp>
      <p:sp>
        <p:nvSpPr>
          <p:cNvPr id="9" name="TextBox 8"/>
          <p:cNvSpPr txBox="1"/>
          <p:nvPr/>
        </p:nvSpPr>
        <p:spPr>
          <a:xfrm>
            <a:off x="658368" y="2384795"/>
            <a:ext cx="10874959" cy="355721"/>
          </a:xfrm>
          <a:prstGeom prst="rect">
            <a:avLst/>
          </a:prstGeom>
          <a:noFill/>
        </p:spPr>
        <p:txBody>
          <a:bodyPr wrap="square" lIns="0" rIns="0" tIns="0" bIns="0">
            <a:spAutoFit/>
          </a:bodyPr>
          <a:lstStyle/>
          <a:p>
            <a:pPr marL="274320" indent="-274320"/>
            <a:r>
              <a:rPr sz="1456" b="0" i="0">
                <a:solidFill>
                  <a:srgbClr val="2A3345"/>
                </a:solidFill>
                <a:latin typeface="Calibri"/>
              </a:rPr>
              <a:t>2.  </a:t>
            </a:r>
            <a:r>
              <a:rPr sz="1456" b="1" i="0">
                <a:solidFill>
                  <a:srgbClr val="14213D"/>
                </a:solidFill>
                <a:latin typeface="Calibri"/>
              </a:rPr>
              <a:t>20 seeds, 3,000 epochs</a:t>
            </a:r>
            <a:r>
              <a:rPr sz="1456" b="0" i="0">
                <a:solidFill>
                  <a:srgbClr val="2A3345"/>
                </a:solidFill>
                <a:latin typeface="Calibri"/>
              </a:rPr>
              <a:t> → every pilot arm hit the 200-epoch cap without converging</a:t>
            </a:r>
          </a:p>
        </p:txBody>
      </p:sp>
      <p:sp>
        <p:nvSpPr>
          <p:cNvPr id="10" name="TextBox 9"/>
          <p:cNvSpPr txBox="1"/>
          <p:nvPr/>
        </p:nvSpPr>
        <p:spPr>
          <a:xfrm>
            <a:off x="658368" y="2740517"/>
            <a:ext cx="10874959" cy="355721"/>
          </a:xfrm>
          <a:prstGeom prst="rect">
            <a:avLst/>
          </a:prstGeom>
          <a:noFill/>
        </p:spPr>
        <p:txBody>
          <a:bodyPr wrap="square" lIns="0" rIns="0" tIns="0" bIns="0">
            <a:spAutoFit/>
          </a:bodyPr>
          <a:lstStyle/>
          <a:p>
            <a:pPr marL="274320" indent="-274320"/>
            <a:r>
              <a:rPr sz="1456" b="0" i="0">
                <a:solidFill>
                  <a:srgbClr val="2A3345"/>
                </a:solidFill>
                <a:latin typeface="Calibri"/>
              </a:rPr>
              <a:t>3.  </a:t>
            </a:r>
            <a:r>
              <a:rPr sz="1456" b="1" i="0">
                <a:solidFill>
                  <a:srgbClr val="14213D"/>
                </a:solidFill>
                <a:latin typeface="Calibri"/>
              </a:rPr>
              <a:t>1,000 surrogates</a:t>
            </a:r>
            <a:r>
              <a:rPr sz="1456" b="0" i="0">
                <a:solidFill>
                  <a:srgbClr val="2A3345"/>
                </a:solidFill>
                <a:latin typeface="Calibri"/>
              </a:rPr>
              <a:t> → removes the p = 0.0099 floor that is distorting the H2a edge counts</a:t>
            </a:r>
          </a:p>
        </p:txBody>
      </p:sp>
      <p:sp>
        <p:nvSpPr>
          <p:cNvPr id="11" name="TextBox 10"/>
          <p:cNvSpPr txBox="1"/>
          <p:nvPr/>
        </p:nvSpPr>
        <p:spPr>
          <a:xfrm>
            <a:off x="658368" y="3096239"/>
            <a:ext cx="10874959" cy="383153"/>
          </a:xfrm>
          <a:prstGeom prst="rect">
            <a:avLst/>
          </a:prstGeom>
          <a:noFill/>
        </p:spPr>
        <p:txBody>
          <a:bodyPr wrap="square" lIns="0" rIns="0" tIns="0" bIns="0">
            <a:spAutoFit/>
          </a:bodyPr>
          <a:lstStyle/>
          <a:p>
            <a:r>
              <a:rPr sz="1456" b="1" i="0">
                <a:solidFill>
                  <a:srgbClr val="14213D"/>
                </a:solidFill>
                <a:latin typeface="Calibri"/>
              </a:rPr>
              <a:t>Methodology hardening:</a:t>
            </a:r>
          </a:p>
        </p:txBody>
      </p:sp>
      <p:sp>
        <p:nvSpPr>
          <p:cNvPr id="12" name="TextBox 11"/>
          <p:cNvSpPr txBox="1"/>
          <p:nvPr/>
        </p:nvSpPr>
        <p:spPr>
          <a:xfrm>
            <a:off x="658368" y="3479393"/>
            <a:ext cx="10874959" cy="592571"/>
          </a:xfrm>
          <a:prstGeom prst="rect">
            <a:avLst/>
          </a:prstGeom>
          <a:noFill/>
        </p:spPr>
        <p:txBody>
          <a:bodyPr wrap="square" lIns="0" rIns="0" tIns="0" bIns="0">
            <a:spAutoFit/>
          </a:bodyPr>
          <a:lstStyle/>
          <a:p>
            <a:pPr marL="274320" indent="-274320"/>
            <a:r>
              <a:rPr sz="1456" b="0" i="0">
                <a:solidFill>
                  <a:srgbClr val="2A3345"/>
                </a:solidFill>
                <a:latin typeface="Calibri"/>
              </a:rPr>
              <a:t>4.  Make </a:t>
            </a:r>
            <a:r>
              <a:rPr sz="1456" b="1" i="0">
                <a:solidFill>
                  <a:srgbClr val="14213D"/>
                </a:solidFill>
                <a:latin typeface="Calibri"/>
              </a:rPr>
              <a:t>QLIKE the stated primary metric in §3.8</a:t>
            </a:r>
            <a:r>
              <a:rPr sz="1456" b="0" i="0">
                <a:solidFill>
                  <a:srgbClr val="2A3345"/>
                </a:solidFill>
                <a:latin typeface="Calibri"/>
              </a:rPr>
              <a:t> — currently the manuscript lists RMSE/MAE/MAPE and never names QLIKE. </a:t>
            </a:r>
            <a:r>
              <a:rPr sz="1456" b="0" i="1">
                <a:solidFill>
                  <a:srgbClr val="2A3345"/>
                </a:solidFill>
                <a:latin typeface="Calibri"/>
              </a:rPr>
              <a:t>(Internal consistency — the single most likely thing to get caught.)</a:t>
            </a:r>
          </a:p>
        </p:txBody>
      </p:sp>
      <p:sp>
        <p:nvSpPr>
          <p:cNvPr id="13" name="TextBox 12"/>
          <p:cNvSpPr txBox="1"/>
          <p:nvPr/>
        </p:nvSpPr>
        <p:spPr>
          <a:xfrm>
            <a:off x="658368" y="4071965"/>
            <a:ext cx="10874959" cy="355721"/>
          </a:xfrm>
          <a:prstGeom prst="rect">
            <a:avLst/>
          </a:prstGeom>
          <a:noFill/>
        </p:spPr>
        <p:txBody>
          <a:bodyPr wrap="square" lIns="0" rIns="0" tIns="0" bIns="0">
            <a:spAutoFit/>
          </a:bodyPr>
          <a:lstStyle/>
          <a:p>
            <a:pPr marL="274320" indent="-274320"/>
            <a:r>
              <a:rPr sz="1456" b="0" i="0">
                <a:solidFill>
                  <a:srgbClr val="2A3345"/>
                </a:solidFill>
                <a:latin typeface="Calibri"/>
              </a:rPr>
              <a:t>5.  </a:t>
            </a:r>
            <a:r>
              <a:rPr sz="1456" b="1" i="0">
                <a:solidFill>
                  <a:srgbClr val="14213D"/>
                </a:solidFill>
                <a:latin typeface="Calibri"/>
              </a:rPr>
              <a:t>Guarantee positive forecasts</a:t>
            </a:r>
            <a:r>
              <a:rPr sz="1456" b="0" i="0">
                <a:solidFill>
                  <a:srgbClr val="2A3345"/>
                </a:solidFill>
                <a:latin typeface="Calibri"/>
              </a:rPr>
              <a:t> (softplus output or log-RV target) so QLIKE is always defined; report any interventions.</a:t>
            </a:r>
          </a:p>
        </p:txBody>
      </p:sp>
      <p:sp>
        <p:nvSpPr>
          <p:cNvPr id="14" name="TextBox 13"/>
          <p:cNvSpPr txBox="1"/>
          <p:nvPr/>
        </p:nvSpPr>
        <p:spPr>
          <a:xfrm>
            <a:off x="658368" y="4427687"/>
            <a:ext cx="10874959" cy="592571"/>
          </a:xfrm>
          <a:prstGeom prst="rect">
            <a:avLst/>
          </a:prstGeom>
          <a:noFill/>
        </p:spPr>
        <p:txBody>
          <a:bodyPr wrap="square" lIns="0" rIns="0" tIns="0" bIns="0">
            <a:spAutoFit/>
          </a:bodyPr>
          <a:lstStyle/>
          <a:p>
            <a:pPr marL="274320" indent="-274320"/>
            <a:r>
              <a:rPr sz="1456" b="0" i="0">
                <a:solidFill>
                  <a:srgbClr val="2A3345"/>
                </a:solidFill>
                <a:latin typeface="Calibri"/>
              </a:rPr>
              <a:t>6.  </a:t>
            </a:r>
            <a:r>
              <a:rPr sz="1456" b="1" i="0">
                <a:solidFill>
                  <a:srgbClr val="14213D"/>
                </a:solidFill>
                <a:latin typeface="Calibri"/>
              </a:rPr>
              <a:t>Confirm a fixed-length rolling window</a:t>
            </a:r>
            <a:r>
              <a:rPr sz="1456" b="0" i="0">
                <a:solidFill>
                  <a:srgbClr val="2A3345"/>
                </a:solidFill>
                <a:latin typeface="Calibri"/>
              </a:rPr>
              <a:t>, which Giacomini–White requires; demote DM to descriptive with the nesting caveat stated.</a:t>
            </a:r>
          </a:p>
        </p:txBody>
      </p:sp>
      <p:sp>
        <p:nvSpPr>
          <p:cNvPr id="15" name="TextBox 14"/>
          <p:cNvSpPr txBox="1"/>
          <p:nvPr/>
        </p:nvSpPr>
        <p:spPr>
          <a:xfrm>
            <a:off x="658368" y="5020259"/>
            <a:ext cx="10874959" cy="592571"/>
          </a:xfrm>
          <a:prstGeom prst="rect">
            <a:avLst/>
          </a:prstGeom>
          <a:noFill/>
        </p:spPr>
        <p:txBody>
          <a:bodyPr wrap="square" lIns="0" rIns="0" tIns="0" bIns="0">
            <a:spAutoFit/>
          </a:bodyPr>
          <a:lstStyle/>
          <a:p>
            <a:pPr marL="274320" indent="-274320"/>
            <a:r>
              <a:rPr sz="1456" b="0" i="0">
                <a:solidFill>
                  <a:srgbClr val="2A3345"/>
                </a:solidFill>
                <a:latin typeface="Calibri"/>
              </a:rPr>
              <a:t>7.  </a:t>
            </a:r>
            <a:r>
              <a:rPr sz="1456" b="1" i="0">
                <a:solidFill>
                  <a:srgbClr val="14213D"/>
                </a:solidFill>
                <a:latin typeface="Calibri"/>
              </a:rPr>
              <a:t>Select α on the validation split only</a:t>
            </a:r>
            <a:r>
              <a:rPr sz="1456" b="0" i="0">
                <a:solidFill>
                  <a:srgbClr val="2A3345"/>
                </a:solidFill>
                <a:latin typeface="Calibri"/>
              </a:rPr>
              <a:t> — never on test — or report all α as separate models and let the MCS handle the multiplicity.</a:t>
            </a:r>
          </a:p>
        </p:txBody>
      </p:sp>
      <p:sp>
        <p:nvSpPr>
          <p:cNvPr id="16" name="TextBox 15"/>
          <p:cNvSpPr txBox="1"/>
          <p:nvPr/>
        </p:nvSpPr>
        <p:spPr>
          <a:xfrm>
            <a:off x="658368" y="5612831"/>
            <a:ext cx="10874959" cy="592571"/>
          </a:xfrm>
          <a:prstGeom prst="rect">
            <a:avLst/>
          </a:prstGeom>
          <a:noFill/>
        </p:spPr>
        <p:txBody>
          <a:bodyPr wrap="square" lIns="0" rIns="0" tIns="0" bIns="0">
            <a:spAutoFit/>
          </a:bodyPr>
          <a:lstStyle/>
          <a:p>
            <a:pPr marL="274320" indent="-274320"/>
            <a:r>
              <a:rPr sz="1456" b="0" i="0">
                <a:solidFill>
                  <a:srgbClr val="2A3345"/>
                </a:solidFill>
                <a:latin typeface="Calibri"/>
              </a:rPr>
              <a:t>8.  </a:t>
            </a:r>
            <a:r>
              <a:rPr sz="1456" b="1" i="0">
                <a:solidFill>
                  <a:srgbClr val="14213D"/>
                </a:solidFill>
                <a:latin typeface="Calibri"/>
              </a:rPr>
              <a:t>Run H1b twice</a:t>
            </a:r>
            <a:r>
              <a:rPr sz="1456" b="0" i="0">
                <a:solidFill>
                  <a:srgbClr val="2A3345"/>
                </a:solidFill>
                <a:latin typeface="Calibri"/>
              </a:rPr>
              <a:t>: Hurst-based regime </a:t>
            </a:r>
            <a:r>
              <a:rPr sz="1456" b="0" i="1">
                <a:solidFill>
                  <a:srgbClr val="2A3345"/>
                </a:solidFill>
                <a:latin typeface="Calibri"/>
              </a:rPr>
              <a:t>and</a:t>
            </a:r>
            <a:r>
              <a:rPr sz="1456" b="0" i="0">
                <a:solidFill>
                  <a:srgbClr val="2A3345"/>
                </a:solidFill>
                <a:latin typeface="Calibri"/>
              </a:rPr>
              <a:t> an explicit crisis-window dummy. Agreement is a strong result; disagreement is something I need to know before the defense, not during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Thank You</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ACT 4 — Closing</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33  ·  34/40</a:t>
            </a:r>
          </a:p>
        </p:txBody>
      </p:sp>
      <p:sp>
        <p:nvSpPr>
          <p:cNvPr id="7" name="Rectangle 6"/>
          <p:cNvSpPr/>
          <p:nvPr/>
        </p:nvSpPr>
        <p:spPr>
          <a:xfrm>
            <a:off x="658368" y="2148840"/>
            <a:ext cx="10874959" cy="977391"/>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48840"/>
            <a:ext cx="50292" cy="977391"/>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240280"/>
            <a:ext cx="10463479" cy="794511"/>
          </a:xfrm>
          <a:prstGeom prst="rect">
            <a:avLst/>
          </a:prstGeom>
          <a:noFill/>
        </p:spPr>
        <p:txBody>
          <a:bodyPr wrap="square" lIns="0" rIns="0" tIns="0" bIns="0">
            <a:spAutoFit/>
          </a:bodyPr>
          <a:lstStyle/>
          <a:p>
            <a:r>
              <a:rPr sz="1600" b="1" i="0">
                <a:solidFill>
                  <a:srgbClr val="14213D"/>
                </a:solidFill>
                <a:latin typeface="Calibri"/>
              </a:rPr>
              <a:t>RQ1:</a:t>
            </a:r>
            <a:r>
              <a:rPr sz="1600" b="0" i="0">
                <a:solidFill>
                  <a:srgbClr val="14213D"/>
                </a:solidFill>
                <a:latin typeface="Calibri"/>
              </a:rPr>
              <a:t> Does paying extra attention to crash days produce better forecasts? — </a:t>
            </a:r>
            <a:r>
              <a:rPr sz="1600" b="0" i="1">
                <a:solidFill>
                  <a:srgbClr val="14213D"/>
                </a:solidFill>
                <a:latin typeface="Calibri"/>
              </a:rPr>
              <a:t>Pilot says not yet; the real test hasn't been run.</a:t>
            </a:r>
          </a:p>
        </p:txBody>
      </p:sp>
      <p:sp>
        <p:nvSpPr>
          <p:cNvPr id="10" name="Rectangle 9"/>
          <p:cNvSpPr/>
          <p:nvPr/>
        </p:nvSpPr>
        <p:spPr>
          <a:xfrm>
            <a:off x="658368" y="3254248"/>
            <a:ext cx="10874959" cy="977391"/>
          </a:xfrm>
          <a:prstGeom prst="rect">
            <a:avLst/>
          </a:prstGeom>
          <a:solidFill>
            <a:srgbClr val="E9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254248"/>
            <a:ext cx="50292" cy="977391"/>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345688"/>
            <a:ext cx="10463479" cy="794511"/>
          </a:xfrm>
          <a:prstGeom prst="rect">
            <a:avLst/>
          </a:prstGeom>
          <a:noFill/>
        </p:spPr>
        <p:txBody>
          <a:bodyPr wrap="square" lIns="0" rIns="0" tIns="0" bIns="0">
            <a:spAutoFit/>
          </a:bodyPr>
          <a:lstStyle/>
          <a:p>
            <a:r>
              <a:rPr sz="1600" b="1" i="0">
                <a:solidFill>
                  <a:srgbClr val="14213D"/>
                </a:solidFill>
                <a:latin typeface="Calibri"/>
              </a:rPr>
              <a:t>RQ2:</a:t>
            </a:r>
            <a:r>
              <a:rPr sz="1600" b="0" i="0">
                <a:solidFill>
                  <a:srgbClr val="14213D"/>
                </a:solidFill>
                <a:latin typeface="Calibri"/>
              </a:rPr>
              <a:t> Does paying extra attention to crash days produce a different map of the world? — </a:t>
            </a:r>
            <a:r>
              <a:rPr sz="1600" b="0" i="1">
                <a:solidFill>
                  <a:srgbClr val="14213D"/>
                </a:solidFill>
                <a:latin typeface="Calibri"/>
              </a:rPr>
              <a:t>Pilot says yes: 36 significant links vs. 0.</a:t>
            </a:r>
          </a:p>
        </p:txBody>
      </p:sp>
      <p:sp>
        <p:nvSpPr>
          <p:cNvPr id="13" name="TextBox 12"/>
          <p:cNvSpPr txBox="1"/>
          <p:nvPr/>
        </p:nvSpPr>
        <p:spPr>
          <a:xfrm>
            <a:off x="658368" y="4359655"/>
            <a:ext cx="10874959" cy="398272"/>
          </a:xfrm>
          <a:prstGeom prst="rect">
            <a:avLst/>
          </a:prstGeom>
          <a:noFill/>
        </p:spPr>
        <p:txBody>
          <a:bodyPr wrap="square" lIns="0" rIns="0" tIns="0" bIns="0">
            <a:spAutoFit/>
          </a:bodyPr>
          <a:lstStyle/>
          <a:p>
            <a:r>
              <a:rPr sz="1550" b="1" i="0">
                <a:solidFill>
                  <a:srgbClr val="14213D"/>
                </a:solidFill>
                <a:latin typeface="Calibri"/>
              </a:rPr>
              <a:t>Questions.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Appendix — Is the Result Driven by One Country?</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Appendix</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A1  ·  35/40</a:t>
            </a:r>
          </a:p>
        </p:txBody>
      </p:sp>
      <p:sp>
        <p:nvSpPr>
          <p:cNvPr id="7" name="TextBox 6"/>
          <p:cNvSpPr txBox="1"/>
          <p:nvPr/>
        </p:nvSpPr>
        <p:spPr>
          <a:xfrm>
            <a:off x="658368" y="2148840"/>
            <a:ext cx="10874959" cy="902208"/>
          </a:xfrm>
          <a:prstGeom prst="rect">
            <a:avLst/>
          </a:prstGeom>
          <a:noFill/>
        </p:spPr>
        <p:txBody>
          <a:bodyPr wrap="square" lIns="0" rIns="0" tIns="0" bIns="0">
            <a:spAutoFit/>
          </a:bodyPr>
          <a:lstStyle/>
          <a:p>
            <a:r>
              <a:rPr sz="1550" b="0" i="0">
                <a:solidFill>
                  <a:srgbClr val="2A3345"/>
                </a:solidFill>
                <a:latin typeface="Calibri"/>
              </a:rPr>
              <a:t>Diebold–Mariano per ETF, Benjamini–Hochberg at q = 0.10. </a:t>
            </a:r>
            <a:r>
              <a:rPr sz="1550" b="1" i="0">
                <a:solidFill>
                  <a:srgbClr val="14213D"/>
                </a:solidFill>
                <a:latin typeface="Calibri"/>
              </a:rPr>
              <a:t>0 of 10 significant after correction.</a:t>
            </a:r>
            <a:r>
              <a:rPr sz="1550" b="0" i="0">
                <a:solidFill>
                  <a:srgbClr val="2A3345"/>
                </a:solidFill>
                <a:latin typeface="Calibri"/>
              </a:rPr>
              <a:t> Positive mean differential for 3 of 10 (Japan +3.4%, UK +0.9%, Germany +0.5%); worst are Brazil (−36.7%) and South Africa (−16.2%). No single market is carrying the pooled result in either direction.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Appendix — The Leaderboard</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Appendix</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A2  ·  36/40</a:t>
            </a:r>
          </a:p>
        </p:txBody>
      </p:sp>
      <p:sp>
        <p:nvSpPr>
          <p:cNvPr id="7" name="TextBox 6"/>
          <p:cNvSpPr txBox="1"/>
          <p:nvPr/>
        </p:nvSpPr>
        <p:spPr>
          <a:xfrm>
            <a:off x="658368" y="2148840"/>
            <a:ext cx="10874959" cy="902208"/>
          </a:xfrm>
          <a:prstGeom prst="rect">
            <a:avLst/>
          </a:prstGeom>
          <a:noFill/>
        </p:spPr>
        <p:txBody>
          <a:bodyPr wrap="square" lIns="0" rIns="0" tIns="0" bIns="0">
            <a:spAutoFit/>
          </a:bodyPr>
          <a:lstStyle/>
          <a:p>
            <a:r>
              <a:rPr sz="1550" b="0" i="0">
                <a:solidFill>
                  <a:srgbClr val="2A3345"/>
                </a:solidFill>
                <a:latin typeface="Calibri"/>
              </a:rPr>
              <a:t>The 90% Model Confidence Set contains </a:t>
            </a:r>
            <a:r>
              <a:rPr sz="1550" b="1" i="0">
                <a:solidFill>
                  <a:srgbClr val="14213D"/>
                </a:solidFill>
                <a:latin typeface="Calibri"/>
              </a:rPr>
              <a:t>1 of 7</a:t>
            </a:r>
            <a:r>
              <a:rPr sz="1550" b="0" i="0">
                <a:solidFill>
                  <a:srgbClr val="2A3345"/>
                </a:solidFill>
                <a:latin typeface="Calibri"/>
              </a:rPr>
              <a:t> candidates: the </a:t>
            </a:r>
            <a:r>
              <a:rPr sz="1550" b="1" i="0">
                <a:solidFill>
                  <a:srgbClr val="14213D"/>
                </a:solidFill>
                <a:latin typeface="Calibri"/>
              </a:rPr>
              <a:t>random walk</a:t>
            </a:r>
            <a:r>
              <a:rPr sz="1550" b="0" i="0">
                <a:solidFill>
                  <a:srgbClr val="2A3345"/>
                </a:solidFill>
                <a:latin typeface="Calibri"/>
              </a:rPr>
              <a:t>. Elimination order: HR-ETE-GNN(α=0.5) → no-graph → random graph → HR-ETE-GNN(α=1.5) → H-ETE-GNN → HAR-RV. In the pilot configuration every neural arm is eliminated. Expected for half-trained models; the informative version of this table comes from the full run.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Appendix — What Could This Sample Even Detect?</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Appendix</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A3  ·  37/40</a:t>
            </a:r>
          </a:p>
        </p:txBody>
      </p:sp>
      <p:sp>
        <p:nvSpPr>
          <p:cNvPr id="7" name="TextBox 6"/>
          <p:cNvSpPr txBox="1"/>
          <p:nvPr/>
        </p:nvSpPr>
        <p:spPr>
          <a:xfrm>
            <a:off x="658368" y="2148840"/>
            <a:ext cx="10874959" cy="902208"/>
          </a:xfrm>
          <a:prstGeom prst="rect">
            <a:avLst/>
          </a:prstGeom>
          <a:noFill/>
        </p:spPr>
        <p:txBody>
          <a:bodyPr wrap="square" lIns="0" rIns="0" tIns="0" bIns="0">
            <a:spAutoFit/>
          </a:bodyPr>
          <a:lstStyle/>
          <a:p>
            <a:r>
              <a:rPr sz="1550" b="0" i="0">
                <a:solidFill>
                  <a:srgbClr val="2A3345"/>
                </a:solidFill>
                <a:latin typeface="Calibri"/>
              </a:rPr>
              <a:t>T = 314. Minimum detectable standardized effect at 5% significance = </a:t>
            </a:r>
            <a:r>
              <a:rPr sz="1550" b="1" i="0">
                <a:solidFill>
                  <a:srgbClr val="14213D"/>
                </a:solidFill>
                <a:latin typeface="Calibri"/>
              </a:rPr>
              <a:t>0.093</a:t>
            </a:r>
            <a:r>
              <a:rPr sz="1550" b="0" i="0">
                <a:solidFill>
                  <a:srgbClr val="2A3345"/>
                </a:solidFill>
                <a:latin typeface="Calibri"/>
              </a:rPr>
              <a:t>; at 80% power = </a:t>
            </a:r>
            <a:r>
              <a:rPr sz="1550" b="1" i="0">
                <a:solidFill>
                  <a:srgbClr val="14213D"/>
                </a:solidFill>
                <a:latin typeface="Calibri"/>
              </a:rPr>
              <a:t>0.140</a:t>
            </a:r>
            <a:r>
              <a:rPr sz="1550" b="0" i="0">
                <a:solidFill>
                  <a:srgbClr val="2A3345"/>
                </a:solidFill>
                <a:latin typeface="Calibri"/>
              </a:rPr>
              <a:t>. Turbulent days: 130/1,361 whole sample (9.6%), but only </a:t>
            </a:r>
            <a:r>
              <a:rPr sz="1550" b="1" i="0">
                <a:solidFill>
                  <a:srgbClr val="14213D"/>
                </a:solidFill>
                <a:latin typeface="Calibri"/>
              </a:rPr>
              <a:t>4/314 in the test block (1.3%)</a:t>
            </a:r>
            <a:r>
              <a:rPr sz="1550" b="0" i="0">
                <a:solidFill>
                  <a:srgbClr val="2A3345"/>
                </a:solidFill>
                <a:latin typeface="Calibri"/>
              </a:rPr>
              <a:t>. A null H1b result on this sample is uninformative rather than evidence of no effect.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Appendix — Are These Numbers Stable Across Seeds?</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Appendix</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A4  ·  38/40</a:t>
            </a:r>
          </a:p>
        </p:txBody>
      </p:sp>
      <p:sp>
        <p:nvSpPr>
          <p:cNvPr id="7" name="TextBox 6"/>
          <p:cNvSpPr txBox="1"/>
          <p:nvPr/>
        </p:nvSpPr>
        <p:spPr>
          <a:xfrm>
            <a:off x="658368" y="2148840"/>
            <a:ext cx="10874959" cy="650240"/>
          </a:xfrm>
          <a:prstGeom prst="rect">
            <a:avLst/>
          </a:prstGeom>
          <a:noFill/>
        </p:spPr>
        <p:txBody>
          <a:bodyPr wrap="square" lIns="0" rIns="0" tIns="0" bIns="0">
            <a:spAutoFit/>
          </a:bodyPr>
          <a:lstStyle/>
          <a:p>
            <a:r>
              <a:rPr sz="1550" b="0" i="0">
                <a:solidFill>
                  <a:srgbClr val="2A3345"/>
                </a:solidFill>
                <a:latin typeface="Calibri"/>
              </a:rPr>
              <a:t>Per-seed RMSE standard deviation: α=0.5 → 0.0040; Shannon → 0.0062; α=1.5 → 0.0143. All arms trained with identical seed lists over 3 seeds, evaluated as seed ensembles. </a:t>
            </a:r>
            <a:r>
              <a:rPr sz="1550" b="1" i="0">
                <a:solidFill>
                  <a:srgbClr val="14213D"/>
                </a:solidFill>
                <a:latin typeface="Calibri"/>
              </a:rPr>
              <a:t>All arms hit the 200-epoch cap</a:t>
            </a:r>
            <a:r>
              <a:rPr sz="1550" b="0" i="0">
                <a:solidFill>
                  <a:srgbClr val="2A3345"/>
                </a:solidFill>
                <a:latin typeface="Calibri"/>
              </a:rPr>
              <a:t> — none converged.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Appendix — Why the Pilot Was Small</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Appendix</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A5  ·  39/40</a:t>
            </a:r>
          </a:p>
        </p:txBody>
      </p:sp>
      <p:sp>
        <p:nvSpPr>
          <p:cNvPr id="7" name="TextBox 6"/>
          <p:cNvSpPr txBox="1"/>
          <p:nvPr/>
        </p:nvSpPr>
        <p:spPr>
          <a:xfrm>
            <a:off x="658368" y="2148840"/>
            <a:ext cx="10874959" cy="650240"/>
          </a:xfrm>
          <a:prstGeom prst="rect">
            <a:avLst/>
          </a:prstGeom>
          <a:noFill/>
        </p:spPr>
        <p:txBody>
          <a:bodyPr wrap="square" lIns="0" rIns="0" tIns="0" bIns="0">
            <a:spAutoFit/>
          </a:bodyPr>
          <a:lstStyle/>
          <a:p>
            <a:r>
              <a:rPr sz="1550" b="0" i="0">
                <a:solidFill>
                  <a:srgbClr val="2A3345"/>
                </a:solidFill>
                <a:latin typeface="Calibri"/>
              </a:rPr>
              <a:t>Pilot wall clock: </a:t>
            </a:r>
            <a:r>
              <a:rPr sz="1550" b="1" i="0">
                <a:solidFill>
                  <a:srgbClr val="14213D"/>
                </a:solidFill>
                <a:latin typeface="Calibri"/>
              </a:rPr>
              <a:t>5 minutes</a:t>
            </a:r>
            <a:r>
              <a:rPr sz="1550" b="0" i="0">
                <a:solidFill>
                  <a:srgbClr val="2A3345"/>
                </a:solidFill>
                <a:latin typeface="Calibri"/>
              </a:rPr>
              <a:t>. Thesis run, serial estimate: </a:t>
            </a:r>
            <a:r>
              <a:rPr sz="1550" b="1" i="0">
                <a:solidFill>
                  <a:srgbClr val="14213D"/>
                </a:solidFill>
                <a:latin typeface="Calibri"/>
              </a:rPr>
              <a:t>49–74 hours</a:t>
            </a:r>
            <a:r>
              <a:rPr sz="1550" b="0" i="0">
                <a:solidFill>
                  <a:srgbClr val="2A3345"/>
                </a:solidFill>
                <a:latin typeface="Calibri"/>
              </a:rPr>
              <a:t>, dominated by training. Training work ratio 180×; ER-TE work ratio 23×; sample-length factor 3.3×. The α arms parallelize perfectly.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02336"/>
            <a:ext cx="9411919" cy="987552"/>
          </a:xfrm>
          <a:prstGeom prst="rect">
            <a:avLst/>
          </a:prstGeom>
          <a:noFill/>
        </p:spPr>
        <p:txBody>
          <a:bodyPr wrap="square" lIns="0" rIns="0" tIns="0" bIns="0" anchor="b">
            <a:spAutoFit/>
          </a:bodyPr>
          <a:lstStyle/>
          <a:p>
            <a:r>
              <a:rPr sz="3000" b="1" i="0">
                <a:solidFill>
                  <a:srgbClr val="14213D"/>
                </a:solidFill>
                <a:latin typeface="Georgia"/>
              </a:rPr>
              <a:t>Appendix — Data and Splits</a:t>
            </a:r>
          </a:p>
        </p:txBody>
      </p:sp>
      <p:sp>
        <p:nvSpPr>
          <p:cNvPr id="3" name="Rectangle 2"/>
          <p:cNvSpPr/>
          <p:nvPr/>
        </p:nvSpPr>
        <p:spPr>
          <a:xfrm>
            <a:off x="658368" y="1481328"/>
            <a:ext cx="1051560" cy="41148"/>
          </a:xfrm>
          <a:prstGeom prst="rect">
            <a:avLst/>
          </a:prstGeom>
          <a:solidFill>
            <a:srgbClr val="1D5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09928" y="1495958"/>
            <a:ext cx="9823399" cy="11887"/>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19088"/>
            <a:ext cx="10874959" cy="256032"/>
          </a:xfrm>
          <a:prstGeom prst="rect">
            <a:avLst/>
          </a:prstGeom>
          <a:noFill/>
        </p:spPr>
        <p:txBody>
          <a:bodyPr wrap="square" lIns="0" rIns="0" tIns="0" bIns="0">
            <a:spAutoFit/>
          </a:bodyPr>
          <a:lstStyle/>
          <a:p>
            <a:r>
              <a:rPr sz="950" b="0" i="0">
                <a:solidFill>
                  <a:srgbClr val="5A6472"/>
                </a:solidFill>
                <a:latin typeface="Calibri"/>
              </a:rPr>
              <a:t>Appendix</a:t>
            </a:r>
          </a:p>
        </p:txBody>
      </p:sp>
      <p:sp>
        <p:nvSpPr>
          <p:cNvPr id="6" name="TextBox 5"/>
          <p:cNvSpPr txBox="1"/>
          <p:nvPr/>
        </p:nvSpPr>
        <p:spPr>
          <a:xfrm>
            <a:off x="9704527" y="6419088"/>
            <a:ext cx="1828800" cy="256032"/>
          </a:xfrm>
          <a:prstGeom prst="rect">
            <a:avLst/>
          </a:prstGeom>
          <a:noFill/>
        </p:spPr>
        <p:txBody>
          <a:bodyPr wrap="square" lIns="0" rIns="0" tIns="0" bIns="0">
            <a:spAutoFit/>
          </a:bodyPr>
          <a:lstStyle/>
          <a:p>
            <a:pPr algn="r"/>
            <a:r>
              <a:rPr sz="950" b="0" i="0">
                <a:solidFill>
                  <a:srgbClr val="5A6472"/>
                </a:solidFill>
                <a:latin typeface="Calibri"/>
              </a:rPr>
              <a:t>Slide A6  ·  40/40</a:t>
            </a:r>
          </a:p>
        </p:txBody>
      </p:sp>
      <p:sp>
        <p:nvSpPr>
          <p:cNvPr id="7" name="TextBox 6"/>
          <p:cNvSpPr txBox="1"/>
          <p:nvPr/>
        </p:nvSpPr>
        <p:spPr>
          <a:xfrm>
            <a:off x="658368" y="2148840"/>
            <a:ext cx="10874959" cy="902208"/>
          </a:xfrm>
          <a:prstGeom prst="rect">
            <a:avLst/>
          </a:prstGeom>
          <a:noFill/>
        </p:spPr>
        <p:txBody>
          <a:bodyPr wrap="square" lIns="0" rIns="0" tIns="0" bIns="0">
            <a:spAutoFit/>
          </a:bodyPr>
          <a:lstStyle/>
          <a:p>
            <a:r>
              <a:rPr sz="1550" b="0" i="0">
                <a:solidFill>
                  <a:srgbClr val="2A3345"/>
                </a:solidFill>
                <a:latin typeface="Calibri"/>
              </a:rPr>
              <a:t>10 country ETFs (EWA, EWC, EWG, EWJ, EWT, EWU, EWW, EWY, EWZ, EZA). Train 942 samples (2018-03-02 → 2021-11-24); validation 314 (2021-11-26 → 2023-02-27); test 314 (2023-02-28 → 2024-05-28). Adjacency estimated on training data only, ending </a:t>
            </a:r>
            <a:r>
              <a:rPr sz="1550" b="1" i="0">
                <a:solidFill>
                  <a:srgbClr val="14213D"/>
                </a:solidFill>
                <a:latin typeface="Calibri"/>
              </a:rPr>
              <a:t>461 calendar days</a:t>
            </a:r>
            <a:r>
              <a:rPr sz="1550" b="0" i="0">
                <a:solidFill>
                  <a:srgbClr val="2A3345"/>
                </a:solidFill>
                <a:latin typeface="Calibri"/>
              </a:rPr>
              <a:t> before the test block opens. Identical seed lists across all arms.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